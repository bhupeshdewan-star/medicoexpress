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be0b3efb6d4849" /><Relationship Type="http://schemas.openxmlformats.org/officeDocument/2006/relationships/extended-properties" Target="/docProps/app.xml" Id="R516505d00d9145f5" /><Relationship Type="http://schemas.openxmlformats.org/officeDocument/2006/relationships/officeDocument" Target="/ppt/presentation.xml" Id="Rdade411487024879" /></Relationships>
</file>

<file path=ppt/presentation.xml><?xml version="1.0" encoding="utf-8"?>
<p:presentation xmlns:p="http://schemas.openxmlformats.org/presentationml/2006/main">
  <p:sldMasterIdLst>
    <p:sldMasterId xmlns:r="http://schemas.openxmlformats.org/officeDocument/2006/relationships" id="2147483648" r:id="R80eef25b8e304a0b"/>
  </p:sldMasterIdLst>
  <p:notesMasterIdLst>
    <p:notesMasterId xmlns:r="http://schemas.openxmlformats.org/officeDocument/2006/relationships" r:id="Rad7cb5b4a2f94e76"/>
  </p:notesMasterIdLst>
  <p:sldIdLst>
    <p:sldId xmlns:r="http://schemas.openxmlformats.org/officeDocument/2006/relationships" id="256" r:id="R7980a8a1631f4ea0"/>
    <p:sldId xmlns:r="http://schemas.openxmlformats.org/officeDocument/2006/relationships" id="257" r:id="R84897d6b28e2464f"/>
    <p:sldId xmlns:r="http://schemas.openxmlformats.org/officeDocument/2006/relationships" id="258" r:id="R97c022e6c138435f"/>
    <p:sldId xmlns:r="http://schemas.openxmlformats.org/officeDocument/2006/relationships" id="259" r:id="Rabb177d853754eea"/>
    <p:sldId xmlns:r="http://schemas.openxmlformats.org/officeDocument/2006/relationships" id="260" r:id="R805cf700ac484e79"/>
    <p:sldId xmlns:r="http://schemas.openxmlformats.org/officeDocument/2006/relationships" id="261" r:id="Rafba907bb02a4659"/>
    <p:sldId xmlns:r="http://schemas.openxmlformats.org/officeDocument/2006/relationships" id="262" r:id="R5711b355efa34bf9"/>
    <p:sldId xmlns:r="http://schemas.openxmlformats.org/officeDocument/2006/relationships" id="263" r:id="R0ad1b56674bf4ef7"/>
    <p:sldId xmlns:r="http://schemas.openxmlformats.org/officeDocument/2006/relationships" id="264" r:id="R9972da3e6fc0430a"/>
    <p:sldId xmlns:r="http://schemas.openxmlformats.org/officeDocument/2006/relationships" id="265" r:id="R414573613ef740f8"/>
    <p:sldId xmlns:r="http://schemas.openxmlformats.org/officeDocument/2006/relationships" id="266" r:id="R788b1b0180f144ae"/>
    <p:sldId xmlns:r="http://schemas.openxmlformats.org/officeDocument/2006/relationships" id="267" r:id="Ra419a3003528440d"/>
    <p:sldId xmlns:r="http://schemas.openxmlformats.org/officeDocument/2006/relationships" id="268" r:id="R4488b780304240e8"/>
    <p:sldId xmlns:r="http://schemas.openxmlformats.org/officeDocument/2006/relationships" id="269" r:id="R41a0b8f9bce84327"/>
    <p:sldId xmlns:r="http://schemas.openxmlformats.org/officeDocument/2006/relationships" id="270" r:id="R605f9823f1854129"/>
    <p:sldId xmlns:r="http://schemas.openxmlformats.org/officeDocument/2006/relationships" id="271" r:id="Re17775ffd3a8465a"/>
    <p:sldId xmlns:r="http://schemas.openxmlformats.org/officeDocument/2006/relationships" id="272" r:id="R74699770e6dd45e6"/>
    <p:sldId xmlns:r="http://schemas.openxmlformats.org/officeDocument/2006/relationships" id="273" r:id="Re6e7d5f3492b42be"/>
    <p:sldId xmlns:r="http://schemas.openxmlformats.org/officeDocument/2006/relationships" id="274" r:id="Ra8c4c018cfec4536"/>
    <p:sldId xmlns:r="http://schemas.openxmlformats.org/officeDocument/2006/relationships" id="275" r:id="R2be4633c79be4aac"/>
    <p:sldId xmlns:r="http://schemas.openxmlformats.org/officeDocument/2006/relationships" id="276" r:id="Rcfbf804cab144695"/>
    <p:sldId xmlns:r="http://schemas.openxmlformats.org/officeDocument/2006/relationships" id="277" r:id="R2b289b655d834e34"/>
    <p:sldId xmlns:r="http://schemas.openxmlformats.org/officeDocument/2006/relationships" id="278" r:id="R121b8060f5164867"/>
    <p:sldId xmlns:r="http://schemas.openxmlformats.org/officeDocument/2006/relationships" id="279" r:id="Re61d161c5ca94bfe"/>
    <p:sldId xmlns:r="http://schemas.openxmlformats.org/officeDocument/2006/relationships" id="280" r:id="R8227837749684f0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72e9cc58c1a4c90" /><Relationship Type="http://schemas.openxmlformats.org/officeDocument/2006/relationships/slideMaster" Target="/ppt/slideMasters/slideMaster1.xml" Id="R80eef25b8e304a0b" /><Relationship Type="http://schemas.openxmlformats.org/officeDocument/2006/relationships/notesMaster" Target="/ppt/notesMasters/notesMaster1.xml" Id="Rad7cb5b4a2f94e76" /><Relationship Type="http://schemas.openxmlformats.org/officeDocument/2006/relationships/presProps" Target="/ppt/presProps.xml" Id="R9789e475ee314b22" /><Relationship Type="http://schemas.openxmlformats.org/officeDocument/2006/relationships/viewProps" Target="/ppt/viewProps.xml" Id="R3c116cf2d7ae4f58" /><Relationship Type="http://schemas.openxmlformats.org/officeDocument/2006/relationships/tableStyles" Target="/ppt/tableStyles.xml" Id="Rd9fcd15e1b124eeb" /><Relationship Type="http://schemas.openxmlformats.org/officeDocument/2006/relationships/slide" Target="/ppt/slides/slide1.xml" Id="R7980a8a1631f4ea0" /><Relationship Type="http://schemas.openxmlformats.org/officeDocument/2006/relationships/slide" Target="/ppt/slides/slide2.xml" Id="R84897d6b28e2464f" /><Relationship Type="http://schemas.openxmlformats.org/officeDocument/2006/relationships/slide" Target="/ppt/slides/slide3.xml" Id="R97c022e6c138435f" /><Relationship Type="http://schemas.openxmlformats.org/officeDocument/2006/relationships/slide" Target="/ppt/slides/slide4.xml" Id="Rabb177d853754eea" /><Relationship Type="http://schemas.openxmlformats.org/officeDocument/2006/relationships/slide" Target="/ppt/slides/slide5.xml" Id="R805cf700ac484e79" /><Relationship Type="http://schemas.openxmlformats.org/officeDocument/2006/relationships/slide" Target="/ppt/slides/slide6.xml" Id="Rafba907bb02a4659" /><Relationship Type="http://schemas.openxmlformats.org/officeDocument/2006/relationships/slide" Target="/ppt/slides/slide7.xml" Id="R5711b355efa34bf9" /><Relationship Type="http://schemas.openxmlformats.org/officeDocument/2006/relationships/slide" Target="/ppt/slides/slide8.xml" Id="R0ad1b56674bf4ef7" /><Relationship Type="http://schemas.openxmlformats.org/officeDocument/2006/relationships/slide" Target="/ppt/slides/slide9.xml" Id="R9972da3e6fc0430a" /><Relationship Type="http://schemas.openxmlformats.org/officeDocument/2006/relationships/slide" Target="/ppt/slides/slide10.xml" Id="R414573613ef740f8" /><Relationship Type="http://schemas.openxmlformats.org/officeDocument/2006/relationships/slide" Target="/ppt/slides/slide11.xml" Id="R788b1b0180f144ae" /><Relationship Type="http://schemas.openxmlformats.org/officeDocument/2006/relationships/slide" Target="/ppt/slides/slide12.xml" Id="Ra419a3003528440d" /><Relationship Type="http://schemas.openxmlformats.org/officeDocument/2006/relationships/slide" Target="/ppt/slides/slide13.xml" Id="R4488b780304240e8" /><Relationship Type="http://schemas.openxmlformats.org/officeDocument/2006/relationships/slide" Target="/ppt/slides/slide14.xml" Id="R41a0b8f9bce84327" /><Relationship Type="http://schemas.openxmlformats.org/officeDocument/2006/relationships/slide" Target="/ppt/slides/slide15.xml" Id="R605f9823f1854129" /><Relationship Type="http://schemas.openxmlformats.org/officeDocument/2006/relationships/slide" Target="/ppt/slides/slide16.xml" Id="Re17775ffd3a8465a" /><Relationship Type="http://schemas.openxmlformats.org/officeDocument/2006/relationships/slide" Target="/ppt/slides/slide17.xml" Id="R74699770e6dd45e6" /><Relationship Type="http://schemas.openxmlformats.org/officeDocument/2006/relationships/slide" Target="/ppt/slides/slide18.xml" Id="Re6e7d5f3492b42be" /><Relationship Type="http://schemas.openxmlformats.org/officeDocument/2006/relationships/slide" Target="/ppt/slides/slide19.xml" Id="Ra8c4c018cfec4536" /><Relationship Type="http://schemas.openxmlformats.org/officeDocument/2006/relationships/slide" Target="/ppt/slides/slide20.xml" Id="R2be4633c79be4aac" /><Relationship Type="http://schemas.openxmlformats.org/officeDocument/2006/relationships/slide" Target="/ppt/slides/slide21.xml" Id="Rcfbf804cab144695" /><Relationship Type="http://schemas.openxmlformats.org/officeDocument/2006/relationships/slide" Target="/ppt/slides/slide22.xml" Id="R2b289b655d834e34" /><Relationship Type="http://schemas.openxmlformats.org/officeDocument/2006/relationships/slide" Target="/ppt/slides/slide23.xml" Id="R121b8060f5164867" /><Relationship Type="http://schemas.openxmlformats.org/officeDocument/2006/relationships/slide" Target="/ppt/slides/slide24.xml" Id="Re61d161c5ca94bfe" /><Relationship Type="http://schemas.openxmlformats.org/officeDocument/2006/relationships/slide" Target="/ppt/slides/slide25.xml" Id="R8227837749684f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5b522d630141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85c2b077e9493a" /><Relationship Type="http://schemas.openxmlformats.org/officeDocument/2006/relationships/notesMaster" Target="/ppt/notesMasters/notesMaster1.xml" Id="R1db2a35870624b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516c3120a74ce4" /><Relationship Type="http://schemas.openxmlformats.org/officeDocument/2006/relationships/notesMaster" Target="/ppt/notesMasters/notesMaster1.xml" Id="R4c760d5dbcfd4e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eb9a2775c642a5" /><Relationship Type="http://schemas.openxmlformats.org/officeDocument/2006/relationships/notesMaster" Target="/ppt/notesMasters/notesMaster1.xml" Id="Rc464336ac1e949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2a25bc74b54818" /><Relationship Type="http://schemas.openxmlformats.org/officeDocument/2006/relationships/notesMaster" Target="/ppt/notesMasters/notesMaster1.xml" Id="Rd3f26b229d6344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da1c632172471b" /><Relationship Type="http://schemas.openxmlformats.org/officeDocument/2006/relationships/notesMaster" Target="/ppt/notesMasters/notesMaster1.xml" Id="Re8343347abdc49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c537a2766740ac" /><Relationship Type="http://schemas.openxmlformats.org/officeDocument/2006/relationships/notesMaster" Target="/ppt/notesMasters/notesMaster1.xml" Id="R2f9cb1d1a69b4d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dd01a570954d32" /><Relationship Type="http://schemas.openxmlformats.org/officeDocument/2006/relationships/notesMaster" Target="/ppt/notesMasters/notesMaster1.xml" Id="Rd04ce78654954b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c49a12b7224251" /><Relationship Type="http://schemas.openxmlformats.org/officeDocument/2006/relationships/notesMaster" Target="/ppt/notesMasters/notesMaster1.xml" Id="Rce65aeb106fd48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bb3228486040da" /><Relationship Type="http://schemas.openxmlformats.org/officeDocument/2006/relationships/notesMaster" Target="/ppt/notesMasters/notesMaster1.xml" Id="R5823dbe7a2c14c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c08f0a66d64852" /><Relationship Type="http://schemas.openxmlformats.org/officeDocument/2006/relationships/notesMaster" Target="/ppt/notesMasters/notesMaster1.xml" Id="Ra18096f8e0434f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de73ff0f3a4ef7" /><Relationship Type="http://schemas.openxmlformats.org/officeDocument/2006/relationships/notesMaster" Target="/ppt/notesMasters/notesMaster1.xml" Id="R871d9d676dc341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0e65f3393e4a26" /><Relationship Type="http://schemas.openxmlformats.org/officeDocument/2006/relationships/notesMaster" Target="/ppt/notesMasters/notesMaster1.xml" Id="R6651d1de0f7345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dd6655108f64851" /><Relationship Type="http://schemas.openxmlformats.org/officeDocument/2006/relationships/notesMaster" Target="/ppt/notesMasters/notesMaster1.xml" Id="Redd736555b2046a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261d57ccc0a4e91" /><Relationship Type="http://schemas.openxmlformats.org/officeDocument/2006/relationships/notesMaster" Target="/ppt/notesMasters/notesMaster1.xml" Id="Rd9ef25028abe443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54aa69715dd4914" /><Relationship Type="http://schemas.openxmlformats.org/officeDocument/2006/relationships/notesMaster" Target="/ppt/notesMasters/notesMaster1.xml" Id="R36aa09b2dc3e40b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13fb5d8b0f4a42" /><Relationship Type="http://schemas.openxmlformats.org/officeDocument/2006/relationships/notesMaster" Target="/ppt/notesMasters/notesMaster1.xml" Id="R2e6be6be7be34b3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282f7cb7cbf4f47" /><Relationship Type="http://schemas.openxmlformats.org/officeDocument/2006/relationships/notesMaster" Target="/ppt/notesMasters/notesMaster1.xml" Id="R978177bbcde8400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a9cd1878eda44a4" /><Relationship Type="http://schemas.openxmlformats.org/officeDocument/2006/relationships/notesMaster" Target="/ppt/notesMasters/notesMaster1.xml" Id="R19f0476c628a420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b8aab3fa2904830" /><Relationship Type="http://schemas.openxmlformats.org/officeDocument/2006/relationships/notesMaster" Target="/ppt/notesMasters/notesMaster1.xml" Id="R1ee084e9c9fa4c1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0709726c7a843cf" /><Relationship Type="http://schemas.openxmlformats.org/officeDocument/2006/relationships/notesMaster" Target="/ppt/notesMasters/notesMaster1.xml" Id="R173026c2cfd342c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de1cc3463b44171" /><Relationship Type="http://schemas.openxmlformats.org/officeDocument/2006/relationships/notesMaster" Target="/ppt/notesMasters/notesMaster1.xml" Id="Rf2c87038a8cb42c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6a502535ed44e1b" /><Relationship Type="http://schemas.openxmlformats.org/officeDocument/2006/relationships/notesMaster" Target="/ppt/notesMasters/notesMaster1.xml" Id="R51aae66e49e046d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e0727bfbdcb4fd2" /><Relationship Type="http://schemas.openxmlformats.org/officeDocument/2006/relationships/notesMaster" Target="/ppt/notesMasters/notesMaster1.xml" Id="R418962ef682842b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1fbcf48a481486e" /><Relationship Type="http://schemas.openxmlformats.org/officeDocument/2006/relationships/notesMaster" Target="/ppt/notesMasters/notesMaster1.xml" Id="R82e1d309b5da488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9682e67d58f40a3" /><Relationship Type="http://schemas.openxmlformats.org/officeDocument/2006/relationships/notesMaster" Target="/ppt/notesMasters/notesMaster1.xml" Id="R04536dffa7a746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stating this is a scientific brand narrative, not approved promotional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persuasion slide: why the molecule matters, why the evidence is meaningful, and why the brand has a place in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aceclofenac as a symptom-relief NSAID with clear label boundaries. Link every benefit statement to the clinical problem it addresses.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molecule facts to make the deck feel scientifically grounded: name, formula, solubility, and how those features relate to oral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Link mechanism to patient benefit in one sentence and stop there. The slide should feel mechanistically precise, not marketing-heavy.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PK slide numeric and clinically useful. The audience should leave with one or two concrete facts, not a vague impression.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newest evidence explicit and commercially relevant: modern trial comparator, large real-world safety/effectiveness cohort, and current OA review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study graphic as a conversation starter: the brand has measurable symptom benefit and the study story is straightforward.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rheumatoid arthritis slide clinically honest: symptom control plus separate disease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Ground the discussion in guideline-level pain relief and the limits of NSAIDs in axial disease.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safety the equal partner to efficacy. Use the PI frequencies rather than generic class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Translate GI risk into concrete actions: screen, protect, monitor, and escalate.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organ-risk slide practical and explicit: renal, hepatic, and cardiovascular concerns should be visible at prescribing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Help the audience think beyond the single drug. Encourage medication review, renal caution, and bleeding-risk screening.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dosing slide specific to the approved label and state clearly when the local PI must override the general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Reinforce that the approved label must govern special populations.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good patient selection improves symptom control without avoidable class harm.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bridges evidence to practice. Keep it practical: where it fits, where it doesn't, and why non-pharmacologic measures still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medication to the broader care plan: movement, support, weight, and function.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deck is intended to support what the clinician says to the patient, especially around benefit expectations and warning signs.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short, controlled answers and bring the audience back to source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deliberate control slide. Replace promotional language with evidence-based wording.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audience that the deck is grounded in the PI, review, meta-analysis, RCTs, and PK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the audience that the deck will be revised when the label or the evidence base changes materially.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summarizing the central message: aceclofenac is a symptom-focused NSAID option, but it must always be discussed with class risk and local label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45d74bf2b249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a6556ac490488b" /><Relationship Type="http://schemas.openxmlformats.org/officeDocument/2006/relationships/slideLayout" Target="/ppt/slideLayouts/slideLayout1.xml" Id="Ra8e63837fce343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e63837fce343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33721456404f12" /><Relationship Type="http://schemas.openxmlformats.org/officeDocument/2006/relationships/notesSlide" Target="/ppt/notesSlides/notesSlide1.xml" Id="R9fe2d98097e846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edf7c3f8d404614" /><Relationship Type="http://schemas.openxmlformats.org/officeDocument/2006/relationships/notesSlide" Target="/ppt/notesSlides/notesSlide2.xml" Id="R68d2af06d7eb4f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347fb7207254d47" /><Relationship Type="http://schemas.openxmlformats.org/officeDocument/2006/relationships/notesSlide" Target="/ppt/notesSlides/notesSlide3.xml" Id="Rcac703d07a2041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60eb33c1c8c4985" /><Relationship Type="http://schemas.openxmlformats.org/officeDocument/2006/relationships/notesSlide" Target="/ppt/notesSlides/notesSlide4.xml" Id="R169261fe5c3241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347166b7cf24345" /><Relationship Type="http://schemas.openxmlformats.org/officeDocument/2006/relationships/notesSlide" Target="/ppt/notesSlides/notesSlide5.xml" Id="R66be1d949b2f46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caef11ec1c4bf2" /><Relationship Type="http://schemas.openxmlformats.org/officeDocument/2006/relationships/notesSlide" Target="/ppt/notesSlides/notesSlide6.xml" Id="R7d98345ef63246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2e11aaea8474fb1" /><Relationship Type="http://schemas.openxmlformats.org/officeDocument/2006/relationships/notesSlide" Target="/ppt/notesSlides/notesSlide7.xml" Id="R2a4274f91ba84e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26d2386df84af9" /><Relationship Type="http://schemas.openxmlformats.org/officeDocument/2006/relationships/notesSlide" Target="/ppt/notesSlides/notesSlide8.xml" Id="Raa80f28bac984b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8aed09f8dcb47e3" /><Relationship Type="http://schemas.openxmlformats.org/officeDocument/2006/relationships/notesSlide" Target="/ppt/notesSlides/notesSlide9.xml" Id="R58dea227163848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64db241b3ca40c8" /><Relationship Type="http://schemas.openxmlformats.org/officeDocument/2006/relationships/notesSlide" Target="/ppt/notesSlides/notesSlide10.xml" Id="R6042eb2daaa64b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4ee3770ad5843b0" /><Relationship Type="http://schemas.openxmlformats.org/officeDocument/2006/relationships/notesSlide" Target="/ppt/notesSlides/notesSlide11.xml" Id="R926403fb66f648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604c3b0b3d4304" /><Relationship Type="http://schemas.openxmlformats.org/officeDocument/2006/relationships/notesSlide" Target="/ppt/notesSlides/notesSlide12.xml" Id="Rd78c29f478d143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ba545d741804027" /><Relationship Type="http://schemas.openxmlformats.org/officeDocument/2006/relationships/notesSlide" Target="/ppt/notesSlides/notesSlide13.xml" Id="Rd53d41fb9f5043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63a57793aeb4459" /><Relationship Type="http://schemas.openxmlformats.org/officeDocument/2006/relationships/notesSlide" Target="/ppt/notesSlides/notesSlide14.xml" Id="R8c187e5df82849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0ee7e292fdc411d" /><Relationship Type="http://schemas.openxmlformats.org/officeDocument/2006/relationships/notesSlide" Target="/ppt/notesSlides/notesSlide15.xml" Id="R4e71f38b4d014ea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4a06776b315465d" /><Relationship Type="http://schemas.openxmlformats.org/officeDocument/2006/relationships/notesSlide" Target="/ppt/notesSlides/notesSlide16.xml" Id="R37a4e16260f64d2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c8ed46126364b3b" /><Relationship Type="http://schemas.openxmlformats.org/officeDocument/2006/relationships/notesSlide" Target="/ppt/notesSlides/notesSlide17.xml" Id="R7b3c4b85c1a449d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a2c0b72945442ab" /><Relationship Type="http://schemas.openxmlformats.org/officeDocument/2006/relationships/notesSlide" Target="/ppt/notesSlides/notesSlide18.xml" Id="R7b5c25dc5ac248b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55f671bffc64531" /><Relationship Type="http://schemas.openxmlformats.org/officeDocument/2006/relationships/notesSlide" Target="/ppt/notesSlides/notesSlide19.xml" Id="R294afa887ffe472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0f0149c611743b3" /><Relationship Type="http://schemas.openxmlformats.org/officeDocument/2006/relationships/notesSlide" Target="/ppt/notesSlides/notesSlide20.xml" Id="R296c7de95dd7418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6c7d43499784eff" /><Relationship Type="http://schemas.openxmlformats.org/officeDocument/2006/relationships/notesSlide" Target="/ppt/notesSlides/notesSlide21.xml" Id="R63c73a4a47964b4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f6f8049661744cd" /><Relationship Type="http://schemas.openxmlformats.org/officeDocument/2006/relationships/notesSlide" Target="/ppt/notesSlides/notesSlide22.xml" Id="Rf62a3916451d445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fc5cde338924573" /><Relationship Type="http://schemas.openxmlformats.org/officeDocument/2006/relationships/notesSlide" Target="/ppt/notesSlides/notesSlide23.xml" Id="R3be36be6506e423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b46347bff1247b1" /><Relationship Type="http://schemas.openxmlformats.org/officeDocument/2006/relationships/notesSlide" Target="/ppt/notesSlides/notesSlide24.xml" Id="R6cc302fe12a44bc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a90cf21182a4e61" /><Relationship Type="http://schemas.openxmlformats.org/officeDocument/2006/relationships/notesSlide" Target="/ppt/notesSlides/notesSlide25.xml" Id="Ra3128427aa964118" /></Relationships>
</file>

<file path=ppt/slides/slide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20A88A-F1A5-446E-AE86-61C370BBAC1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 name="">
            <a:extLst xmlns:a="http://schemas.openxmlformats.org/drawingml/2006/main">
              <a:ext uri="{FF2B5EF4-FFF2-40B4-BE49-F238E27FC236}">
                <a16:creationId xmlns:a16="http://schemas.microsoft.com/office/drawing/2014/main" id="{EBC7498B-7233-4214-9CEC-1722CA18D02E}"/>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0E2538"/>
          </a:solidFill>
          <a:ln xmlns:a="http://schemas.openxmlformats.org/drawingml/2006/main" w="0">
            <a:solidFill>
              <a:srgbClr val="0E2538"/>
            </a:solidFill>
            <a:prstDash val="solid"/>
          </a:ln>
        </p:spPr>
      </p:sp>
      <p:sp>
        <p:nvSpPr>
          <p:cNvPr id="3" name="">
            <a:extLst xmlns:a="http://schemas.openxmlformats.org/drawingml/2006/main">
              <a:ext uri="{FF2B5EF4-FFF2-40B4-BE49-F238E27FC236}">
                <a16:creationId xmlns:a16="http://schemas.microsoft.com/office/drawing/2014/main" id="{44547020-C75F-4D59-892F-B5A05467244F}"/>
              </a:ext>
            </a:extLst>
          </p:cNvPr>
          <p:cNvSpPr>
            <a:spLocks xmlns:a="http://schemas.openxmlformats.org/drawingml/2006/main" noGrp="1"/>
          </p:cNvSpPr>
          <p:nvPr/>
        </p:nvSpPr>
        <p:spPr>
          <a:xfrm xmlns:a="http://schemas.openxmlformats.org/drawingml/2006/main">
            <a:off x="685800" y="1352550"/>
            <a:ext cx="5334000" cy="533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2250" b="1">
                <a:solidFill>
                  <a:srgbClr val="FFFFFF"/>
                </a:solidFill>
                <a:latin typeface="Aptos"/>
                <a:ea typeface="Aptos"/>
                <a:cs typeface="Aptos"/>
              </a:defRPr>
            </a:pPr>
            <a:r>
              <a:rPr sz="2250" b="1">
                <a:solidFill>
                  <a:srgbClr val="FFFFFF"/>
                </a:solidFill>
                <a:latin typeface="Aptos"/>
                <a:ea typeface="Aptos"/>
                <a:cs typeface="Aptos"/>
              </a:rPr>
              <a:t>Aceclofenac</a:t>
            </a:r>
          </a:p>
        </p:txBody>
      </p:sp>
      <p:sp>
        <p:nvSpPr>
          <p:cNvPr id="4" name="">
            <a:extLst xmlns:a="http://schemas.openxmlformats.org/drawingml/2006/main">
              <a:ext uri="{FF2B5EF4-FFF2-40B4-BE49-F238E27FC236}">
                <a16:creationId xmlns:a16="http://schemas.microsoft.com/office/drawing/2014/main" id="{E51C75AD-3F58-4505-A46D-CC8C006A24C8}"/>
              </a:ext>
            </a:extLst>
          </p:cNvPr>
          <p:cNvSpPr>
            <a:spLocks xmlns:a="http://schemas.openxmlformats.org/drawingml/2006/main" noGrp="1"/>
          </p:cNvSpPr>
          <p:nvPr/>
        </p:nvSpPr>
        <p:spPr>
          <a:xfrm xmlns:a="http://schemas.openxmlformats.org/drawingml/2006/main">
            <a:off x="685800" y="1924050"/>
            <a:ext cx="5334000" cy="28575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200" b="0">
                <a:solidFill>
                  <a:srgbClr val="D9E6EE"/>
                </a:solidFill>
                <a:latin typeface="Aptos"/>
                <a:ea typeface="Aptos"/>
                <a:cs typeface="Aptos"/>
              </a:defRPr>
            </a:pPr>
            <a:r>
              <a:rPr sz="1200" b="0">
                <a:solidFill>
                  <a:srgbClr val="D9E6EE"/>
                </a:solidFill>
                <a:latin typeface="Aptos"/>
                <a:ea typeface="Aptos"/>
                <a:cs typeface="Aptos"/>
              </a:rPr>
              <a:t>Clinical evidence deck</a:t>
            </a:r>
          </a:p>
        </p:txBody>
      </p:sp>
      <p:sp>
        <p:nvSpPr>
          <p:cNvPr id="5" name="">
            <a:extLst xmlns:a="http://schemas.openxmlformats.org/drawingml/2006/main">
              <a:ext uri="{FF2B5EF4-FFF2-40B4-BE49-F238E27FC236}">
                <a16:creationId xmlns:a16="http://schemas.microsoft.com/office/drawing/2014/main" id="{2FCBB942-AA35-4D66-8D67-1FC1322B83B6}"/>
              </a:ext>
            </a:extLst>
          </p:cNvPr>
          <p:cNvSpPr>
            <a:spLocks xmlns:a="http://schemas.openxmlformats.org/drawingml/2006/main" noGrp="1"/>
          </p:cNvSpPr>
          <p:nvPr/>
        </p:nvSpPr>
        <p:spPr>
          <a:xfrm xmlns:a="http://schemas.openxmlformats.org/drawingml/2006/main">
            <a:off x="685800" y="2286000"/>
            <a:ext cx="4953000" cy="2667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788" b="0">
                <a:solidFill>
                  <a:srgbClr val="C8D4DC"/>
                </a:solidFill>
                <a:latin typeface="Aptos"/>
                <a:ea typeface="Aptos"/>
                <a:cs typeface="Aptos"/>
              </a:defRPr>
            </a:pPr>
            <a:r>
              <a:rPr sz="788" b="0">
                <a:solidFill>
                  <a:srgbClr val="C8D4DC"/>
                </a:solidFill>
                <a:latin typeface="Aptos"/>
                <a:ea typeface="Aptos"/>
                <a:cs typeface="Aptos"/>
              </a:rPr>
              <a:t>For demonstration purposes only | verify the local approved PI before use</a:t>
            </a:r>
          </a:p>
        </p:txBody>
      </p:sp>
      <p:sp>
        <p:nvSpPr>
          <p:cNvPr id="6" name="">
            <a:extLst xmlns:a="http://schemas.openxmlformats.org/drawingml/2006/main">
              <a:ext uri="{FF2B5EF4-FFF2-40B4-BE49-F238E27FC236}">
                <a16:creationId xmlns:a16="http://schemas.microsoft.com/office/drawing/2014/main" id="{085D3848-8A8C-44D3-8959-F7A357AE0B4C}"/>
              </a:ext>
            </a:extLst>
          </p:cNvPr>
          <p:cNvSpPr>
            <a:spLocks xmlns:a="http://schemas.openxmlformats.org/drawingml/2006/main" noGrp="1"/>
          </p:cNvSpPr>
          <p:nvPr/>
        </p:nvSpPr>
        <p:spPr>
          <a:xfrm xmlns:a="http://schemas.openxmlformats.org/drawingml/2006/main">
            <a:off x="685800" y="3162300"/>
            <a:ext cx="4953000" cy="819150"/>
          </a:xfrm>
          <a:prstGeom xmlns:a="http://schemas.openxmlformats.org/drawingml/2006/main" prst="roundRect">
            <a:avLst>
              <a:gd name="adj" fmla="val 9302"/>
            </a:avLst>
          </a:prstGeom>
          <a:solidFill xmlns:a="http://schemas.openxmlformats.org/drawingml/2006/main">
            <a:srgbClr val="173D56"/>
          </a:solidFill>
          <a:ln xmlns:a="http://schemas.openxmlformats.org/drawingml/2006/main" w="9525">
            <a:solidFill>
              <a:srgbClr val="2B5A76"/>
            </a:solidFill>
            <a:prstDash val="solid"/>
          </a:ln>
        </p:spPr>
      </p:sp>
      <p:sp>
        <p:nvSpPr>
          <p:cNvPr id="7" name="">
            <a:extLst xmlns:a="http://schemas.openxmlformats.org/drawingml/2006/main">
              <a:ext uri="{FF2B5EF4-FFF2-40B4-BE49-F238E27FC236}">
                <a16:creationId xmlns:a16="http://schemas.microsoft.com/office/drawing/2014/main" id="{A7684172-ECD8-4EA4-8FE3-AFBC5F3951D4}"/>
              </a:ext>
            </a:extLst>
          </p:cNvPr>
          <p:cNvSpPr>
            <a:spLocks xmlns:a="http://schemas.openxmlformats.org/drawingml/2006/main" noGrp="1"/>
          </p:cNvSpPr>
          <p:nvPr/>
        </p:nvSpPr>
        <p:spPr>
          <a:xfrm xmlns:a="http://schemas.openxmlformats.org/drawingml/2006/main">
            <a:off x="819150" y="3276600"/>
            <a:ext cx="4686300" cy="266700"/>
          </a:xfrm>
          <a:prstGeom xmlns:a="http://schemas.openxmlformats.org/drawingml/2006/main" prst="rect">
            <a:avLst/>
          </a:prstGeom>
          <a:solidFill xmlns:a="http://schemas.openxmlformats.org/drawingml/2006/main">
            <a:srgbClr val="173D56"/>
          </a:solidFill>
          <a:ln xmlns:a="http://schemas.openxmlformats.org/drawingml/2006/main" w="9525">
            <a:solidFill>
              <a:srgbClr val="173D5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Scientific role</a:t>
            </a:r>
          </a:p>
        </p:txBody>
      </p:sp>
      <p:sp>
        <p:nvSpPr>
          <p:cNvPr id="8" name="">
            <a:extLst xmlns:a="http://schemas.openxmlformats.org/drawingml/2006/main">
              <a:ext uri="{FF2B5EF4-FFF2-40B4-BE49-F238E27FC236}">
                <a16:creationId xmlns:a16="http://schemas.microsoft.com/office/drawing/2014/main" id="{D21BC17A-EBD6-4F36-B403-76DC88CB8CB8}"/>
              </a:ext>
            </a:extLst>
          </p:cNvPr>
          <p:cNvSpPr>
            <a:spLocks xmlns:a="http://schemas.openxmlformats.org/drawingml/2006/main" noGrp="1"/>
          </p:cNvSpPr>
          <p:nvPr/>
        </p:nvSpPr>
        <p:spPr>
          <a:xfrm xmlns:a="http://schemas.openxmlformats.org/drawingml/2006/main">
            <a:off x="819150" y="3562350"/>
            <a:ext cx="4686300" cy="323850"/>
          </a:xfrm>
          <a:prstGeom xmlns:a="http://schemas.openxmlformats.org/drawingml/2006/main" prst="rect">
            <a:avLst/>
          </a:prstGeom>
          <a:solidFill xmlns:a="http://schemas.openxmlformats.org/drawingml/2006/main">
            <a:srgbClr val="173D56"/>
          </a:solidFill>
          <a:ln xmlns:a="http://schemas.openxmlformats.org/drawingml/2006/main" w="9525">
            <a:solidFill>
              <a:srgbClr val="173D56"/>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EAF2F6"/>
                </a:solidFill>
                <a:latin typeface="Aptos"/>
                <a:ea typeface="Aptos"/>
                <a:cs typeface="Aptos"/>
              </a:defRPr>
            </a:pPr>
            <a:r>
              <a:rPr sz="840" b="0">
                <a:solidFill>
                  <a:srgbClr val="EAF2F6"/>
                </a:solidFill>
                <a:latin typeface="Aptos"/>
                <a:ea typeface="Aptos"/>
                <a:cs typeface="Aptos"/>
              </a:rPr>
              <a:t>Balanced NSAID messaging focused on symptom relief and safety</a:t>
            </a:r>
          </a:p>
        </p:txBody>
      </p:sp>
      <p:sp>
        <p:nvSpPr>
          <p:cNvPr id="9" name="">
            <a:extLst xmlns:a="http://schemas.openxmlformats.org/drawingml/2006/main">
              <a:ext uri="{FF2B5EF4-FFF2-40B4-BE49-F238E27FC236}">
                <a16:creationId xmlns:a16="http://schemas.microsoft.com/office/drawing/2014/main" id="{701CE39D-BF13-4EC9-8597-164B7D2A53E5}"/>
              </a:ext>
            </a:extLst>
          </p:cNvPr>
          <p:cNvSpPr>
            <a:spLocks xmlns:a="http://schemas.openxmlformats.org/drawingml/2006/main" noGrp="1"/>
          </p:cNvSpPr>
          <p:nvPr/>
        </p:nvSpPr>
        <p:spPr>
          <a:xfrm xmlns:a="http://schemas.openxmlformats.org/drawingml/2006/main">
            <a:off x="685800" y="4229100"/>
            <a:ext cx="4953000" cy="819150"/>
          </a:xfrm>
          <a:prstGeom xmlns:a="http://schemas.openxmlformats.org/drawingml/2006/main" prst="roundRect">
            <a:avLst>
              <a:gd name="adj" fmla="val 9302"/>
            </a:avLst>
          </a:prstGeom>
          <a:solidFill xmlns:a="http://schemas.openxmlformats.org/drawingml/2006/main">
            <a:srgbClr val="113247"/>
          </a:solidFill>
          <a:ln xmlns:a="http://schemas.openxmlformats.org/drawingml/2006/main" w="9525">
            <a:solidFill>
              <a:srgbClr val="2B5A76"/>
            </a:solidFill>
            <a:prstDash val="solid"/>
          </a:ln>
        </p:spPr>
      </p:sp>
      <p:sp>
        <p:nvSpPr>
          <p:cNvPr id="10" name="">
            <a:extLst xmlns:a="http://schemas.openxmlformats.org/drawingml/2006/main">
              <a:ext uri="{FF2B5EF4-FFF2-40B4-BE49-F238E27FC236}">
                <a16:creationId xmlns:a16="http://schemas.microsoft.com/office/drawing/2014/main" id="{C140EC83-459E-46A5-B314-858BDBCD44C8}"/>
              </a:ext>
            </a:extLst>
          </p:cNvPr>
          <p:cNvSpPr>
            <a:spLocks xmlns:a="http://schemas.openxmlformats.org/drawingml/2006/main" noGrp="1"/>
          </p:cNvSpPr>
          <p:nvPr/>
        </p:nvSpPr>
        <p:spPr>
          <a:xfrm xmlns:a="http://schemas.openxmlformats.org/drawingml/2006/main">
            <a:off x="819150" y="4343400"/>
            <a:ext cx="4686300" cy="266700"/>
          </a:xfrm>
          <a:prstGeom xmlns:a="http://schemas.openxmlformats.org/drawingml/2006/main" prst="rect">
            <a:avLst/>
          </a:prstGeom>
          <a:solidFill xmlns:a="http://schemas.openxmlformats.org/drawingml/2006/main">
            <a:srgbClr val="113247"/>
          </a:solidFill>
          <a:ln xmlns:a="http://schemas.openxmlformats.org/drawingml/2006/main" w="9525">
            <a:solidFill>
              <a:srgbClr val="11324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Evidence spine</a:t>
            </a:r>
          </a:p>
        </p:txBody>
      </p:sp>
      <p:sp>
        <p:nvSpPr>
          <p:cNvPr id="11" name="">
            <a:extLst xmlns:a="http://schemas.openxmlformats.org/drawingml/2006/main">
              <a:ext uri="{FF2B5EF4-FFF2-40B4-BE49-F238E27FC236}">
                <a16:creationId xmlns:a16="http://schemas.microsoft.com/office/drawing/2014/main" id="{304401A2-0976-4EDD-B848-597A44C7ECD2}"/>
              </a:ext>
            </a:extLst>
          </p:cNvPr>
          <p:cNvSpPr>
            <a:spLocks xmlns:a="http://schemas.openxmlformats.org/drawingml/2006/main" noGrp="1"/>
          </p:cNvSpPr>
          <p:nvPr/>
        </p:nvSpPr>
        <p:spPr>
          <a:xfrm xmlns:a="http://schemas.openxmlformats.org/drawingml/2006/main">
            <a:off x="819150" y="4629150"/>
            <a:ext cx="4686300" cy="323850"/>
          </a:xfrm>
          <a:prstGeom xmlns:a="http://schemas.openxmlformats.org/drawingml/2006/main" prst="rect">
            <a:avLst/>
          </a:prstGeom>
          <a:solidFill xmlns:a="http://schemas.openxmlformats.org/drawingml/2006/main">
            <a:srgbClr val="113247"/>
          </a:solidFill>
          <a:ln xmlns:a="http://schemas.openxmlformats.org/drawingml/2006/main" w="9525">
            <a:solidFill>
              <a:srgbClr val="113247"/>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EAF2F6"/>
                </a:solidFill>
                <a:latin typeface="Aptos"/>
                <a:ea typeface="Aptos"/>
                <a:cs typeface="Aptos"/>
              </a:defRPr>
            </a:pPr>
            <a:r>
              <a:rPr sz="840" b="0">
                <a:solidFill>
                  <a:srgbClr val="EAF2F6"/>
                </a:solidFill>
                <a:latin typeface="Aptos"/>
                <a:ea typeface="Aptos"/>
                <a:cs typeface="Aptos"/>
              </a:rPr>
              <a:t>OA efficacy, acute pain studies, PK / BE, and class risk</a:t>
            </a:r>
          </a:p>
        </p:txBody>
      </p:sp>
      <p:sp>
        <p:nvSpPr>
          <p:cNvPr id="12" name="">
            <a:extLst xmlns:a="http://schemas.openxmlformats.org/drawingml/2006/main">
              <a:ext uri="{FF2B5EF4-FFF2-40B4-BE49-F238E27FC236}">
                <a16:creationId xmlns:a16="http://schemas.microsoft.com/office/drawing/2014/main" id="{6CB2CCBA-D372-4ED5-BA4F-85D72416C19B}"/>
              </a:ext>
            </a:extLst>
          </p:cNvPr>
          <p:cNvSpPr>
            <a:spLocks xmlns:a="http://schemas.openxmlformats.org/drawingml/2006/main" noGrp="1"/>
          </p:cNvSpPr>
          <p:nvPr/>
        </p:nvSpPr>
        <p:spPr>
          <a:xfrm xmlns:a="http://schemas.openxmlformats.org/drawingml/2006/main">
            <a:off x="685800" y="5295900"/>
            <a:ext cx="4953000" cy="819150"/>
          </a:xfrm>
          <a:prstGeom xmlns:a="http://schemas.openxmlformats.org/drawingml/2006/main" prst="roundRect">
            <a:avLst>
              <a:gd name="adj" fmla="val 9302"/>
            </a:avLst>
          </a:prstGeom>
          <a:solidFill xmlns:a="http://schemas.openxmlformats.org/drawingml/2006/main">
            <a:srgbClr val="0F3146"/>
          </a:solidFill>
          <a:ln xmlns:a="http://schemas.openxmlformats.org/drawingml/2006/main" w="9525">
            <a:solidFill>
              <a:srgbClr val="3C5E74"/>
            </a:solidFill>
            <a:prstDash val="solid"/>
          </a:ln>
        </p:spPr>
      </p:sp>
      <p:sp>
        <p:nvSpPr>
          <p:cNvPr id="13" name="">
            <a:extLst xmlns:a="http://schemas.openxmlformats.org/drawingml/2006/main">
              <a:ext uri="{FF2B5EF4-FFF2-40B4-BE49-F238E27FC236}">
                <a16:creationId xmlns:a16="http://schemas.microsoft.com/office/drawing/2014/main" id="{AECF4A3E-C54C-4185-85F7-DB2CAF22C35C}"/>
              </a:ext>
            </a:extLst>
          </p:cNvPr>
          <p:cNvSpPr>
            <a:spLocks xmlns:a="http://schemas.openxmlformats.org/drawingml/2006/main" noGrp="1"/>
          </p:cNvSpPr>
          <p:nvPr/>
        </p:nvSpPr>
        <p:spPr>
          <a:xfrm xmlns:a="http://schemas.openxmlformats.org/drawingml/2006/main">
            <a:off x="819150" y="5410200"/>
            <a:ext cx="4686300" cy="266700"/>
          </a:xfrm>
          <a:prstGeom xmlns:a="http://schemas.openxmlformats.org/drawingml/2006/main" prst="rect">
            <a:avLst/>
          </a:prstGeom>
          <a:solidFill xmlns:a="http://schemas.openxmlformats.org/drawingml/2006/main">
            <a:srgbClr val="0F3146"/>
          </a:solidFill>
          <a:ln xmlns:a="http://schemas.openxmlformats.org/drawingml/2006/main" w="9525">
            <a:solidFill>
              <a:srgbClr val="0F314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Use boundary</a:t>
            </a:r>
          </a:p>
        </p:txBody>
      </p:sp>
      <p:sp>
        <p:nvSpPr>
          <p:cNvPr id="14" name="">
            <a:extLst xmlns:a="http://schemas.openxmlformats.org/drawingml/2006/main">
              <a:ext uri="{FF2B5EF4-FFF2-40B4-BE49-F238E27FC236}">
                <a16:creationId xmlns:a16="http://schemas.microsoft.com/office/drawing/2014/main" id="{8600707D-DE25-4D69-8AEC-BE9C00ACEA98}"/>
              </a:ext>
            </a:extLst>
          </p:cNvPr>
          <p:cNvSpPr>
            <a:spLocks xmlns:a="http://schemas.openxmlformats.org/drawingml/2006/main" noGrp="1"/>
          </p:cNvSpPr>
          <p:nvPr/>
        </p:nvSpPr>
        <p:spPr>
          <a:xfrm xmlns:a="http://schemas.openxmlformats.org/drawingml/2006/main">
            <a:off x="819150" y="5695950"/>
            <a:ext cx="4686300" cy="323850"/>
          </a:xfrm>
          <a:prstGeom xmlns:a="http://schemas.openxmlformats.org/drawingml/2006/main" prst="rect">
            <a:avLst/>
          </a:prstGeom>
          <a:solidFill xmlns:a="http://schemas.openxmlformats.org/drawingml/2006/main">
            <a:srgbClr val="0F3146"/>
          </a:solidFill>
          <a:ln xmlns:a="http://schemas.openxmlformats.org/drawingml/2006/main" w="9525">
            <a:solidFill>
              <a:srgbClr val="0F3146"/>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EAF2F6"/>
                </a:solidFill>
                <a:latin typeface="Aptos"/>
                <a:ea typeface="Aptos"/>
                <a:cs typeface="Aptos"/>
              </a:defRPr>
            </a:pPr>
            <a:r>
              <a:rPr sz="840" b="0">
                <a:solidFill>
                  <a:srgbClr val="EAF2F6"/>
                </a:solidFill>
                <a:latin typeface="Aptos"/>
                <a:ea typeface="Aptos"/>
                <a:cs typeface="Aptos"/>
              </a:rPr>
              <a:t>Demonstration deck only; final claims must follow local label</a:t>
            </a:r>
          </a:p>
        </p:txBody>
      </p:sp>
      <p:sp>
        <p:nvSpPr>
          <p:cNvPr id="15" name="">
            <a:extLst xmlns:a="http://schemas.openxmlformats.org/drawingml/2006/main">
              <a:ext uri="{FF2B5EF4-FFF2-40B4-BE49-F238E27FC236}">
                <a16:creationId xmlns:a16="http://schemas.microsoft.com/office/drawing/2014/main" id="{313A7AB0-A3F7-48B6-86D5-9ABE1C7B1147}"/>
              </a:ext>
            </a:extLst>
          </p:cNvPr>
          <p:cNvSpPr>
            <a:spLocks xmlns:a="http://schemas.openxmlformats.org/drawingml/2006/main" noGrp="1"/>
          </p:cNvSpPr>
          <p:nvPr/>
        </p:nvSpPr>
        <p:spPr>
          <a:xfrm xmlns:a="http://schemas.openxmlformats.org/drawingml/2006/main">
            <a:off x="7620000" y="1371600"/>
            <a:ext cx="3886200" cy="4267200"/>
          </a:xfrm>
          <a:prstGeom xmlns:a="http://schemas.openxmlformats.org/drawingml/2006/main" prst="roundRect">
            <a:avLst>
              <a:gd name="adj" fmla="val 1961"/>
            </a:avLst>
          </a:prstGeom>
          <a:solidFill xmlns:a="http://schemas.openxmlformats.org/drawingml/2006/main">
            <a:srgbClr val="173A53"/>
          </a:solidFill>
          <a:ln xmlns:a="http://schemas.openxmlformats.org/drawingml/2006/main" w="9525">
            <a:solidFill>
              <a:srgbClr val="2B5A76"/>
            </a:solidFill>
            <a:prstDash val="solid"/>
          </a:ln>
        </p:spPr>
        <p:txBody>
          <a:bodyPr xmlns:a="http://schemas.openxmlformats.org/drawingml/2006/main" anchor="t"/>
          <a:lstStyle xmlns:a="http://schemas.openxmlformats.org/drawingml/2006/main"/>
          <a:p xmlns:a="http://schemas.openxmlformats.org/drawingml/2006/main">
            <a:pPr algn="l">
              <a:defRPr sz="1350" b="0">
                <a:solidFill>
                  <a:srgbClr val="EAF2F6"/>
                </a:solidFill>
                <a:latin typeface="Aptos"/>
                <a:ea typeface="Aptos"/>
                <a:cs typeface="Aptos"/>
              </a:defRPr>
            </a:pPr>
            <a:r>
              <a:rPr sz="1350" b="0">
                <a:solidFill>
                  <a:srgbClr val="EAF2F6"/>
                </a:solidFill>
                <a:latin typeface="Aptos"/>
                <a:ea typeface="Aptos"/>
                <a:cs typeface="Aptos"/>
              </a:rPr>
              <a:t>This deck is designed as a scientific brand narrative, not as a marketing piece.</a:t>
            </a:r>
          </a:p>
          <a:p xmlns:a="http://schemas.openxmlformats.org/drawingml/2006/main">
            <a:r>
              <a:t/>
            </a:r>
          </a:p>
          <a:p xmlns:a="http://schemas.openxmlformats.org/drawingml/2006/main">
            <a:pPr algn="l">
              <a:defRPr sz="1350" b="0">
                <a:solidFill>
                  <a:srgbClr val="EAF2F6"/>
                </a:solidFill>
                <a:latin typeface="Aptos"/>
                <a:ea typeface="Aptos"/>
                <a:cs typeface="Aptos"/>
              </a:defRPr>
            </a:pPr>
            <a:r>
              <a:rPr sz="1350" b="0">
                <a:solidFill>
                  <a:srgbClr val="EAF2F6"/>
                </a:solidFill>
                <a:latin typeface="Aptos"/>
                <a:ea typeface="Aptos"/>
                <a:cs typeface="Aptos"/>
              </a:rPr>
              <a:t>It should help the audience think about where aceclofenac fits, what evidence supports that fit, and which class risks need to stay visible at the point of prescribing.</a:t>
            </a:r>
          </a:p>
        </p:txBody>
      </p:sp>
      <p:sp>
        <p:nvSpPr>
          <p:cNvPr id="16" name="">
            <a:extLst xmlns:a="http://schemas.openxmlformats.org/drawingml/2006/main">
              <a:ext uri="{FF2B5EF4-FFF2-40B4-BE49-F238E27FC236}">
                <a16:creationId xmlns:a16="http://schemas.microsoft.com/office/drawing/2014/main" id="{3CC820B9-C702-4008-86F8-D24CEA1A7B8D}"/>
              </a:ext>
            </a:extLst>
          </p:cNvPr>
          <p:cNvSpPr>
            <a:spLocks xmlns:a="http://schemas.openxmlformats.org/drawingml/2006/main" noGrp="1"/>
          </p:cNvSpPr>
          <p:nvPr/>
        </p:nvSpPr>
        <p:spPr>
          <a:xfrm xmlns:a="http://schemas.openxmlformats.org/drawingml/2006/main">
            <a:off x="685800" y="5829300"/>
            <a:ext cx="3524250" cy="2286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ClinCommand OS</a:t>
            </a:r>
          </a:p>
        </p:txBody>
      </p:sp>
      <p:sp>
        <p:nvSpPr>
          <p:cNvPr id="17" name="">
            <a:extLst xmlns:a="http://schemas.openxmlformats.org/drawingml/2006/main">
              <a:ext uri="{FF2B5EF4-FFF2-40B4-BE49-F238E27FC236}">
                <a16:creationId xmlns:a16="http://schemas.microsoft.com/office/drawing/2014/main" id="{6F779969-6150-466B-ACF2-73A00BEB921E}"/>
              </a:ext>
            </a:extLst>
          </p:cNvPr>
          <p:cNvSpPr>
            <a:spLocks xmlns:a="http://schemas.openxmlformats.org/drawingml/2006/main" noGrp="1"/>
          </p:cNvSpPr>
          <p:nvPr/>
        </p:nvSpPr>
        <p:spPr>
          <a:xfrm xmlns:a="http://schemas.openxmlformats.org/drawingml/2006/main">
            <a:off x="685800" y="6096000"/>
            <a:ext cx="4476750" cy="17145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645" b="0">
                <a:solidFill>
                  <a:srgbClr val="C8D4DC"/>
                </a:solidFill>
                <a:latin typeface="Aptos"/>
                <a:ea typeface="Aptos"/>
                <a:cs typeface="Aptos"/>
              </a:defRPr>
            </a:pPr>
            <a:r>
              <a:rPr sz="645" b="0">
                <a:solidFill>
                  <a:srgbClr val="C8D4DC"/>
                </a:solidFill>
                <a:latin typeface="Aptos"/>
                <a:ea typeface="Aptos"/>
                <a:cs typeface="Aptos"/>
              </a:rPr>
              <a:t>Scientific communication architecture</a:t>
            </a:r>
          </a:p>
        </p:txBody>
      </p:sp>
    </p:spTree>
    <p:extLst>
      <p:ext uri="{BB962C8B-B14F-4D97-AF65-F5344CB8AC3E}">
        <p14:creationId xmlns:p14="http://schemas.microsoft.com/office/powerpoint/2010/main" val="3701029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79B058-842B-4E67-B5E3-6BA8D10EF01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60F7A3C-2851-4EB1-863E-7D194EE78A8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1F1A486C-8AA8-46BE-A4B6-7587EB3D06D1}"/>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Why aceclofenac deserves a fresh discussion</a:t>
            </a:r>
          </a:p>
        </p:txBody>
      </p:sp>
      <p:sp>
        <p:nvSpPr>
          <p:cNvPr id="4" name="">
            <a:extLst xmlns:a="http://schemas.openxmlformats.org/drawingml/2006/main">
              <a:ext uri="{FF2B5EF4-FFF2-40B4-BE49-F238E27FC236}">
                <a16:creationId xmlns:a16="http://schemas.microsoft.com/office/drawing/2014/main" id="{13CAB732-46C9-40C1-95A6-93B96B4091CF}"/>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Three things matter: where it fits, what the evidence says, and what makes the safety conversation credible.</a:t>
            </a:r>
          </a:p>
        </p:txBody>
      </p:sp>
      <p:sp>
        <p:nvSpPr>
          <p:cNvPr id="5" name="">
            <a:extLst xmlns:a="http://schemas.openxmlformats.org/drawingml/2006/main">
              <a:ext uri="{FF2B5EF4-FFF2-40B4-BE49-F238E27FC236}">
                <a16:creationId xmlns:a16="http://schemas.microsoft.com/office/drawing/2014/main" id="{FD4B9871-FBB7-432A-A9A2-1EA1564857FD}"/>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A88D7148-EAC4-4C90-A79A-DFD09DC9334B}"/>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34876850; PMC8643213; PubMed 5335881</a:t>
            </a:r>
          </a:p>
        </p:txBody>
      </p:sp>
      <p:sp>
        <p:nvSpPr>
          <p:cNvPr id="7" name="">
            <a:extLst xmlns:a="http://schemas.openxmlformats.org/drawingml/2006/main">
              <a:ext uri="{FF2B5EF4-FFF2-40B4-BE49-F238E27FC236}">
                <a16:creationId xmlns:a16="http://schemas.microsoft.com/office/drawing/2014/main" id="{A34597FB-510B-47FE-B22C-C5404220A1AF}"/>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2/25</a:t>
            </a:r>
          </a:p>
        </p:txBody>
      </p:sp>
      <p:sp>
        <p:nvSpPr>
          <p:cNvPr id="8" name="">
            <a:extLst xmlns:a="http://schemas.openxmlformats.org/drawingml/2006/main">
              <a:ext uri="{FF2B5EF4-FFF2-40B4-BE49-F238E27FC236}">
                <a16:creationId xmlns:a16="http://schemas.microsoft.com/office/drawing/2014/main" id="{AF1F2C63-C303-44FD-AC6D-290FE02F514D}"/>
              </a:ext>
            </a:extLst>
          </p:cNvPr>
          <p:cNvSpPr>
            <a:spLocks xmlns:a="http://schemas.openxmlformats.org/drawingml/2006/main" noGrp="1"/>
          </p:cNvSpPr>
          <p:nvPr/>
        </p:nvSpPr>
        <p:spPr>
          <a:xfrm xmlns:a="http://schemas.openxmlformats.org/drawingml/2006/main">
            <a:off x="609600" y="1466850"/>
            <a:ext cx="3429000" cy="1466850"/>
          </a:xfrm>
          <a:prstGeom xmlns:a="http://schemas.openxmlformats.org/drawingml/2006/main" prst="roundRect">
            <a:avLst>
              <a:gd name="adj" fmla="val 5195"/>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A3A3531D-B470-4992-981C-1CD61D5DF38A}"/>
              </a:ext>
            </a:extLst>
          </p:cNvPr>
          <p:cNvSpPr>
            <a:spLocks xmlns:a="http://schemas.openxmlformats.org/drawingml/2006/main" noGrp="1"/>
          </p:cNvSpPr>
          <p:nvPr/>
        </p:nvSpPr>
        <p:spPr>
          <a:xfrm xmlns:a="http://schemas.openxmlformats.org/drawingml/2006/main">
            <a:off x="742950" y="1581150"/>
            <a:ext cx="31623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Where it fits</a:t>
            </a:r>
          </a:p>
        </p:txBody>
      </p:sp>
      <p:sp>
        <p:nvSpPr>
          <p:cNvPr id="10" name="">
            <a:extLst xmlns:a="http://schemas.openxmlformats.org/drawingml/2006/main">
              <a:ext uri="{FF2B5EF4-FFF2-40B4-BE49-F238E27FC236}">
                <a16:creationId xmlns:a16="http://schemas.microsoft.com/office/drawing/2014/main" id="{D6C9CA9A-A9BE-4DDF-A8DD-EC319AF1B6DD}"/>
              </a:ext>
            </a:extLst>
          </p:cNvPr>
          <p:cNvSpPr>
            <a:spLocks xmlns:a="http://schemas.openxmlformats.org/drawingml/2006/main" noGrp="1"/>
          </p:cNvSpPr>
          <p:nvPr/>
        </p:nvSpPr>
        <p:spPr>
          <a:xfrm xmlns:a="http://schemas.openxmlformats.org/drawingml/2006/main">
            <a:off x="742950" y="1866900"/>
            <a:ext cx="3162300" cy="9715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55" b="0">
                <a:solidFill>
                  <a:srgbClr val="24313A"/>
                </a:solidFill>
                <a:latin typeface="Aptos"/>
                <a:ea typeface="Aptos"/>
                <a:cs typeface="Aptos"/>
              </a:defRPr>
            </a:pPr>
            <a:r>
              <a:rPr sz="855" b="0">
                <a:solidFill>
                  <a:srgbClr val="24313A"/>
                </a:solidFill>
                <a:latin typeface="Aptos"/>
                <a:ea typeface="Aptos"/>
                <a:cs typeface="Aptos"/>
              </a:rPr>
              <a:t>Symptom relief in osteoarthritis, inflammatory arthritis, and short-term musculoskeletal pain where NSAID therapy is appropriate.</a:t>
            </a:r>
          </a:p>
        </p:txBody>
      </p:sp>
      <p:sp>
        <p:nvSpPr>
          <p:cNvPr id="11" name="">
            <a:extLst xmlns:a="http://schemas.openxmlformats.org/drawingml/2006/main">
              <a:ext uri="{FF2B5EF4-FFF2-40B4-BE49-F238E27FC236}">
                <a16:creationId xmlns:a16="http://schemas.microsoft.com/office/drawing/2014/main" id="{AE230D3C-B994-4481-9420-6AE1D2CE8595}"/>
              </a:ext>
            </a:extLst>
          </p:cNvPr>
          <p:cNvSpPr>
            <a:spLocks xmlns:a="http://schemas.openxmlformats.org/drawingml/2006/main" noGrp="1"/>
          </p:cNvSpPr>
          <p:nvPr/>
        </p:nvSpPr>
        <p:spPr>
          <a:xfrm xmlns:a="http://schemas.openxmlformats.org/drawingml/2006/main">
            <a:off x="4343400" y="1466850"/>
            <a:ext cx="3429000" cy="1466850"/>
          </a:xfrm>
          <a:prstGeom xmlns:a="http://schemas.openxmlformats.org/drawingml/2006/main" prst="roundRect">
            <a:avLst>
              <a:gd name="adj" fmla="val 5195"/>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70D34E18-B8B7-448F-8B1B-F2C8F2680119}"/>
              </a:ext>
            </a:extLst>
          </p:cNvPr>
          <p:cNvSpPr>
            <a:spLocks xmlns:a="http://schemas.openxmlformats.org/drawingml/2006/main" noGrp="1"/>
          </p:cNvSpPr>
          <p:nvPr/>
        </p:nvSpPr>
        <p:spPr>
          <a:xfrm xmlns:a="http://schemas.openxmlformats.org/drawingml/2006/main">
            <a:off x="4476750" y="1581150"/>
            <a:ext cx="31623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What supports it</a:t>
            </a:r>
          </a:p>
        </p:txBody>
      </p:sp>
      <p:sp>
        <p:nvSpPr>
          <p:cNvPr id="13" name="">
            <a:extLst xmlns:a="http://schemas.openxmlformats.org/drawingml/2006/main">
              <a:ext uri="{FF2B5EF4-FFF2-40B4-BE49-F238E27FC236}">
                <a16:creationId xmlns:a16="http://schemas.microsoft.com/office/drawing/2014/main" id="{FA4D3E9B-C0C6-4F05-A361-F1C750B99328}"/>
              </a:ext>
            </a:extLst>
          </p:cNvPr>
          <p:cNvSpPr>
            <a:spLocks xmlns:a="http://schemas.openxmlformats.org/drawingml/2006/main" noGrp="1"/>
          </p:cNvSpPr>
          <p:nvPr/>
        </p:nvSpPr>
        <p:spPr>
          <a:xfrm xmlns:a="http://schemas.openxmlformats.org/drawingml/2006/main">
            <a:off x="4476750" y="1866900"/>
            <a:ext cx="3162300" cy="9715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55" b="0">
                <a:solidFill>
                  <a:srgbClr val="24313A"/>
                </a:solidFill>
                <a:latin typeface="Aptos"/>
                <a:ea typeface="Aptos"/>
                <a:cs typeface="Aptos"/>
              </a:defRPr>
            </a:pPr>
            <a:r>
              <a:rPr sz="855" b="0">
                <a:solidFill>
                  <a:srgbClr val="24313A"/>
                </a:solidFill>
                <a:latin typeface="Aptos"/>
                <a:ea typeface="Aptos"/>
                <a:cs typeface="Aptos"/>
              </a:rPr>
              <a:t>Peer-reviewed trials, a meta-analysis, and newer comparative studies keep the clinical story relevant.</a:t>
            </a:r>
          </a:p>
        </p:txBody>
      </p:sp>
      <p:sp>
        <p:nvSpPr>
          <p:cNvPr id="14" name="">
            <a:extLst xmlns:a="http://schemas.openxmlformats.org/drawingml/2006/main">
              <a:ext uri="{FF2B5EF4-FFF2-40B4-BE49-F238E27FC236}">
                <a16:creationId xmlns:a16="http://schemas.microsoft.com/office/drawing/2014/main" id="{493D03AF-144B-4C28-AAEF-D231DCCB7023}"/>
              </a:ext>
            </a:extLst>
          </p:cNvPr>
          <p:cNvSpPr>
            <a:spLocks xmlns:a="http://schemas.openxmlformats.org/drawingml/2006/main" noGrp="1"/>
          </p:cNvSpPr>
          <p:nvPr/>
        </p:nvSpPr>
        <p:spPr>
          <a:xfrm xmlns:a="http://schemas.openxmlformats.org/drawingml/2006/main">
            <a:off x="8077200" y="1466850"/>
            <a:ext cx="3429000" cy="1466850"/>
          </a:xfrm>
          <a:prstGeom xmlns:a="http://schemas.openxmlformats.org/drawingml/2006/main" prst="roundRect">
            <a:avLst>
              <a:gd name="adj" fmla="val 5195"/>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B99CB6D8-4726-4365-B60B-69224731252A}"/>
              </a:ext>
            </a:extLst>
          </p:cNvPr>
          <p:cNvSpPr>
            <a:spLocks xmlns:a="http://schemas.openxmlformats.org/drawingml/2006/main" noGrp="1"/>
          </p:cNvSpPr>
          <p:nvPr/>
        </p:nvSpPr>
        <p:spPr>
          <a:xfrm xmlns:a="http://schemas.openxmlformats.org/drawingml/2006/main">
            <a:off x="8210550" y="1581150"/>
            <a:ext cx="31623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Why it can stand out</a:t>
            </a:r>
          </a:p>
        </p:txBody>
      </p:sp>
      <p:sp>
        <p:nvSpPr>
          <p:cNvPr id="16" name="">
            <a:extLst xmlns:a="http://schemas.openxmlformats.org/drawingml/2006/main">
              <a:ext uri="{FF2B5EF4-FFF2-40B4-BE49-F238E27FC236}">
                <a16:creationId xmlns:a16="http://schemas.microsoft.com/office/drawing/2014/main" id="{2A38AF68-6EBC-40F9-8E3D-D3CE82AE0CE1}"/>
              </a:ext>
            </a:extLst>
          </p:cNvPr>
          <p:cNvSpPr>
            <a:spLocks xmlns:a="http://schemas.openxmlformats.org/drawingml/2006/main" noGrp="1"/>
          </p:cNvSpPr>
          <p:nvPr/>
        </p:nvSpPr>
        <p:spPr>
          <a:xfrm xmlns:a="http://schemas.openxmlformats.org/drawingml/2006/main">
            <a:off x="8210550" y="1866900"/>
            <a:ext cx="3162300" cy="97155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55" b="0">
                <a:solidFill>
                  <a:srgbClr val="24313A"/>
                </a:solidFill>
                <a:latin typeface="Aptos"/>
                <a:ea typeface="Aptos"/>
                <a:cs typeface="Aptos"/>
              </a:defRPr>
            </a:pPr>
            <a:r>
              <a:rPr sz="855" b="0">
                <a:solidFill>
                  <a:srgbClr val="24313A"/>
                </a:solidFill>
                <a:latin typeface="Aptos"/>
                <a:ea typeface="Aptos"/>
                <a:cs typeface="Aptos"/>
              </a:rPr>
              <a:t>A practical dose pattern, a recognisable efficacy profile, and clear class-risk management make it easy to discuss.</a:t>
            </a:r>
          </a:p>
        </p:txBody>
      </p:sp>
      <p:sp>
        <p:nvSpPr>
          <p:cNvPr id="17" name="">
            <a:extLst xmlns:a="http://schemas.openxmlformats.org/drawingml/2006/main">
              <a:ext uri="{FF2B5EF4-FFF2-40B4-BE49-F238E27FC236}">
                <a16:creationId xmlns:a16="http://schemas.microsoft.com/office/drawing/2014/main" id="{5E6F5721-3957-4115-A67C-F8DC8886A1D0}"/>
              </a:ext>
            </a:extLst>
          </p:cNvPr>
          <p:cNvSpPr>
            <a:spLocks xmlns:a="http://schemas.openxmlformats.org/drawingml/2006/main" noGrp="1"/>
          </p:cNvSpPr>
          <p:nvPr/>
        </p:nvSpPr>
        <p:spPr>
          <a:xfrm xmlns:a="http://schemas.openxmlformats.org/drawingml/2006/main">
            <a:off x="609600" y="3295650"/>
            <a:ext cx="514350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D9AC1BAA-8038-4358-9FDD-4700C3BF9DED}"/>
              </a:ext>
            </a:extLst>
          </p:cNvPr>
          <p:cNvSpPr>
            <a:spLocks xmlns:a="http://schemas.openxmlformats.org/drawingml/2006/main" noGrp="1"/>
          </p:cNvSpPr>
          <p:nvPr/>
        </p:nvSpPr>
        <p:spPr>
          <a:xfrm xmlns:a="http://schemas.openxmlformats.org/drawingml/2006/main">
            <a:off x="742950" y="3409950"/>
            <a:ext cx="48768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Message spine</a:t>
            </a:r>
          </a:p>
        </p:txBody>
      </p:sp>
      <p:sp>
        <p:nvSpPr>
          <p:cNvPr id="19" name="">
            <a:extLst xmlns:a="http://schemas.openxmlformats.org/drawingml/2006/main">
              <a:ext uri="{FF2B5EF4-FFF2-40B4-BE49-F238E27FC236}">
                <a16:creationId xmlns:a16="http://schemas.microsoft.com/office/drawing/2014/main" id="{D2ED09D6-59A9-4C25-9912-DE7585A4BB50}"/>
              </a:ext>
            </a:extLst>
          </p:cNvPr>
          <p:cNvSpPr>
            <a:spLocks xmlns:a="http://schemas.openxmlformats.org/drawingml/2006/main" noGrp="1"/>
          </p:cNvSpPr>
          <p:nvPr/>
        </p:nvSpPr>
        <p:spPr>
          <a:xfrm xmlns:a="http://schemas.openxmlformats.org/drawingml/2006/main">
            <a:off x="742950" y="3695700"/>
            <a:ext cx="48768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1) Fast symptom control</a:t>
            </a:r>
          </a:p>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2) Efficacy backed by peer-reviewed evidence</a:t>
            </a:r>
          </a:p>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3) Safety and patient selection stay visible</a:t>
            </a:r>
          </a:p>
        </p:txBody>
      </p:sp>
      <p:sp>
        <p:nvSpPr>
          <p:cNvPr id="20" name="">
            <a:extLst xmlns:a="http://schemas.openxmlformats.org/drawingml/2006/main">
              <a:ext uri="{FF2B5EF4-FFF2-40B4-BE49-F238E27FC236}">
                <a16:creationId xmlns:a16="http://schemas.microsoft.com/office/drawing/2014/main" id="{A1FBB393-605D-47DC-B9D7-1801EA0194D6}"/>
              </a:ext>
            </a:extLst>
          </p:cNvPr>
          <p:cNvSpPr>
            <a:spLocks xmlns:a="http://schemas.openxmlformats.org/drawingml/2006/main" noGrp="1"/>
          </p:cNvSpPr>
          <p:nvPr/>
        </p:nvSpPr>
        <p:spPr>
          <a:xfrm xmlns:a="http://schemas.openxmlformats.org/drawingml/2006/main">
            <a:off x="5981700" y="3295650"/>
            <a:ext cx="552450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D9E2E8"/>
            </a:solidFill>
            <a:prstDash val="solid"/>
          </a:ln>
        </p:spPr>
      </p:sp>
      <p:sp>
        <p:nvSpPr>
          <p:cNvPr id="21" name="">
            <a:extLst xmlns:a="http://schemas.openxmlformats.org/drawingml/2006/main">
              <a:ext uri="{FF2B5EF4-FFF2-40B4-BE49-F238E27FC236}">
                <a16:creationId xmlns:a16="http://schemas.microsoft.com/office/drawing/2014/main" id="{9DD94656-AF47-4F15-ABD7-18D787EFB51A}"/>
              </a:ext>
            </a:extLst>
          </p:cNvPr>
          <p:cNvSpPr>
            <a:spLocks xmlns:a="http://schemas.openxmlformats.org/drawingml/2006/main" noGrp="1"/>
          </p:cNvSpPr>
          <p:nvPr/>
        </p:nvSpPr>
        <p:spPr>
          <a:xfrm xmlns:a="http://schemas.openxmlformats.org/drawingml/2006/main">
            <a:off x="6115050" y="3409950"/>
            <a:ext cx="52578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Deck promise</a:t>
            </a:r>
          </a:p>
        </p:txBody>
      </p:sp>
      <p:sp>
        <p:nvSpPr>
          <p:cNvPr id="22" name="">
            <a:extLst xmlns:a="http://schemas.openxmlformats.org/drawingml/2006/main">
              <a:ext uri="{FF2B5EF4-FFF2-40B4-BE49-F238E27FC236}">
                <a16:creationId xmlns:a16="http://schemas.microsoft.com/office/drawing/2014/main" id="{0106E4F0-2F86-4ED1-8C14-4257111283DE}"/>
              </a:ext>
            </a:extLst>
          </p:cNvPr>
          <p:cNvSpPr>
            <a:spLocks xmlns:a="http://schemas.openxmlformats.org/drawingml/2006/main" noGrp="1"/>
          </p:cNvSpPr>
          <p:nvPr/>
        </p:nvSpPr>
        <p:spPr>
          <a:xfrm xmlns:a="http://schemas.openxmlformats.org/drawingml/2006/main">
            <a:off x="6115050" y="3695700"/>
            <a:ext cx="52578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This is not a bland class summary. It is a clinically grounded brand narrative with enough pull to matter in conversation.</a:t>
            </a:r>
          </a:p>
        </p:txBody>
      </p:sp>
      <p:sp>
        <p:nvSpPr>
          <p:cNvPr id="23" name="">
            <a:extLst xmlns:a="http://schemas.openxmlformats.org/drawingml/2006/main">
              <a:ext uri="{FF2B5EF4-FFF2-40B4-BE49-F238E27FC236}">
                <a16:creationId xmlns:a16="http://schemas.microsoft.com/office/drawing/2014/main" id="{294995AB-246B-4F74-BFC8-10278193C97F}"/>
              </a:ext>
            </a:extLst>
          </p:cNvPr>
          <p:cNvSpPr>
            <a:spLocks xmlns:a="http://schemas.openxmlformats.org/drawingml/2006/main" noGrp="1"/>
          </p:cNvSpPr>
          <p:nvPr/>
        </p:nvSpPr>
        <p:spPr>
          <a:xfrm xmlns:a="http://schemas.openxmlformats.org/drawingml/2006/main">
            <a:off x="609600" y="6343650"/>
            <a:ext cx="110490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The deck is built to be clinically persuasive without losing balance.</a:t>
            </a:r>
          </a:p>
        </p:txBody>
      </p:sp>
    </p:spTree>
    <p:extLst>
      <p:ext uri="{BB962C8B-B14F-4D97-AF65-F5344CB8AC3E}">
        <p14:creationId xmlns:p14="http://schemas.microsoft.com/office/powerpoint/2010/main" val="12483096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B9D8A43-1391-4859-8611-1A849F814B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74E61B58-7A22-4B41-91C2-228B283F7EE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ECF0D231-2AC1-42DD-9191-6FEAEEC504BD}"/>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Clinical context: the symptom problem aceclofenac addresses</a:t>
            </a:r>
          </a:p>
        </p:txBody>
      </p:sp>
      <p:sp>
        <p:nvSpPr>
          <p:cNvPr id="4" name="">
            <a:extLst xmlns:a="http://schemas.openxmlformats.org/drawingml/2006/main">
              <a:ext uri="{FF2B5EF4-FFF2-40B4-BE49-F238E27FC236}">
                <a16:creationId xmlns:a16="http://schemas.microsoft.com/office/drawing/2014/main" id="{0FC0DEEB-64AD-46D4-82B4-5B78980692B2}"/>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Aceclofenac is a symptom-focused NSAID for inflammatory pain states where the local label allows use and class risk is acceptable.</a:t>
            </a:r>
          </a:p>
        </p:txBody>
      </p:sp>
      <p:sp>
        <p:nvSpPr>
          <p:cNvPr id="5" name="">
            <a:extLst xmlns:a="http://schemas.openxmlformats.org/drawingml/2006/main">
              <a:ext uri="{FF2B5EF4-FFF2-40B4-BE49-F238E27FC236}">
                <a16:creationId xmlns:a16="http://schemas.microsoft.com/office/drawing/2014/main" id="{FEB7FC61-A1A8-43F9-A67C-5DC22B7EFE2F}"/>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FF5B3156-2B6A-46FA-A47B-C97A113100D5}"/>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34876850; PubMed 36414224; PubMed 34719940</a:t>
            </a:r>
          </a:p>
        </p:txBody>
      </p:sp>
      <p:sp>
        <p:nvSpPr>
          <p:cNvPr id="7" name="">
            <a:extLst xmlns:a="http://schemas.openxmlformats.org/drawingml/2006/main">
              <a:ext uri="{FF2B5EF4-FFF2-40B4-BE49-F238E27FC236}">
                <a16:creationId xmlns:a16="http://schemas.microsoft.com/office/drawing/2014/main" id="{4924F5FF-19B4-4D16-9AF5-98DD35CD3755}"/>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3/25</a:t>
            </a:r>
          </a:p>
        </p:txBody>
      </p:sp>
      <p:sp>
        <p:nvSpPr>
          <p:cNvPr id="8" name="">
            <a:extLst xmlns:a="http://schemas.openxmlformats.org/drawingml/2006/main">
              <a:ext uri="{FF2B5EF4-FFF2-40B4-BE49-F238E27FC236}">
                <a16:creationId xmlns:a16="http://schemas.microsoft.com/office/drawing/2014/main" id="{7EB46809-97AE-4E9C-9F97-5891DB2EEE73}"/>
              </a:ext>
            </a:extLst>
          </p:cNvPr>
          <p:cNvSpPr>
            <a:spLocks xmlns:a="http://schemas.openxmlformats.org/drawingml/2006/main" noGrp="1"/>
          </p:cNvSpPr>
          <p:nvPr/>
        </p:nvSpPr>
        <p:spPr>
          <a:xfrm xmlns:a="http://schemas.openxmlformats.org/drawingml/2006/main">
            <a:off x="609600" y="1466850"/>
            <a:ext cx="3429000" cy="1619250"/>
          </a:xfrm>
          <a:prstGeom xmlns:a="http://schemas.openxmlformats.org/drawingml/2006/main" prst="roundRect">
            <a:avLst>
              <a:gd name="adj" fmla="val 4706"/>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5A0EBB10-CD98-4E03-92A1-4F92114F2626}"/>
              </a:ext>
            </a:extLst>
          </p:cNvPr>
          <p:cNvSpPr>
            <a:spLocks xmlns:a="http://schemas.openxmlformats.org/drawingml/2006/main" noGrp="1"/>
          </p:cNvSpPr>
          <p:nvPr/>
        </p:nvSpPr>
        <p:spPr>
          <a:xfrm xmlns:a="http://schemas.openxmlformats.org/drawingml/2006/main">
            <a:off x="742950" y="1581150"/>
            <a:ext cx="31623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Osteoarthritis</a:t>
            </a:r>
          </a:p>
        </p:txBody>
      </p:sp>
      <p:sp>
        <p:nvSpPr>
          <p:cNvPr id="10" name="">
            <a:extLst xmlns:a="http://schemas.openxmlformats.org/drawingml/2006/main">
              <a:ext uri="{FF2B5EF4-FFF2-40B4-BE49-F238E27FC236}">
                <a16:creationId xmlns:a16="http://schemas.microsoft.com/office/drawing/2014/main" id="{09B8350F-9A9C-4A38-A847-FCDC12D49DAD}"/>
              </a:ext>
            </a:extLst>
          </p:cNvPr>
          <p:cNvSpPr>
            <a:spLocks xmlns:a="http://schemas.openxmlformats.org/drawingml/2006/main" noGrp="1"/>
          </p:cNvSpPr>
          <p:nvPr/>
        </p:nvSpPr>
        <p:spPr>
          <a:xfrm xmlns:a="http://schemas.openxmlformats.org/drawingml/2006/main">
            <a:off x="742950" y="1866900"/>
            <a:ext cx="3162300" cy="11239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Pain, stiffness, and function loss are the practical endpoints. Recent OA reviews still place NSAIDs in the core symptom-control conversation.</a:t>
            </a:r>
          </a:p>
        </p:txBody>
      </p:sp>
      <p:sp>
        <p:nvSpPr>
          <p:cNvPr id="11" name="">
            <a:extLst xmlns:a="http://schemas.openxmlformats.org/drawingml/2006/main">
              <a:ext uri="{FF2B5EF4-FFF2-40B4-BE49-F238E27FC236}">
                <a16:creationId xmlns:a16="http://schemas.microsoft.com/office/drawing/2014/main" id="{C95DEA30-513C-4EDB-9C4F-FBA668DB7822}"/>
              </a:ext>
            </a:extLst>
          </p:cNvPr>
          <p:cNvSpPr>
            <a:spLocks xmlns:a="http://schemas.openxmlformats.org/drawingml/2006/main" noGrp="1"/>
          </p:cNvSpPr>
          <p:nvPr/>
        </p:nvSpPr>
        <p:spPr>
          <a:xfrm xmlns:a="http://schemas.openxmlformats.org/drawingml/2006/main">
            <a:off x="4400550" y="1466850"/>
            <a:ext cx="342900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16529CBC-0020-4E6D-B4D4-9FF53D242B42}"/>
              </a:ext>
            </a:extLst>
          </p:cNvPr>
          <p:cNvSpPr>
            <a:spLocks xmlns:a="http://schemas.openxmlformats.org/drawingml/2006/main" noGrp="1"/>
          </p:cNvSpPr>
          <p:nvPr/>
        </p:nvSpPr>
        <p:spPr>
          <a:xfrm xmlns:a="http://schemas.openxmlformats.org/drawingml/2006/main">
            <a:off x="4533900" y="1581150"/>
            <a:ext cx="31623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Inflammatory arthritis</a:t>
            </a:r>
          </a:p>
        </p:txBody>
      </p:sp>
      <p:sp>
        <p:nvSpPr>
          <p:cNvPr id="13" name="">
            <a:extLst xmlns:a="http://schemas.openxmlformats.org/drawingml/2006/main">
              <a:ext uri="{FF2B5EF4-FFF2-40B4-BE49-F238E27FC236}">
                <a16:creationId xmlns:a16="http://schemas.microsoft.com/office/drawing/2014/main" id="{2E9F8307-BD69-41C1-ABC6-C7F1B0FBC1B8}"/>
              </a:ext>
            </a:extLst>
          </p:cNvPr>
          <p:cNvSpPr>
            <a:spLocks xmlns:a="http://schemas.openxmlformats.org/drawingml/2006/main" noGrp="1"/>
          </p:cNvSpPr>
          <p:nvPr/>
        </p:nvSpPr>
        <p:spPr>
          <a:xfrm xmlns:a="http://schemas.openxmlformats.org/drawingml/2006/main">
            <a:off x="4533900" y="1866900"/>
            <a:ext cx="3162300" cy="11239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In rheumatoid and spondyloarthritic disease, NSAIDs relieve pain and stiffness but do not replace disease-modifying therapy.</a:t>
            </a:r>
          </a:p>
        </p:txBody>
      </p:sp>
      <p:sp>
        <p:nvSpPr>
          <p:cNvPr id="14" name="">
            <a:extLst xmlns:a="http://schemas.openxmlformats.org/drawingml/2006/main">
              <a:ext uri="{FF2B5EF4-FFF2-40B4-BE49-F238E27FC236}">
                <a16:creationId xmlns:a16="http://schemas.microsoft.com/office/drawing/2014/main" id="{00FAD8BB-78B4-40F3-99EF-D2108755C642}"/>
              </a:ext>
            </a:extLst>
          </p:cNvPr>
          <p:cNvSpPr>
            <a:spLocks xmlns:a="http://schemas.openxmlformats.org/drawingml/2006/main" noGrp="1"/>
          </p:cNvSpPr>
          <p:nvPr/>
        </p:nvSpPr>
        <p:spPr>
          <a:xfrm xmlns:a="http://schemas.openxmlformats.org/drawingml/2006/main">
            <a:off x="8191500" y="1466850"/>
            <a:ext cx="3390900" cy="1619250"/>
          </a:xfrm>
          <a:prstGeom xmlns:a="http://schemas.openxmlformats.org/drawingml/2006/main" prst="roundRect">
            <a:avLst>
              <a:gd name="adj" fmla="val 4706"/>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92219EC1-3B9E-4740-9751-C823CD780F0F}"/>
              </a:ext>
            </a:extLst>
          </p:cNvPr>
          <p:cNvSpPr>
            <a:spLocks xmlns:a="http://schemas.openxmlformats.org/drawingml/2006/main" noGrp="1"/>
          </p:cNvSpPr>
          <p:nvPr/>
        </p:nvSpPr>
        <p:spPr>
          <a:xfrm xmlns:a="http://schemas.openxmlformats.org/drawingml/2006/main">
            <a:off x="8324850" y="1581150"/>
            <a:ext cx="31242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Acute musculoskeletal pain</a:t>
            </a:r>
          </a:p>
        </p:txBody>
      </p:sp>
      <p:sp>
        <p:nvSpPr>
          <p:cNvPr id="16" name="">
            <a:extLst xmlns:a="http://schemas.openxmlformats.org/drawingml/2006/main">
              <a:ext uri="{FF2B5EF4-FFF2-40B4-BE49-F238E27FC236}">
                <a16:creationId xmlns:a16="http://schemas.microsoft.com/office/drawing/2014/main" id="{8BEFC390-5CD3-482D-BD96-E2E58181372A}"/>
              </a:ext>
            </a:extLst>
          </p:cNvPr>
          <p:cNvSpPr>
            <a:spLocks xmlns:a="http://schemas.openxmlformats.org/drawingml/2006/main" noGrp="1"/>
          </p:cNvSpPr>
          <p:nvPr/>
        </p:nvSpPr>
        <p:spPr>
          <a:xfrm xmlns:a="http://schemas.openxmlformats.org/drawingml/2006/main">
            <a:off x="8324850" y="1866900"/>
            <a:ext cx="3124200" cy="112395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Short-term use may help in acute low back pain and other painful inflammatory states where the label permits it.</a:t>
            </a:r>
          </a:p>
        </p:txBody>
      </p:sp>
      <p:sp>
        <p:nvSpPr>
          <p:cNvPr id="17" name="">
            <a:extLst xmlns:a="http://schemas.openxmlformats.org/drawingml/2006/main">
              <a:ext uri="{FF2B5EF4-FFF2-40B4-BE49-F238E27FC236}">
                <a16:creationId xmlns:a16="http://schemas.microsoft.com/office/drawing/2014/main" id="{2C4B0D53-24B5-4E5E-BA5D-B42C919ED3B2}"/>
              </a:ext>
            </a:extLst>
          </p:cNvPr>
          <p:cNvSpPr>
            <a:spLocks xmlns:a="http://schemas.openxmlformats.org/drawingml/2006/main" noGrp="1"/>
          </p:cNvSpPr>
          <p:nvPr/>
        </p:nvSpPr>
        <p:spPr>
          <a:xfrm xmlns:a="http://schemas.openxmlformats.org/drawingml/2006/main">
            <a:off x="876300" y="3486150"/>
            <a:ext cx="1043940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233170A7-0F31-4E08-9454-AF4B6BCD9D53}"/>
              </a:ext>
            </a:extLst>
          </p:cNvPr>
          <p:cNvSpPr>
            <a:spLocks xmlns:a="http://schemas.openxmlformats.org/drawingml/2006/main" noGrp="1"/>
          </p:cNvSpPr>
          <p:nvPr/>
        </p:nvSpPr>
        <p:spPr>
          <a:xfrm xmlns:a="http://schemas.openxmlformats.org/drawingml/2006/main">
            <a:off x="1009650" y="3600450"/>
            <a:ext cx="101727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Balanced clinical message</a:t>
            </a:r>
          </a:p>
        </p:txBody>
      </p:sp>
      <p:sp>
        <p:nvSpPr>
          <p:cNvPr id="19" name="">
            <a:extLst xmlns:a="http://schemas.openxmlformats.org/drawingml/2006/main">
              <a:ext uri="{FF2B5EF4-FFF2-40B4-BE49-F238E27FC236}">
                <a16:creationId xmlns:a16="http://schemas.microsoft.com/office/drawing/2014/main" id="{09AFF69F-3850-4B38-B76A-83F02C253947}"/>
              </a:ext>
            </a:extLst>
          </p:cNvPr>
          <p:cNvSpPr>
            <a:spLocks xmlns:a="http://schemas.openxmlformats.org/drawingml/2006/main" noGrp="1"/>
          </p:cNvSpPr>
          <p:nvPr/>
        </p:nvSpPr>
        <p:spPr>
          <a:xfrm xmlns:a="http://schemas.openxmlformats.org/drawingml/2006/main">
            <a:off x="1009650" y="3886200"/>
            <a:ext cx="101727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65" b="0">
                <a:solidFill>
                  <a:srgbClr val="24313A"/>
                </a:solidFill>
                <a:latin typeface="Aptos"/>
                <a:ea typeface="Aptos"/>
                <a:cs typeface="Aptos"/>
              </a:defRPr>
            </a:pPr>
            <a:r>
              <a:rPr sz="1065" b="0">
                <a:solidFill>
                  <a:srgbClr val="24313A"/>
                </a:solidFill>
                <a:latin typeface="Aptos"/>
                <a:ea typeface="Aptos"/>
                <a:cs typeface="Aptos"/>
              </a:rPr>
              <a:t>The science should always stay clear: aceclofenac can reduce inflammation-linked symptoms, but the prescriber still needs to screen for GI, renal, cardiovascular, hepatic, pregnancy, and interaction risks before choosing it.</a:t>
            </a:r>
          </a:p>
        </p:txBody>
      </p:sp>
    </p:spTree>
    <p:extLst>
      <p:ext uri="{BB962C8B-B14F-4D97-AF65-F5344CB8AC3E}">
        <p14:creationId xmlns:p14="http://schemas.microsoft.com/office/powerpoint/2010/main" val="4853445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AB2F403-63CE-4859-B040-B47F00BDF25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B3D61018-2423-4121-B871-63E6CBE5404C}"/>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79AEC616-2CB2-43DC-9D55-4F980D3D636B}"/>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Molecule profile: identity, chemistry, and physicochemical facts</a:t>
            </a:r>
          </a:p>
        </p:txBody>
      </p:sp>
      <p:sp>
        <p:nvSpPr>
          <p:cNvPr id="4" name="">
            <a:extLst xmlns:a="http://schemas.openxmlformats.org/drawingml/2006/main">
              <a:ext uri="{FF2B5EF4-FFF2-40B4-BE49-F238E27FC236}">
                <a16:creationId xmlns:a16="http://schemas.microsoft.com/office/drawing/2014/main" id="{A875B061-3F50-427D-A99E-4457DFC1D0A4}"/>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This is the slide that turns the talk from generic to real science.</a:t>
            </a:r>
          </a:p>
        </p:txBody>
      </p:sp>
      <p:sp>
        <p:nvSpPr>
          <p:cNvPr id="5" name="">
            <a:extLst xmlns:a="http://schemas.openxmlformats.org/drawingml/2006/main">
              <a:ext uri="{FF2B5EF4-FFF2-40B4-BE49-F238E27FC236}">
                <a16:creationId xmlns:a16="http://schemas.microsoft.com/office/drawing/2014/main" id="{A09F367A-22E1-43CF-A5A3-56EDF62BE8D0}"/>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48BDAE2B-74E7-477D-81DD-16F981790FD8}"/>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34876850; PMC8643213; PMC9530112</a:t>
            </a:r>
          </a:p>
        </p:txBody>
      </p:sp>
      <p:sp>
        <p:nvSpPr>
          <p:cNvPr id="7" name="">
            <a:extLst xmlns:a="http://schemas.openxmlformats.org/drawingml/2006/main">
              <a:ext uri="{FF2B5EF4-FFF2-40B4-BE49-F238E27FC236}">
                <a16:creationId xmlns:a16="http://schemas.microsoft.com/office/drawing/2014/main" id="{099AFB66-203D-40CC-8707-7105BDFD55DE}"/>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4/25</a:t>
            </a:r>
          </a:p>
        </p:txBody>
      </p:sp>
      <p:sp>
        <p:nvSpPr>
          <p:cNvPr id="8" name="">
            <a:extLst xmlns:a="http://schemas.openxmlformats.org/drawingml/2006/main">
              <a:ext uri="{FF2B5EF4-FFF2-40B4-BE49-F238E27FC236}">
                <a16:creationId xmlns:a16="http://schemas.microsoft.com/office/drawing/2014/main" id="{5B16BBB0-E761-427C-8B44-38C65224B13B}"/>
              </a:ext>
            </a:extLst>
          </p:cNvPr>
          <p:cNvSpPr>
            <a:spLocks xmlns:a="http://schemas.openxmlformats.org/drawingml/2006/main" noGrp="1"/>
          </p:cNvSpPr>
          <p:nvPr/>
        </p:nvSpPr>
        <p:spPr>
          <a:xfrm xmlns:a="http://schemas.openxmlformats.org/drawingml/2006/main">
            <a:off x="666750" y="1714500"/>
            <a:ext cx="2057400" cy="1066800"/>
          </a:xfrm>
          <a:prstGeom xmlns:a="http://schemas.openxmlformats.org/drawingml/2006/main" prst="roundRect">
            <a:avLst>
              <a:gd name="adj" fmla="val 7143"/>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2E8D2D8F-11BD-46A0-A4E1-587B56D0F1D1}"/>
              </a:ext>
            </a:extLst>
          </p:cNvPr>
          <p:cNvSpPr>
            <a:spLocks xmlns:a="http://schemas.openxmlformats.org/drawingml/2006/main" noGrp="1"/>
          </p:cNvSpPr>
          <p:nvPr/>
        </p:nvSpPr>
        <p:spPr>
          <a:xfrm xmlns:a="http://schemas.openxmlformats.org/drawingml/2006/main">
            <a:off x="800100" y="1828800"/>
            <a:ext cx="17907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Chemical name</a:t>
            </a:r>
          </a:p>
        </p:txBody>
      </p:sp>
      <p:sp>
        <p:nvSpPr>
          <p:cNvPr id="10" name="">
            <a:extLst xmlns:a="http://schemas.openxmlformats.org/drawingml/2006/main">
              <a:ext uri="{FF2B5EF4-FFF2-40B4-BE49-F238E27FC236}">
                <a16:creationId xmlns:a16="http://schemas.microsoft.com/office/drawing/2014/main" id="{243D2FB4-83FF-4AF0-9372-22E9F875BBB8}"/>
              </a:ext>
            </a:extLst>
          </p:cNvPr>
          <p:cNvSpPr>
            <a:spLocks xmlns:a="http://schemas.openxmlformats.org/drawingml/2006/main" noGrp="1"/>
          </p:cNvSpPr>
          <p:nvPr/>
        </p:nvSpPr>
        <p:spPr>
          <a:xfrm xmlns:a="http://schemas.openxmlformats.org/drawingml/2006/main">
            <a:off x="800100" y="2114550"/>
            <a:ext cx="1790700" cy="5715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ctr"/>
          <a:lstStyle xmlns:a="http://schemas.openxmlformats.org/drawingml/2006/main"/>
          <a:p xmlns:a="http://schemas.openxmlformats.org/drawingml/2006/main">
            <a:pPr algn="ctr">
              <a:defRPr sz="780" b="0">
                <a:solidFill>
                  <a:srgbClr val="24313A"/>
                </a:solidFill>
                <a:latin typeface="Aptos"/>
                <a:ea typeface="Aptos"/>
                <a:cs typeface="Aptos"/>
              </a:defRPr>
            </a:pPr>
            <a:r>
              <a:rPr sz="780" b="0">
                <a:solidFill>
                  <a:srgbClr val="24313A"/>
                </a:solidFill>
                <a:latin typeface="Aptos"/>
                <a:ea typeface="Aptos"/>
                <a:cs typeface="Aptos"/>
              </a:rPr>
              <a:t>2-[(2,6-dichlorophenyl)amino]phenylacetooxyacetic acid</a:t>
            </a:r>
          </a:p>
        </p:txBody>
      </p:sp>
      <p:sp>
        <p:nvSpPr>
          <p:cNvPr id="11" name="">
            <a:extLst xmlns:a="http://schemas.openxmlformats.org/drawingml/2006/main">
              <a:ext uri="{FF2B5EF4-FFF2-40B4-BE49-F238E27FC236}">
                <a16:creationId xmlns:a16="http://schemas.microsoft.com/office/drawing/2014/main" id="{47969957-2CEB-422A-8AFB-F8E961B5A9F1}"/>
              </a:ext>
            </a:extLst>
          </p:cNvPr>
          <p:cNvSpPr>
            <a:spLocks xmlns:a="http://schemas.openxmlformats.org/drawingml/2006/main" noGrp="1"/>
          </p:cNvSpPr>
          <p:nvPr/>
        </p:nvSpPr>
        <p:spPr>
          <a:xfrm xmlns:a="http://schemas.openxmlformats.org/drawingml/2006/main">
            <a:off x="2952750" y="1714500"/>
            <a:ext cx="1638300" cy="1066800"/>
          </a:xfrm>
          <a:prstGeom xmlns:a="http://schemas.openxmlformats.org/drawingml/2006/main" prst="roundRect">
            <a:avLst>
              <a:gd name="adj" fmla="val 7143"/>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F8917F3B-D8E8-4742-A6A1-347BE4416581}"/>
              </a:ext>
            </a:extLst>
          </p:cNvPr>
          <p:cNvSpPr>
            <a:spLocks xmlns:a="http://schemas.openxmlformats.org/drawingml/2006/main" noGrp="1"/>
          </p:cNvSpPr>
          <p:nvPr/>
        </p:nvSpPr>
        <p:spPr>
          <a:xfrm xmlns:a="http://schemas.openxmlformats.org/drawingml/2006/main">
            <a:off x="3086100" y="1828800"/>
            <a:ext cx="13716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Formula</a:t>
            </a:r>
          </a:p>
        </p:txBody>
      </p:sp>
      <p:sp>
        <p:nvSpPr>
          <p:cNvPr id="13" name="">
            <a:extLst xmlns:a="http://schemas.openxmlformats.org/drawingml/2006/main">
              <a:ext uri="{FF2B5EF4-FFF2-40B4-BE49-F238E27FC236}">
                <a16:creationId xmlns:a16="http://schemas.microsoft.com/office/drawing/2014/main" id="{FEB06240-41F5-41A0-A9C3-BD3C33902B0D}"/>
              </a:ext>
            </a:extLst>
          </p:cNvPr>
          <p:cNvSpPr>
            <a:spLocks xmlns:a="http://schemas.openxmlformats.org/drawingml/2006/main" noGrp="1"/>
          </p:cNvSpPr>
          <p:nvPr/>
        </p:nvSpPr>
        <p:spPr>
          <a:xfrm xmlns:a="http://schemas.openxmlformats.org/drawingml/2006/main">
            <a:off x="3086100" y="2114550"/>
            <a:ext cx="1371600" cy="5715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ctr"/>
          <a:lstStyle xmlns:a="http://schemas.openxmlformats.org/drawingml/2006/main"/>
          <a:p xmlns:a="http://schemas.openxmlformats.org/drawingml/2006/main">
            <a:pPr algn="ctr">
              <a:defRPr sz="780" b="0">
                <a:solidFill>
                  <a:srgbClr val="24313A"/>
                </a:solidFill>
                <a:latin typeface="Aptos"/>
                <a:ea typeface="Aptos"/>
                <a:cs typeface="Aptos"/>
              </a:defRPr>
            </a:pPr>
            <a:r>
              <a:rPr sz="780" b="0">
                <a:solidFill>
                  <a:srgbClr val="24313A"/>
                </a:solidFill>
                <a:latin typeface="Aptos"/>
                <a:ea typeface="Aptos"/>
                <a:cs typeface="Aptos"/>
              </a:rPr>
              <a:t>C16H13Cl2NO4</a:t>
            </a:r>
          </a:p>
        </p:txBody>
      </p:sp>
      <p:sp>
        <p:nvSpPr>
          <p:cNvPr id="14" name="">
            <a:extLst xmlns:a="http://schemas.openxmlformats.org/drawingml/2006/main">
              <a:ext uri="{FF2B5EF4-FFF2-40B4-BE49-F238E27FC236}">
                <a16:creationId xmlns:a16="http://schemas.microsoft.com/office/drawing/2014/main" id="{DA3536C3-E8F9-4F27-A338-15BA716A772B}"/>
              </a:ext>
            </a:extLst>
          </p:cNvPr>
          <p:cNvSpPr>
            <a:spLocks xmlns:a="http://schemas.openxmlformats.org/drawingml/2006/main" noGrp="1"/>
          </p:cNvSpPr>
          <p:nvPr/>
        </p:nvSpPr>
        <p:spPr>
          <a:xfrm xmlns:a="http://schemas.openxmlformats.org/drawingml/2006/main">
            <a:off x="4819650" y="1714500"/>
            <a:ext cx="1562100" cy="1066800"/>
          </a:xfrm>
          <a:prstGeom xmlns:a="http://schemas.openxmlformats.org/drawingml/2006/main" prst="roundRect">
            <a:avLst>
              <a:gd name="adj" fmla="val 7143"/>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34FCB4EF-B16B-487F-B75F-4A6DD2F2B0C4}"/>
              </a:ext>
            </a:extLst>
          </p:cNvPr>
          <p:cNvSpPr>
            <a:spLocks xmlns:a="http://schemas.openxmlformats.org/drawingml/2006/main" noGrp="1"/>
          </p:cNvSpPr>
          <p:nvPr/>
        </p:nvSpPr>
        <p:spPr>
          <a:xfrm xmlns:a="http://schemas.openxmlformats.org/drawingml/2006/main">
            <a:off x="4953000" y="1828800"/>
            <a:ext cx="12954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Molecular weight</a:t>
            </a:r>
          </a:p>
        </p:txBody>
      </p:sp>
      <p:sp>
        <p:nvSpPr>
          <p:cNvPr id="16" name="">
            <a:extLst xmlns:a="http://schemas.openxmlformats.org/drawingml/2006/main">
              <a:ext uri="{FF2B5EF4-FFF2-40B4-BE49-F238E27FC236}">
                <a16:creationId xmlns:a16="http://schemas.microsoft.com/office/drawing/2014/main" id="{D17C793E-7BC8-408E-8CDC-E4F9A3C4283A}"/>
              </a:ext>
            </a:extLst>
          </p:cNvPr>
          <p:cNvSpPr>
            <a:spLocks xmlns:a="http://schemas.openxmlformats.org/drawingml/2006/main" noGrp="1"/>
          </p:cNvSpPr>
          <p:nvPr/>
        </p:nvSpPr>
        <p:spPr>
          <a:xfrm xmlns:a="http://schemas.openxmlformats.org/drawingml/2006/main">
            <a:off x="4953000" y="2114550"/>
            <a:ext cx="1295400" cy="5715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ctr"/>
          <a:lstStyle xmlns:a="http://schemas.openxmlformats.org/drawingml/2006/main"/>
          <a:p xmlns:a="http://schemas.openxmlformats.org/drawingml/2006/main">
            <a:pPr algn="ctr">
              <a:defRPr sz="780" b="0">
                <a:solidFill>
                  <a:srgbClr val="24313A"/>
                </a:solidFill>
                <a:latin typeface="Aptos"/>
                <a:ea typeface="Aptos"/>
                <a:cs typeface="Aptos"/>
              </a:defRPr>
            </a:pPr>
            <a:r>
              <a:rPr sz="780" b="0">
                <a:solidFill>
                  <a:srgbClr val="24313A"/>
                </a:solidFill>
                <a:latin typeface="Aptos"/>
                <a:ea typeface="Aptos"/>
                <a:cs typeface="Aptos"/>
              </a:rPr>
              <a:t>354.2</a:t>
            </a:r>
          </a:p>
        </p:txBody>
      </p:sp>
      <p:sp>
        <p:nvSpPr>
          <p:cNvPr id="17" name="">
            <a:extLst xmlns:a="http://schemas.openxmlformats.org/drawingml/2006/main">
              <a:ext uri="{FF2B5EF4-FFF2-40B4-BE49-F238E27FC236}">
                <a16:creationId xmlns:a16="http://schemas.microsoft.com/office/drawing/2014/main" id="{998B4507-2897-4D94-BEBF-605DA81028B7}"/>
              </a:ext>
            </a:extLst>
          </p:cNvPr>
          <p:cNvSpPr>
            <a:spLocks xmlns:a="http://schemas.openxmlformats.org/drawingml/2006/main" noGrp="1"/>
          </p:cNvSpPr>
          <p:nvPr/>
        </p:nvSpPr>
        <p:spPr>
          <a:xfrm xmlns:a="http://schemas.openxmlformats.org/drawingml/2006/main">
            <a:off x="6610350" y="1714500"/>
            <a:ext cx="1943100" cy="1066800"/>
          </a:xfrm>
          <a:prstGeom xmlns:a="http://schemas.openxmlformats.org/drawingml/2006/main" prst="roundRect">
            <a:avLst>
              <a:gd name="adj" fmla="val 7143"/>
            </a:avLst>
          </a:prstGeom>
          <a:solidFill xmlns:a="http://schemas.openxmlformats.org/drawingml/2006/main">
            <a:srgbClr val="E6F4EA"/>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B0B3B5AC-016F-461C-8148-BF25DB6EE191}"/>
              </a:ext>
            </a:extLst>
          </p:cNvPr>
          <p:cNvSpPr>
            <a:spLocks xmlns:a="http://schemas.openxmlformats.org/drawingml/2006/main" noGrp="1"/>
          </p:cNvSpPr>
          <p:nvPr/>
        </p:nvSpPr>
        <p:spPr>
          <a:xfrm xmlns:a="http://schemas.openxmlformats.org/drawingml/2006/main">
            <a:off x="6743700" y="1828800"/>
            <a:ext cx="16764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Appearance / solubility</a:t>
            </a:r>
          </a:p>
        </p:txBody>
      </p:sp>
      <p:sp>
        <p:nvSpPr>
          <p:cNvPr id="19" name="">
            <a:extLst xmlns:a="http://schemas.openxmlformats.org/drawingml/2006/main">
              <a:ext uri="{FF2B5EF4-FFF2-40B4-BE49-F238E27FC236}">
                <a16:creationId xmlns:a16="http://schemas.microsoft.com/office/drawing/2014/main" id="{90414CF2-CF3E-48E7-AE4F-C013FF99B009}"/>
              </a:ext>
            </a:extLst>
          </p:cNvPr>
          <p:cNvSpPr>
            <a:spLocks xmlns:a="http://schemas.openxmlformats.org/drawingml/2006/main" noGrp="1"/>
          </p:cNvSpPr>
          <p:nvPr/>
        </p:nvSpPr>
        <p:spPr>
          <a:xfrm xmlns:a="http://schemas.openxmlformats.org/drawingml/2006/main">
            <a:off x="6743700" y="2114550"/>
            <a:ext cx="1676400" cy="5715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ctr"/>
          <a:lstStyle xmlns:a="http://schemas.openxmlformats.org/drawingml/2006/main"/>
          <a:p xmlns:a="http://schemas.openxmlformats.org/drawingml/2006/main">
            <a:pPr algn="ctr">
              <a:defRPr sz="780" b="0">
                <a:solidFill>
                  <a:srgbClr val="24313A"/>
                </a:solidFill>
                <a:latin typeface="Aptos"/>
                <a:ea typeface="Aptos"/>
                <a:cs typeface="Aptos"/>
              </a:defRPr>
            </a:pPr>
            <a:r>
              <a:rPr sz="780" b="0">
                <a:solidFill>
                  <a:srgbClr val="24313A"/>
                </a:solidFill>
                <a:latin typeface="Aptos"/>
                <a:ea typeface="Aptos"/>
                <a:cs typeface="Aptos"/>
              </a:rPr>
              <a:t>White crystalline powder; freely soluble in acetone, soluble in ethanol, practically insoluble in water</a:t>
            </a:r>
          </a:p>
        </p:txBody>
      </p:sp>
      <p:sp>
        <p:nvSpPr>
          <p:cNvPr id="20" name="">
            <a:extLst xmlns:a="http://schemas.openxmlformats.org/drawingml/2006/main">
              <a:ext uri="{FF2B5EF4-FFF2-40B4-BE49-F238E27FC236}">
                <a16:creationId xmlns:a16="http://schemas.microsoft.com/office/drawing/2014/main" id="{E54B24F6-66CD-4BCC-8F7C-0C240F342CC2}"/>
              </a:ext>
            </a:extLst>
          </p:cNvPr>
          <p:cNvSpPr>
            <a:spLocks xmlns:a="http://schemas.openxmlformats.org/drawingml/2006/main" noGrp="1"/>
          </p:cNvSpPr>
          <p:nvPr/>
        </p:nvSpPr>
        <p:spPr>
          <a:xfrm xmlns:a="http://schemas.openxmlformats.org/drawingml/2006/main">
            <a:off x="8782050" y="1714500"/>
            <a:ext cx="1790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2E8"/>
            </a:solidFill>
            <a:prstDash val="solid"/>
          </a:ln>
        </p:spPr>
      </p:sp>
      <p:sp>
        <p:nvSpPr>
          <p:cNvPr id="21" name="">
            <a:extLst xmlns:a="http://schemas.openxmlformats.org/drawingml/2006/main">
              <a:ext uri="{FF2B5EF4-FFF2-40B4-BE49-F238E27FC236}">
                <a16:creationId xmlns:a16="http://schemas.microsoft.com/office/drawing/2014/main" id="{BC4D0722-C30B-4568-B9AF-0099B914DA9F}"/>
              </a:ext>
            </a:extLst>
          </p:cNvPr>
          <p:cNvSpPr>
            <a:spLocks xmlns:a="http://schemas.openxmlformats.org/drawingml/2006/main" noGrp="1"/>
          </p:cNvSpPr>
          <p:nvPr/>
        </p:nvSpPr>
        <p:spPr>
          <a:xfrm xmlns:a="http://schemas.openxmlformats.org/drawingml/2006/main">
            <a:off x="8915400" y="1828800"/>
            <a:ext cx="15240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Class</a:t>
            </a:r>
          </a:p>
        </p:txBody>
      </p:sp>
      <p:sp>
        <p:nvSpPr>
          <p:cNvPr id="22" name="">
            <a:extLst xmlns:a="http://schemas.openxmlformats.org/drawingml/2006/main">
              <a:ext uri="{FF2B5EF4-FFF2-40B4-BE49-F238E27FC236}">
                <a16:creationId xmlns:a16="http://schemas.microsoft.com/office/drawing/2014/main" id="{077BF59F-ACFD-48E0-9C94-B30988A5D1AD}"/>
              </a:ext>
            </a:extLst>
          </p:cNvPr>
          <p:cNvSpPr>
            <a:spLocks xmlns:a="http://schemas.openxmlformats.org/drawingml/2006/main" noGrp="1"/>
          </p:cNvSpPr>
          <p:nvPr/>
        </p:nvSpPr>
        <p:spPr>
          <a:xfrm xmlns:a="http://schemas.openxmlformats.org/drawingml/2006/main">
            <a:off x="8915400" y="2114550"/>
            <a:ext cx="15240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780" b="0">
                <a:solidFill>
                  <a:srgbClr val="24313A"/>
                </a:solidFill>
                <a:latin typeface="Aptos"/>
                <a:ea typeface="Aptos"/>
                <a:cs typeface="Aptos"/>
              </a:defRPr>
            </a:pPr>
            <a:r>
              <a:rPr sz="780" b="0">
                <a:solidFill>
                  <a:srgbClr val="24313A"/>
                </a:solidFill>
                <a:latin typeface="Aptos"/>
                <a:ea typeface="Aptos"/>
                <a:cs typeface="Aptos"/>
              </a:rPr>
              <a:t>Oral phenylacetic acid NSAID</a:t>
            </a:r>
          </a:p>
        </p:txBody>
      </p:sp>
      <p:sp>
        <p:nvSpPr>
          <p:cNvPr id="23" name="">
            <a:extLst xmlns:a="http://schemas.openxmlformats.org/drawingml/2006/main">
              <a:ext uri="{FF2B5EF4-FFF2-40B4-BE49-F238E27FC236}">
                <a16:creationId xmlns:a16="http://schemas.microsoft.com/office/drawing/2014/main" id="{3E10B9DE-507F-466C-87B2-CD7E4BF68BB9}"/>
              </a:ext>
            </a:extLst>
          </p:cNvPr>
          <p:cNvSpPr>
            <a:spLocks xmlns:a="http://schemas.openxmlformats.org/drawingml/2006/main" noGrp="1"/>
          </p:cNvSpPr>
          <p:nvPr/>
        </p:nvSpPr>
        <p:spPr>
          <a:xfrm xmlns:a="http://schemas.openxmlformats.org/drawingml/2006/main">
            <a:off x="876300" y="3238500"/>
            <a:ext cx="10439400" cy="169545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9525">
            <a:solidFill>
              <a:srgbClr val="D9E2E8"/>
            </a:solidFill>
            <a:prstDash val="solid"/>
          </a:ln>
        </p:spPr>
      </p:sp>
      <p:sp>
        <p:nvSpPr>
          <p:cNvPr id="24" name="">
            <a:extLst xmlns:a="http://schemas.openxmlformats.org/drawingml/2006/main">
              <a:ext uri="{FF2B5EF4-FFF2-40B4-BE49-F238E27FC236}">
                <a16:creationId xmlns:a16="http://schemas.microsoft.com/office/drawing/2014/main" id="{773D2B6C-A2B7-4AEF-A96F-B67FCBA2F011}"/>
              </a:ext>
            </a:extLst>
          </p:cNvPr>
          <p:cNvSpPr>
            <a:spLocks xmlns:a="http://schemas.openxmlformats.org/drawingml/2006/main" noGrp="1"/>
          </p:cNvSpPr>
          <p:nvPr/>
        </p:nvSpPr>
        <p:spPr>
          <a:xfrm xmlns:a="http://schemas.openxmlformats.org/drawingml/2006/main">
            <a:off x="1009650" y="3352800"/>
            <a:ext cx="101727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Why this matters clinically</a:t>
            </a:r>
          </a:p>
        </p:txBody>
      </p:sp>
      <p:sp>
        <p:nvSpPr>
          <p:cNvPr id="25" name="">
            <a:extLst xmlns:a="http://schemas.openxmlformats.org/drawingml/2006/main">
              <a:ext uri="{FF2B5EF4-FFF2-40B4-BE49-F238E27FC236}">
                <a16:creationId xmlns:a16="http://schemas.microsoft.com/office/drawing/2014/main" id="{EB855048-95F8-4B46-B24A-B8D8E7CE3B99}"/>
              </a:ext>
            </a:extLst>
          </p:cNvPr>
          <p:cNvSpPr>
            <a:spLocks xmlns:a="http://schemas.openxmlformats.org/drawingml/2006/main" noGrp="1"/>
          </p:cNvSpPr>
          <p:nvPr/>
        </p:nvSpPr>
        <p:spPr>
          <a:xfrm xmlns:a="http://schemas.openxmlformats.org/drawingml/2006/main">
            <a:off x="1009650" y="3638550"/>
            <a:ext cx="1017270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13" b="0">
                <a:solidFill>
                  <a:srgbClr val="24313A"/>
                </a:solidFill>
                <a:latin typeface="Aptos"/>
                <a:ea typeface="Aptos"/>
                <a:cs typeface="Aptos"/>
              </a:defRPr>
            </a:pPr>
            <a:r>
              <a:rPr sz="1013" b="0">
                <a:solidFill>
                  <a:srgbClr val="24313A"/>
                </a:solidFill>
                <a:latin typeface="Aptos"/>
                <a:ea typeface="Aptos"/>
                <a:cs typeface="Aptos"/>
              </a:rPr>
              <a:t>Aceclofenac is not just an NSAID label. Its chemical identity, oral absorption profile, synovial penetration, and high protein binding are part of why the clinical story feels practical rather than abstract.</a:t>
            </a:r>
          </a:p>
        </p:txBody>
      </p:sp>
    </p:spTree>
    <p:extLst>
      <p:ext uri="{BB962C8B-B14F-4D97-AF65-F5344CB8AC3E}">
        <p14:creationId xmlns:p14="http://schemas.microsoft.com/office/powerpoint/2010/main" val="2115999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C8EA9C-A547-457A-80C5-04C05693AC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67701624-F557-4DD3-B430-454FDBCD4A5B}"/>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57172F7E-B67C-49F2-8063-CED60CCD8CC4}"/>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Mechanism of action and translational relevance</a:t>
            </a:r>
          </a:p>
        </p:txBody>
      </p:sp>
      <p:sp>
        <p:nvSpPr>
          <p:cNvPr id="4" name="">
            <a:extLst xmlns:a="http://schemas.openxmlformats.org/drawingml/2006/main">
              <a:ext uri="{FF2B5EF4-FFF2-40B4-BE49-F238E27FC236}">
                <a16:creationId xmlns:a16="http://schemas.microsoft.com/office/drawing/2014/main" id="{1795900C-304B-48E0-8835-AD21B66B6F7F}"/>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 MOA slide should connect prostaglandin biology to symptom relief without overselling disease modification.</a:t>
            </a:r>
          </a:p>
        </p:txBody>
      </p:sp>
      <p:sp>
        <p:nvSpPr>
          <p:cNvPr id="5" name="">
            <a:extLst xmlns:a="http://schemas.openxmlformats.org/drawingml/2006/main">
              <a:ext uri="{FF2B5EF4-FFF2-40B4-BE49-F238E27FC236}">
                <a16:creationId xmlns:a16="http://schemas.microsoft.com/office/drawing/2014/main" id="{4EFC85E1-F220-4789-AB75-42DF551B6F11}"/>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6B24F20D-2E3E-42E4-A6BF-B0BBC34984E5}"/>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34876850; PMC8643213; PMC3953523</a:t>
            </a:r>
          </a:p>
        </p:txBody>
      </p:sp>
      <p:sp>
        <p:nvSpPr>
          <p:cNvPr id="7" name="">
            <a:extLst xmlns:a="http://schemas.openxmlformats.org/drawingml/2006/main">
              <a:ext uri="{FF2B5EF4-FFF2-40B4-BE49-F238E27FC236}">
                <a16:creationId xmlns:a16="http://schemas.microsoft.com/office/drawing/2014/main" id="{2DEF6CEC-AFE0-43B5-A535-C3593D5F4E95}"/>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5/25</a:t>
            </a:r>
          </a:p>
        </p:txBody>
      </p:sp>
      <p:graphicFrame>
        <p:nvGraphicFramePr>
          <p:cNvPr id="8" name=""/>
          <p:cNvGraphicFramePr/>
          <p:nvPr/>
        </p:nvGraphicFramePr>
        <p:xfrm>
          <a:off xmlns:a="http://schemas.openxmlformats.org/drawingml/2006/main" x="609600" y="1485900"/>
          <a:ext xmlns:a="http://schemas.openxmlformats.org/drawingml/2006/main" cx="6381750" cy="2571750"/>
        </p:xfrm>
        <a:graphic xmlns:a="http://schemas.openxmlformats.org/drawingml/2006/main">
          <a:graphicData uri="http://schemas.openxmlformats.org/drawingml/2006/table">
            <a:tbl>
              <a:tblPr/>
              <a:tblGrid>
                <a:gridCol w="2042160"/>
                <a:gridCol w="4339590"/>
              </a:tblGrid>
              <a:tr h="428625">
                <a:tc>
                  <a:txBody>
                    <a:bodyPr/>
                    <a:lstStyle/>
                    <a:p>
                      <a:r>
                        <a:rPr sz="765" b="1">
                          <a:solidFill>
                            <a:srgbClr val="FFFFFF"/>
                          </a:solidFill>
                          <a:latin typeface="Aptos"/>
                          <a:ea typeface="Aptos"/>
                          <a:cs typeface="Aptos"/>
                        </a:rPr>
                        <a:t>Field</a:t>
                      </a:r>
                    </a:p>
                  </a:txBody>
                  <a:tcPr marL="91440" marR="91440" marT="45720" marB="45720">
                    <a:lnB w="9525">
                      <a:solidFill>
                        <a:srgbClr val="FFFFFF"/>
                      </a:solidFill>
                    </a:lnB>
                    <a:solidFill>
                      <a:srgbClr val="16324F"/>
                    </a:solidFill>
                  </a:tcPr>
                </a:tc>
                <a:tc>
                  <a:txBody>
                    <a:bodyPr/>
                    <a:lstStyle/>
                    <a:p>
                      <a:r>
                        <a:rPr sz="765" b="1">
                          <a:solidFill>
                            <a:srgbClr val="FFFFFF"/>
                          </a:solidFill>
                          <a:latin typeface="Aptos"/>
                          <a:ea typeface="Aptos"/>
                          <a:cs typeface="Aptos"/>
                        </a:rPr>
                        <a:t>Summary</a:t>
                      </a:r>
                    </a:p>
                  </a:txBody>
                  <a:tcPr marL="91440" marR="91440" marT="45720" marB="45720">
                    <a:lnB w="9525">
                      <a:solidFill>
                        <a:srgbClr val="FFFFFF"/>
                      </a:solidFill>
                    </a:lnB>
                    <a:solidFill>
                      <a:srgbClr val="16324F"/>
                    </a:solidFill>
                  </a:tcPr>
                </a:tc>
              </a:tr>
              <a:tr h="428625">
                <a:tc>
                  <a:txBody>
                    <a:bodyPr/>
                    <a:lstStyle/>
                    <a:p>
                      <a:r>
                        <a:t>Class</a:t>
                      </a:r>
                    </a:p>
                  </a:txBody>
                  <a:tcPr marL="91440" marR="91440" marT="45720" marB="45720"/>
                </a:tc>
                <a:tc>
                  <a:txBody>
                    <a:bodyPr/>
                    <a:lstStyle/>
                    <a:p>
                      <a:r>
                        <a:t>Oral NSAID (aceclofenac)</a:t>
                      </a:r>
                    </a:p>
                  </a:txBody>
                  <a:tcPr marL="91440" marR="91440" marT="45720" marB="45720"/>
                </a:tc>
              </a:tr>
              <a:tr h="428625">
                <a:tc>
                  <a:txBody>
                    <a:bodyPr/>
                    <a:lstStyle/>
                    <a:p>
                      <a:r>
                        <a:t>Primary action</a:t>
                      </a:r>
                    </a:p>
                  </a:txBody>
                  <a:tcPr marL="91440" marR="91440" marT="45720" marB="45720"/>
                </a:tc>
                <a:tc>
                  <a:txBody>
                    <a:bodyPr/>
                    <a:lstStyle/>
                    <a:p>
                      <a:r>
                        <a:t>Potent inhibition of cyclo-oxygenase and downstream prostaglandin synthesis</a:t>
                      </a:r>
                    </a:p>
                  </a:txBody>
                  <a:tcPr marL="91440" marR="91440" marT="45720" marB="45720"/>
                </a:tc>
              </a:tr>
              <a:tr h="428625">
                <a:tc>
                  <a:txBody>
                    <a:bodyPr/>
                    <a:lstStyle/>
                    <a:p>
                      <a:r>
                        <a:t>Clinical effect</a:t>
                      </a:r>
                    </a:p>
                  </a:txBody>
                  <a:tcPr marL="91440" marR="91440" marT="45720" marB="45720"/>
                </a:tc>
                <a:tc>
                  <a:txBody>
                    <a:bodyPr/>
                    <a:lstStyle/>
                    <a:p>
                      <a:r>
                        <a:t>Reduction of pain, swelling, and morning stiffness in approved inflammatory states</a:t>
                      </a:r>
                    </a:p>
                  </a:txBody>
                  <a:tcPr marL="91440" marR="91440" marT="45720" marB="45720"/>
                </a:tc>
              </a:tr>
              <a:tr h="428625">
                <a:tc>
                  <a:txBody>
                    <a:bodyPr/>
                    <a:lstStyle/>
                    <a:p>
                      <a:r>
                        <a:t>Compartment relevance</a:t>
                      </a:r>
                    </a:p>
                  </a:txBody>
                  <a:tcPr marL="91440" marR="91440" marT="45720" marB="45720"/>
                </a:tc>
                <a:tc>
                  <a:txBody>
                    <a:bodyPr/>
                    <a:lstStyle/>
                    <a:p>
                      <a:r>
                        <a:t>Penetrates synovial fluid at roughly 57% of plasma concentration</a:t>
                      </a:r>
                    </a:p>
                  </a:txBody>
                  <a:tcPr marL="91440" marR="91440" marT="45720" marB="45720"/>
                </a:tc>
              </a:tr>
              <a:tr h="428625">
                <a:tc>
                  <a:txBody>
                    <a:bodyPr/>
                    <a:lstStyle/>
                    <a:p>
                      <a:r>
                        <a:t>Key caution</a:t>
                      </a:r>
                    </a:p>
                  </a:txBody>
                  <a:tcPr marL="91440" marR="91440" marT="45720" marB="45720"/>
                </a:tc>
                <a:tc>
                  <a:txBody>
                    <a:bodyPr/>
                    <a:lstStyle/>
                    <a:p>
                      <a:r>
                        <a:t>Class risks remain: GI, renal, cardiovascular, and hepatic warnings</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5730B857-91CB-46BB-A326-4A9D0F68F807}"/>
              </a:ext>
            </a:extLst>
          </p:cNvPr>
          <p:cNvSpPr>
            <a:spLocks xmlns:a="http://schemas.openxmlformats.org/drawingml/2006/main" noGrp="1"/>
          </p:cNvSpPr>
          <p:nvPr/>
        </p:nvSpPr>
        <p:spPr>
          <a:xfrm xmlns:a="http://schemas.openxmlformats.org/drawingml/2006/main">
            <a:off x="7429500" y="1466850"/>
            <a:ext cx="3962400" cy="1181100"/>
          </a:xfrm>
          <a:prstGeom xmlns:a="http://schemas.openxmlformats.org/drawingml/2006/main" prst="roundRect">
            <a:avLst>
              <a:gd name="adj" fmla="val 6452"/>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CBF35CE0-BB63-470D-99F1-B71409BC8912}"/>
              </a:ext>
            </a:extLst>
          </p:cNvPr>
          <p:cNvSpPr>
            <a:spLocks xmlns:a="http://schemas.openxmlformats.org/drawingml/2006/main" noGrp="1"/>
          </p:cNvSpPr>
          <p:nvPr/>
        </p:nvSpPr>
        <p:spPr>
          <a:xfrm xmlns:a="http://schemas.openxmlformats.org/drawingml/2006/main">
            <a:off x="7562850" y="1581150"/>
            <a:ext cx="36957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How to present it</a:t>
            </a:r>
          </a:p>
        </p:txBody>
      </p:sp>
      <p:sp>
        <p:nvSpPr>
          <p:cNvPr id="11" name="">
            <a:extLst xmlns:a="http://schemas.openxmlformats.org/drawingml/2006/main">
              <a:ext uri="{FF2B5EF4-FFF2-40B4-BE49-F238E27FC236}">
                <a16:creationId xmlns:a16="http://schemas.microsoft.com/office/drawing/2014/main" id="{567FEE34-2E6D-4FB6-9F6E-6DDAFA2576A0}"/>
              </a:ext>
            </a:extLst>
          </p:cNvPr>
          <p:cNvSpPr>
            <a:spLocks xmlns:a="http://schemas.openxmlformats.org/drawingml/2006/main" noGrp="1"/>
          </p:cNvSpPr>
          <p:nvPr/>
        </p:nvSpPr>
        <p:spPr>
          <a:xfrm xmlns:a="http://schemas.openxmlformats.org/drawingml/2006/main">
            <a:off x="7562850" y="1866900"/>
            <a:ext cx="3695700" cy="6858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85" b="0">
                <a:solidFill>
                  <a:srgbClr val="24313A"/>
                </a:solidFill>
                <a:latin typeface="Aptos"/>
                <a:ea typeface="Aptos"/>
                <a:cs typeface="Aptos"/>
              </a:defRPr>
            </a:pPr>
            <a:r>
              <a:rPr sz="885" b="0">
                <a:solidFill>
                  <a:srgbClr val="24313A"/>
                </a:solidFill>
                <a:latin typeface="Aptos"/>
                <a:ea typeface="Aptos"/>
                <a:cs typeface="Aptos"/>
              </a:rPr>
              <a:t>Say what it does at the tissue level, then say what that means for the patient: less pain and stiffness, not disease modification.</a:t>
            </a:r>
          </a:p>
        </p:txBody>
      </p:sp>
      <p:sp>
        <p:nvSpPr>
          <p:cNvPr id="12" name="">
            <a:extLst xmlns:a="http://schemas.openxmlformats.org/drawingml/2006/main">
              <a:ext uri="{FF2B5EF4-FFF2-40B4-BE49-F238E27FC236}">
                <a16:creationId xmlns:a16="http://schemas.microsoft.com/office/drawing/2014/main" id="{4693078B-C7BF-4E10-AEA7-37E444FA76FA}"/>
              </a:ext>
            </a:extLst>
          </p:cNvPr>
          <p:cNvSpPr>
            <a:spLocks xmlns:a="http://schemas.openxmlformats.org/drawingml/2006/main" noGrp="1"/>
          </p:cNvSpPr>
          <p:nvPr/>
        </p:nvSpPr>
        <p:spPr>
          <a:xfrm xmlns:a="http://schemas.openxmlformats.org/drawingml/2006/main">
            <a:off x="7429500" y="2838450"/>
            <a:ext cx="3962400" cy="1181100"/>
          </a:xfrm>
          <a:prstGeom xmlns:a="http://schemas.openxmlformats.org/drawingml/2006/main" prst="roundRect">
            <a:avLst>
              <a:gd name="adj" fmla="val 6452"/>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A88E821B-CFF4-415A-B48C-BE8DF03FF4CC}"/>
              </a:ext>
            </a:extLst>
          </p:cNvPr>
          <p:cNvSpPr>
            <a:spLocks xmlns:a="http://schemas.openxmlformats.org/drawingml/2006/main" noGrp="1"/>
          </p:cNvSpPr>
          <p:nvPr/>
        </p:nvSpPr>
        <p:spPr>
          <a:xfrm xmlns:a="http://schemas.openxmlformats.org/drawingml/2006/main">
            <a:off x="7562850" y="2952750"/>
            <a:ext cx="36957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What not to do</a:t>
            </a:r>
          </a:p>
        </p:txBody>
      </p:sp>
      <p:sp>
        <p:nvSpPr>
          <p:cNvPr id="14" name="">
            <a:extLst xmlns:a="http://schemas.openxmlformats.org/drawingml/2006/main">
              <a:ext uri="{FF2B5EF4-FFF2-40B4-BE49-F238E27FC236}">
                <a16:creationId xmlns:a16="http://schemas.microsoft.com/office/drawing/2014/main" id="{779D2943-E72C-4788-9C1A-525E27030C71}"/>
              </a:ext>
            </a:extLst>
          </p:cNvPr>
          <p:cNvSpPr>
            <a:spLocks xmlns:a="http://schemas.openxmlformats.org/drawingml/2006/main" noGrp="1"/>
          </p:cNvSpPr>
          <p:nvPr/>
        </p:nvSpPr>
        <p:spPr>
          <a:xfrm xmlns:a="http://schemas.openxmlformats.org/drawingml/2006/main">
            <a:off x="7562850" y="3238500"/>
            <a:ext cx="3695700" cy="6858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85" b="0">
                <a:solidFill>
                  <a:srgbClr val="24313A"/>
                </a:solidFill>
                <a:latin typeface="Aptos"/>
                <a:ea typeface="Aptos"/>
                <a:cs typeface="Aptos"/>
              </a:defRPr>
            </a:pPr>
            <a:r>
              <a:rPr sz="885" b="0">
                <a:solidFill>
                  <a:srgbClr val="24313A"/>
                </a:solidFill>
                <a:latin typeface="Aptos"/>
                <a:ea typeface="Aptos"/>
                <a:cs typeface="Aptos"/>
              </a:rPr>
              <a:t>Do not imply that COX inhibition eliminates all inflammatory risk or makes the drug broadly safer than other NSAIDs.</a:t>
            </a:r>
          </a:p>
        </p:txBody>
      </p:sp>
      <p:sp>
        <p:nvSpPr>
          <p:cNvPr id="15" name="">
            <a:extLst xmlns:a="http://schemas.openxmlformats.org/drawingml/2006/main">
              <a:ext uri="{FF2B5EF4-FFF2-40B4-BE49-F238E27FC236}">
                <a16:creationId xmlns:a16="http://schemas.microsoft.com/office/drawing/2014/main" id="{A879FB74-58FF-4847-B726-77FC9125E1CB}"/>
              </a:ext>
            </a:extLst>
          </p:cNvPr>
          <p:cNvSpPr>
            <a:spLocks xmlns:a="http://schemas.openxmlformats.org/drawingml/2006/main" noGrp="1"/>
          </p:cNvSpPr>
          <p:nvPr/>
        </p:nvSpPr>
        <p:spPr>
          <a:xfrm xmlns:a="http://schemas.openxmlformats.org/drawingml/2006/main">
            <a:off x="609600" y="6343650"/>
            <a:ext cx="110490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Aceclofenac is a symptom-relief NSAID; the clinical decision still depends on the patient.</a:t>
            </a:r>
          </a:p>
        </p:txBody>
      </p:sp>
    </p:spTree>
    <p:extLst>
      <p:ext uri="{BB962C8B-B14F-4D97-AF65-F5344CB8AC3E}">
        <p14:creationId xmlns:p14="http://schemas.microsoft.com/office/powerpoint/2010/main" val="7432959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DD4FD9-1D2F-4C16-9094-72A879937C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CC64F2FD-7E45-45E9-BFF0-8A3060F9581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C3E8F791-D2F0-4FDA-8158-B6DAEB94DC36}"/>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Pharmacokinetics at a glance</a:t>
            </a:r>
          </a:p>
        </p:txBody>
      </p:sp>
      <p:sp>
        <p:nvSpPr>
          <p:cNvPr id="4" name="">
            <a:extLst xmlns:a="http://schemas.openxmlformats.org/drawingml/2006/main">
              <a:ext uri="{FF2B5EF4-FFF2-40B4-BE49-F238E27FC236}">
                <a16:creationId xmlns:a16="http://schemas.microsoft.com/office/drawing/2014/main" id="{2CA64FED-01E2-40A7-9131-D6BE617DF1D4}"/>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This is the most important bridge between chemistry and prescribing practicality.</a:t>
            </a:r>
          </a:p>
        </p:txBody>
      </p:sp>
      <p:sp>
        <p:nvSpPr>
          <p:cNvPr id="5" name="">
            <a:extLst xmlns:a="http://schemas.openxmlformats.org/drawingml/2006/main">
              <a:ext uri="{FF2B5EF4-FFF2-40B4-BE49-F238E27FC236}">
                <a16:creationId xmlns:a16="http://schemas.microsoft.com/office/drawing/2014/main" id="{797B3E4F-2462-478E-B556-27A9F1196F75}"/>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56735CEC-4438-4868-9B18-CF3EB9D1D8ED}"/>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34876850; PMC9530112; PMC8643213</a:t>
            </a:r>
          </a:p>
        </p:txBody>
      </p:sp>
      <p:sp>
        <p:nvSpPr>
          <p:cNvPr id="7" name="">
            <a:extLst xmlns:a="http://schemas.openxmlformats.org/drawingml/2006/main">
              <a:ext uri="{FF2B5EF4-FFF2-40B4-BE49-F238E27FC236}">
                <a16:creationId xmlns:a16="http://schemas.microsoft.com/office/drawing/2014/main" id="{3049FE9F-4E2E-4303-8C81-C00C6EDF19B5}"/>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6/25</a:t>
            </a:r>
          </a:p>
        </p:txBody>
      </p:sp>
      <p:graphicFrame>
        <p:nvGraphicFramePr>
          <p:cNvPr id="8" name=""/>
          <p:cNvGraphicFramePr/>
          <p:nvPr/>
        </p:nvGraphicFramePr>
        <p:xfrm>
          <a:off xmlns:a="http://schemas.openxmlformats.org/drawingml/2006/main" x="609600" y="1466850"/>
          <a:ext xmlns:a="http://schemas.openxmlformats.org/drawingml/2006/main" cx="6724650" cy="2781300"/>
        </p:xfrm>
        <a:graphic xmlns:a="http://schemas.openxmlformats.org/drawingml/2006/main">
          <a:graphicData uri="http://schemas.openxmlformats.org/drawingml/2006/table">
            <a:tbl>
              <a:tblPr/>
              <a:tblGrid>
                <a:gridCol w="1748409"/>
                <a:gridCol w="4976241"/>
              </a:tblGrid>
              <a:tr h="463550">
                <a:tc>
                  <a:txBody>
                    <a:bodyPr/>
                    <a:lstStyle/>
                    <a:p>
                      <a:r>
                        <a:rPr sz="750" b="1">
                          <a:solidFill>
                            <a:srgbClr val="FFFFFF"/>
                          </a:solidFill>
                          <a:latin typeface="Aptos"/>
                          <a:ea typeface="Aptos"/>
                          <a:cs typeface="Aptos"/>
                        </a:rPr>
                        <a:t>PK domain</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Practical clinical meaning</a:t>
                      </a:r>
                    </a:p>
                  </a:txBody>
                  <a:tcPr marL="91440" marR="91440" marT="45720" marB="45720">
                    <a:lnB w="9525">
                      <a:solidFill>
                        <a:srgbClr val="FFFFFF"/>
                      </a:solidFill>
                    </a:lnB>
                    <a:solidFill>
                      <a:srgbClr val="16324F"/>
                    </a:solidFill>
                  </a:tcPr>
                </a:tc>
              </a:tr>
              <a:tr h="463550">
                <a:tc>
                  <a:txBody>
                    <a:bodyPr/>
                    <a:lstStyle/>
                    <a:p>
                      <a:r>
                        <a:t>Absorption</a:t>
                      </a:r>
                    </a:p>
                  </a:txBody>
                  <a:tcPr marL="91440" marR="91440" marT="45720" marB="45720"/>
                </a:tc>
                <a:tc>
                  <a:txBody>
                    <a:bodyPr/>
                    <a:lstStyle/>
                    <a:p>
                      <a:r>
                        <a:t>Rapid oral absorption; peak plasma levels occur within about 1.25 to 3 hours.</a:t>
                      </a:r>
                    </a:p>
                  </a:txBody>
                  <a:tcPr marL="91440" marR="91440" marT="45720" marB="45720"/>
                </a:tc>
              </a:tr>
              <a:tr h="463550">
                <a:tc>
                  <a:txBody>
                    <a:bodyPr/>
                    <a:lstStyle/>
                    <a:p>
                      <a:r>
                        <a:t>Distribution</a:t>
                      </a:r>
                    </a:p>
                  </a:txBody>
                  <a:tcPr marL="91440" marR="91440" marT="45720" marB="45720"/>
                </a:tc>
                <a:tc>
                  <a:txBody>
                    <a:bodyPr/>
                    <a:lstStyle/>
                    <a:p>
                      <a:r>
                        <a:t>High protein binding (&gt;99%); synovial fluid concentrations reach about 57% of plasma.</a:t>
                      </a:r>
                    </a:p>
                  </a:txBody>
                  <a:tcPr marL="91440" marR="91440" marT="45720" marB="45720"/>
                </a:tc>
              </a:tr>
              <a:tr h="463550">
                <a:tc>
                  <a:txBody>
                    <a:bodyPr/>
                    <a:lstStyle/>
                    <a:p>
                      <a:r>
                        <a:t>Metabolism</a:t>
                      </a:r>
                    </a:p>
                  </a:txBody>
                  <a:tcPr marL="91440" marR="91440" marT="45720" marB="45720"/>
                </a:tc>
                <a:tc>
                  <a:txBody>
                    <a:bodyPr/>
                    <a:lstStyle/>
                    <a:p>
                      <a:r>
                        <a:t>Main circulating metabolite is 4'-hydroxyaceclofenac.</a:t>
                      </a:r>
                    </a:p>
                  </a:txBody>
                  <a:tcPr marL="91440" marR="91440" marT="45720" marB="45720"/>
                </a:tc>
              </a:tr>
              <a:tr h="463550">
                <a:tc>
                  <a:txBody>
                    <a:bodyPr/>
                    <a:lstStyle/>
                    <a:p>
                      <a:r>
                        <a:t>Excretion</a:t>
                      </a:r>
                    </a:p>
                  </a:txBody>
                  <a:tcPr marL="91440" marR="91440" marT="45720" marB="45720"/>
                </a:tc>
                <a:tc>
                  <a:txBody>
                    <a:bodyPr/>
                    <a:lstStyle/>
                    <a:p>
                      <a:r>
                        <a:t>Most elimination is urinary, mainly as hydroxymetabolites.</a:t>
                      </a:r>
                    </a:p>
                  </a:txBody>
                  <a:tcPr marL="91440" marR="91440" marT="45720" marB="45720"/>
                </a:tc>
              </a:tr>
              <a:tr h="463550">
                <a:tc>
                  <a:txBody>
                    <a:bodyPr/>
                    <a:lstStyle/>
                    <a:p>
                      <a:r>
                        <a:t>Half-life</a:t>
                      </a:r>
                    </a:p>
                  </a:txBody>
                  <a:tcPr marL="91440" marR="91440" marT="45720" marB="45720"/>
                </a:tc>
                <a:tc>
                  <a:txBody>
                    <a:bodyPr/>
                    <a:lstStyle/>
                    <a:p>
                      <a:r>
                        <a:t>Mean plasma elimination half-life is around 4 hours.</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60FFA868-C5C8-4B1A-A6E9-D10EACAD038C}"/>
              </a:ext>
            </a:extLst>
          </p:cNvPr>
          <p:cNvSpPr>
            <a:spLocks xmlns:a="http://schemas.openxmlformats.org/drawingml/2006/main" noGrp="1"/>
          </p:cNvSpPr>
          <p:nvPr/>
        </p:nvSpPr>
        <p:spPr>
          <a:xfrm xmlns:a="http://schemas.openxmlformats.org/drawingml/2006/main">
            <a:off x="7772400" y="1485900"/>
            <a:ext cx="3238500" cy="1276350"/>
          </a:xfrm>
          <a:prstGeom xmlns:a="http://schemas.openxmlformats.org/drawingml/2006/main" prst="roundRect">
            <a:avLst>
              <a:gd name="adj" fmla="val 5970"/>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E9A42F36-BC57-4A2B-B727-419A5CE603DF}"/>
              </a:ext>
            </a:extLst>
          </p:cNvPr>
          <p:cNvSpPr>
            <a:spLocks xmlns:a="http://schemas.openxmlformats.org/drawingml/2006/main" noGrp="1"/>
          </p:cNvSpPr>
          <p:nvPr/>
        </p:nvSpPr>
        <p:spPr>
          <a:xfrm xmlns:a="http://schemas.openxmlformats.org/drawingml/2006/main">
            <a:off x="7905750" y="1600200"/>
            <a:ext cx="29718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Why PK matters</a:t>
            </a:r>
          </a:p>
        </p:txBody>
      </p:sp>
      <p:sp>
        <p:nvSpPr>
          <p:cNvPr id="11" name="">
            <a:extLst xmlns:a="http://schemas.openxmlformats.org/drawingml/2006/main">
              <a:ext uri="{FF2B5EF4-FFF2-40B4-BE49-F238E27FC236}">
                <a16:creationId xmlns:a16="http://schemas.microsoft.com/office/drawing/2014/main" id="{D857C377-31CF-4A86-A118-78DFB9BE10E7}"/>
              </a:ext>
            </a:extLst>
          </p:cNvPr>
          <p:cNvSpPr>
            <a:spLocks xmlns:a="http://schemas.openxmlformats.org/drawingml/2006/main" noGrp="1"/>
          </p:cNvSpPr>
          <p:nvPr/>
        </p:nvSpPr>
        <p:spPr>
          <a:xfrm xmlns:a="http://schemas.openxmlformats.org/drawingml/2006/main">
            <a:off x="7905750" y="1885950"/>
            <a:ext cx="2971800" cy="7810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These numbers help clinicians understand onset, duration, synovial exposure, and why the drug is not just a generic NSAID concept.</a:t>
            </a:r>
          </a:p>
        </p:txBody>
      </p:sp>
      <p:sp>
        <p:nvSpPr>
          <p:cNvPr id="12" name="">
            <a:extLst xmlns:a="http://schemas.openxmlformats.org/drawingml/2006/main">
              <a:ext uri="{FF2B5EF4-FFF2-40B4-BE49-F238E27FC236}">
                <a16:creationId xmlns:a16="http://schemas.microsoft.com/office/drawing/2014/main" id="{06943639-3B7F-4F95-BE9C-AAD1073F9D37}"/>
              </a:ext>
            </a:extLst>
          </p:cNvPr>
          <p:cNvSpPr>
            <a:spLocks xmlns:a="http://schemas.openxmlformats.org/drawingml/2006/main" noGrp="1"/>
          </p:cNvSpPr>
          <p:nvPr/>
        </p:nvSpPr>
        <p:spPr>
          <a:xfrm xmlns:a="http://schemas.openxmlformats.org/drawingml/2006/main">
            <a:off x="7772400" y="2933700"/>
            <a:ext cx="3238500" cy="1314450"/>
          </a:xfrm>
          <a:prstGeom xmlns:a="http://schemas.openxmlformats.org/drawingml/2006/main" prst="roundRect">
            <a:avLst>
              <a:gd name="adj" fmla="val 5797"/>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B2572AC7-41E1-44D7-96BA-77758229AA9B}"/>
              </a:ext>
            </a:extLst>
          </p:cNvPr>
          <p:cNvSpPr>
            <a:spLocks xmlns:a="http://schemas.openxmlformats.org/drawingml/2006/main" noGrp="1"/>
          </p:cNvSpPr>
          <p:nvPr/>
        </p:nvSpPr>
        <p:spPr>
          <a:xfrm xmlns:a="http://schemas.openxmlformats.org/drawingml/2006/main">
            <a:off x="7905750" y="3048000"/>
            <a:ext cx="29718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Demo caution</a:t>
            </a:r>
          </a:p>
        </p:txBody>
      </p:sp>
      <p:sp>
        <p:nvSpPr>
          <p:cNvPr id="14" name="">
            <a:extLst xmlns:a="http://schemas.openxmlformats.org/drawingml/2006/main">
              <a:ext uri="{FF2B5EF4-FFF2-40B4-BE49-F238E27FC236}">
                <a16:creationId xmlns:a16="http://schemas.microsoft.com/office/drawing/2014/main" id="{3CC2BE28-CB6F-4077-B730-C4D274D1A687}"/>
              </a:ext>
            </a:extLst>
          </p:cNvPr>
          <p:cNvSpPr>
            <a:spLocks xmlns:a="http://schemas.openxmlformats.org/drawingml/2006/main" noGrp="1"/>
          </p:cNvSpPr>
          <p:nvPr/>
        </p:nvSpPr>
        <p:spPr>
          <a:xfrm xmlns:a="http://schemas.openxmlformats.org/drawingml/2006/main">
            <a:off x="7905750" y="3333750"/>
            <a:ext cx="2971800" cy="81915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Use the approved PI for local dosing, food instructions, and special-population wording.</a:t>
            </a:r>
          </a:p>
        </p:txBody>
      </p:sp>
      <p:sp>
        <p:nvSpPr>
          <p:cNvPr id="15" name="">
            <a:extLst xmlns:a="http://schemas.openxmlformats.org/drawingml/2006/main">
              <a:ext uri="{FF2B5EF4-FFF2-40B4-BE49-F238E27FC236}">
                <a16:creationId xmlns:a16="http://schemas.microsoft.com/office/drawing/2014/main" id="{56666D4D-1077-426B-A79E-659AE19E8013}"/>
              </a:ext>
            </a:extLst>
          </p:cNvPr>
          <p:cNvSpPr>
            <a:spLocks xmlns:a="http://schemas.openxmlformats.org/drawingml/2006/main" noGrp="1"/>
          </p:cNvSpPr>
          <p:nvPr/>
        </p:nvSpPr>
        <p:spPr>
          <a:xfrm xmlns:a="http://schemas.openxmlformats.org/drawingml/2006/main">
            <a:off x="609600" y="6343650"/>
            <a:ext cx="110490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PK data should always be paired with the approved label.</a:t>
            </a:r>
          </a:p>
        </p:txBody>
      </p:sp>
    </p:spTree>
    <p:extLst>
      <p:ext uri="{BB962C8B-B14F-4D97-AF65-F5344CB8AC3E}">
        <p14:creationId xmlns:p14="http://schemas.microsoft.com/office/powerpoint/2010/main" val="4596549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4C20400-D315-4FAD-81CC-69C0172158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7AB553AA-C3B5-403E-9FD0-59AD9F2C779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197A69F9-AB15-47CF-AF7F-3C8DB9A8DE9E}"/>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What the newest evidence adds</a:t>
            </a:r>
          </a:p>
        </p:txBody>
      </p:sp>
      <p:sp>
        <p:nvSpPr>
          <p:cNvPr id="4" name="">
            <a:extLst xmlns:a="http://schemas.openxmlformats.org/drawingml/2006/main">
              <a:ext uri="{FF2B5EF4-FFF2-40B4-BE49-F238E27FC236}">
                <a16:creationId xmlns:a16="http://schemas.microsoft.com/office/drawing/2014/main" id="{8E45F3E6-278B-4B58-A222-C5D0190FB100}"/>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 latest work does not reinvent aceclofenac, but it does keep the molecule clinically relevant.</a:t>
            </a:r>
          </a:p>
        </p:txBody>
      </p:sp>
      <p:sp>
        <p:nvSpPr>
          <p:cNvPr id="5" name="">
            <a:extLst xmlns:a="http://schemas.openxmlformats.org/drawingml/2006/main">
              <a:ext uri="{FF2B5EF4-FFF2-40B4-BE49-F238E27FC236}">
                <a16:creationId xmlns:a16="http://schemas.microsoft.com/office/drawing/2014/main" id="{39021133-7DDD-4539-8C49-3963003F107D}"/>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5759B6C4-34A2-4B00-B0EE-00B36DCEB12B}"/>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36647880; PMC9530112; PubMed 39290780</a:t>
            </a:r>
          </a:p>
        </p:txBody>
      </p:sp>
      <p:sp>
        <p:nvSpPr>
          <p:cNvPr id="7" name="">
            <a:extLst xmlns:a="http://schemas.openxmlformats.org/drawingml/2006/main">
              <a:ext uri="{FF2B5EF4-FFF2-40B4-BE49-F238E27FC236}">
                <a16:creationId xmlns:a16="http://schemas.microsoft.com/office/drawing/2014/main" id="{3AF35CCB-DEC3-48BC-9297-873A1C6365C6}"/>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7/25</a:t>
            </a:r>
          </a:p>
        </p:txBody>
      </p:sp>
      <p:sp>
        <p:nvSpPr>
          <p:cNvPr id="8" name="">
            <a:extLst xmlns:a="http://schemas.openxmlformats.org/drawingml/2006/main">
              <a:ext uri="{FF2B5EF4-FFF2-40B4-BE49-F238E27FC236}">
                <a16:creationId xmlns:a16="http://schemas.microsoft.com/office/drawing/2014/main" id="{6F3330E4-CB7A-423D-AEEE-C8BE655BCCCE}"/>
              </a:ext>
            </a:extLst>
          </p:cNvPr>
          <p:cNvSpPr>
            <a:spLocks xmlns:a="http://schemas.openxmlformats.org/drawingml/2006/main" noGrp="1"/>
          </p:cNvSpPr>
          <p:nvPr/>
        </p:nvSpPr>
        <p:spPr>
          <a:xfrm xmlns:a="http://schemas.openxmlformats.org/drawingml/2006/main">
            <a:off x="609600" y="1524000"/>
            <a:ext cx="3333750" cy="2095500"/>
          </a:xfrm>
          <a:prstGeom xmlns:a="http://schemas.openxmlformats.org/drawingml/2006/main" prst="roundRect">
            <a:avLst>
              <a:gd name="adj" fmla="val 3636"/>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325B4117-53A4-4204-8368-183FD04EA0F9}"/>
              </a:ext>
            </a:extLst>
          </p:cNvPr>
          <p:cNvSpPr>
            <a:spLocks xmlns:a="http://schemas.openxmlformats.org/drawingml/2006/main" noGrp="1"/>
          </p:cNvSpPr>
          <p:nvPr/>
        </p:nvSpPr>
        <p:spPr>
          <a:xfrm xmlns:a="http://schemas.openxmlformats.org/drawingml/2006/main">
            <a:off x="742950" y="1638300"/>
            <a:ext cx="306705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2023 phase 3 acute LBP</a:t>
            </a:r>
          </a:p>
        </p:txBody>
      </p:sp>
      <p:sp>
        <p:nvSpPr>
          <p:cNvPr id="10" name="">
            <a:extLst xmlns:a="http://schemas.openxmlformats.org/drawingml/2006/main">
              <a:ext uri="{FF2B5EF4-FFF2-40B4-BE49-F238E27FC236}">
                <a16:creationId xmlns:a16="http://schemas.microsoft.com/office/drawing/2014/main" id="{148DB655-A6DC-475C-A185-C98AD6D9C186}"/>
              </a:ext>
            </a:extLst>
          </p:cNvPr>
          <p:cNvSpPr>
            <a:spLocks xmlns:a="http://schemas.openxmlformats.org/drawingml/2006/main" noGrp="1"/>
          </p:cNvSpPr>
          <p:nvPr/>
        </p:nvSpPr>
        <p:spPr>
          <a:xfrm xmlns:a="http://schemas.openxmlformats.org/drawingml/2006/main">
            <a:off x="742950" y="1924050"/>
            <a:ext cx="3067050" cy="16002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24313A"/>
                </a:solidFill>
                <a:latin typeface="Aptos"/>
                <a:ea typeface="Aptos"/>
                <a:cs typeface="Aptos"/>
              </a:defRPr>
            </a:pPr>
            <a:r>
              <a:rPr sz="840" b="0">
                <a:solidFill>
                  <a:srgbClr val="24313A"/>
                </a:solidFill>
                <a:latin typeface="Aptos"/>
                <a:ea typeface="Aptos"/>
                <a:cs typeface="Aptos"/>
              </a:rPr>
              <a:t>A multicenter phase 3 trial used aceclofenac 100 mg as the active comparator in acute low back pain with muscle spasm and confirmed the class is still being studied in modern endpoints.</a:t>
            </a:r>
          </a:p>
        </p:txBody>
      </p:sp>
      <p:sp>
        <p:nvSpPr>
          <p:cNvPr id="11" name="">
            <a:extLst xmlns:a="http://schemas.openxmlformats.org/drawingml/2006/main">
              <a:ext uri="{FF2B5EF4-FFF2-40B4-BE49-F238E27FC236}">
                <a16:creationId xmlns:a16="http://schemas.microsoft.com/office/drawing/2014/main" id="{7AB60BA5-5337-4D10-AF47-6E6339DF0588}"/>
              </a:ext>
            </a:extLst>
          </p:cNvPr>
          <p:cNvSpPr>
            <a:spLocks xmlns:a="http://schemas.openxmlformats.org/drawingml/2006/main" noGrp="1"/>
          </p:cNvSpPr>
          <p:nvPr/>
        </p:nvSpPr>
        <p:spPr>
          <a:xfrm xmlns:a="http://schemas.openxmlformats.org/drawingml/2006/main">
            <a:off x="4152900" y="1524000"/>
            <a:ext cx="3333750" cy="2095500"/>
          </a:xfrm>
          <a:prstGeom xmlns:a="http://schemas.openxmlformats.org/drawingml/2006/main" prst="roundRect">
            <a:avLst>
              <a:gd name="adj" fmla="val 3636"/>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975AB696-0C5C-4E9A-91ED-C400488958C3}"/>
              </a:ext>
            </a:extLst>
          </p:cNvPr>
          <p:cNvSpPr>
            <a:spLocks xmlns:a="http://schemas.openxmlformats.org/drawingml/2006/main" noGrp="1"/>
          </p:cNvSpPr>
          <p:nvPr/>
        </p:nvSpPr>
        <p:spPr>
          <a:xfrm xmlns:a="http://schemas.openxmlformats.org/drawingml/2006/main">
            <a:off x="4286250" y="1638300"/>
            <a:ext cx="306705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Large real-world cohort</a:t>
            </a:r>
          </a:p>
        </p:txBody>
      </p:sp>
      <p:sp>
        <p:nvSpPr>
          <p:cNvPr id="13" name="">
            <a:extLst xmlns:a="http://schemas.openxmlformats.org/drawingml/2006/main">
              <a:ext uri="{FF2B5EF4-FFF2-40B4-BE49-F238E27FC236}">
                <a16:creationId xmlns:a16="http://schemas.microsoft.com/office/drawing/2014/main" id="{F897EFC1-1C06-4DEF-BD6A-9FDA32F4D400}"/>
              </a:ext>
            </a:extLst>
          </p:cNvPr>
          <p:cNvSpPr>
            <a:spLocks xmlns:a="http://schemas.openxmlformats.org/drawingml/2006/main" noGrp="1"/>
          </p:cNvSpPr>
          <p:nvPr/>
        </p:nvSpPr>
        <p:spPr>
          <a:xfrm xmlns:a="http://schemas.openxmlformats.org/drawingml/2006/main">
            <a:off x="4286250" y="1924050"/>
            <a:ext cx="3067050" cy="16002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24313A"/>
                </a:solidFill>
                <a:latin typeface="Aptos"/>
                <a:ea typeface="Aptos"/>
                <a:cs typeface="Aptos"/>
              </a:defRPr>
            </a:pPr>
            <a:r>
              <a:rPr sz="840" b="0">
                <a:solidFill>
                  <a:srgbClr val="24313A"/>
                </a:solidFill>
                <a:latin typeface="Aptos"/>
                <a:ea typeface="Aptos"/>
                <a:cs typeface="Aptos"/>
              </a:rPr>
              <a:t>A 2022 effectiveness and safety study followed more than 14,000 routine-practice patients on once-daily aceclofenac CR, reinforcing practical relevance.</a:t>
            </a:r>
          </a:p>
        </p:txBody>
      </p:sp>
      <p:sp>
        <p:nvSpPr>
          <p:cNvPr id="14" name="">
            <a:extLst xmlns:a="http://schemas.openxmlformats.org/drawingml/2006/main">
              <a:ext uri="{FF2B5EF4-FFF2-40B4-BE49-F238E27FC236}">
                <a16:creationId xmlns:a16="http://schemas.microsoft.com/office/drawing/2014/main" id="{7DB8652A-99F6-46CD-B0EF-F9D3DDD08DBF}"/>
              </a:ext>
            </a:extLst>
          </p:cNvPr>
          <p:cNvSpPr>
            <a:spLocks xmlns:a="http://schemas.openxmlformats.org/drawingml/2006/main" noGrp="1"/>
          </p:cNvSpPr>
          <p:nvPr/>
        </p:nvSpPr>
        <p:spPr>
          <a:xfrm xmlns:a="http://schemas.openxmlformats.org/drawingml/2006/main">
            <a:off x="7696200" y="1524000"/>
            <a:ext cx="3695700" cy="2095500"/>
          </a:xfrm>
          <a:prstGeom xmlns:a="http://schemas.openxmlformats.org/drawingml/2006/main" prst="roundRect">
            <a:avLst>
              <a:gd name="adj" fmla="val 3636"/>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DBA86F0A-A294-43EC-B7F5-8D6B6A35246E}"/>
              </a:ext>
            </a:extLst>
          </p:cNvPr>
          <p:cNvSpPr>
            <a:spLocks xmlns:a="http://schemas.openxmlformats.org/drawingml/2006/main" noGrp="1"/>
          </p:cNvSpPr>
          <p:nvPr/>
        </p:nvSpPr>
        <p:spPr>
          <a:xfrm xmlns:a="http://schemas.openxmlformats.org/drawingml/2006/main">
            <a:off x="7829550" y="1638300"/>
            <a:ext cx="34290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2024 OA context</a:t>
            </a:r>
          </a:p>
        </p:txBody>
      </p:sp>
      <p:sp>
        <p:nvSpPr>
          <p:cNvPr id="16" name="">
            <a:extLst xmlns:a="http://schemas.openxmlformats.org/drawingml/2006/main">
              <a:ext uri="{FF2B5EF4-FFF2-40B4-BE49-F238E27FC236}">
                <a16:creationId xmlns:a16="http://schemas.microsoft.com/office/drawing/2014/main" id="{512FE722-FAE1-41BC-A958-F4E3A8D86A89}"/>
              </a:ext>
            </a:extLst>
          </p:cNvPr>
          <p:cNvSpPr>
            <a:spLocks xmlns:a="http://schemas.openxmlformats.org/drawingml/2006/main" noGrp="1"/>
          </p:cNvSpPr>
          <p:nvPr/>
        </p:nvSpPr>
        <p:spPr>
          <a:xfrm xmlns:a="http://schemas.openxmlformats.org/drawingml/2006/main">
            <a:off x="7829550" y="1924050"/>
            <a:ext cx="3429000" cy="16002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24313A"/>
                </a:solidFill>
                <a:latin typeface="Aptos"/>
                <a:ea typeface="Aptos"/>
                <a:cs typeface="Aptos"/>
              </a:defRPr>
            </a:pPr>
            <a:r>
              <a:rPr sz="840" b="0">
                <a:solidFill>
                  <a:srgbClr val="24313A"/>
                </a:solidFill>
                <a:latin typeface="Aptos"/>
                <a:ea typeface="Aptos"/>
                <a:cs typeface="Aptos"/>
              </a:rPr>
              <a:t>New OA reviews still frame oral NSAIDs as a major symptom-control class, which keeps aceclofenac in the discussion even as therapy evolves.</a:t>
            </a:r>
          </a:p>
        </p:txBody>
      </p:sp>
      <p:sp>
        <p:nvSpPr>
          <p:cNvPr id="17" name="">
            <a:extLst xmlns:a="http://schemas.openxmlformats.org/drawingml/2006/main">
              <a:ext uri="{FF2B5EF4-FFF2-40B4-BE49-F238E27FC236}">
                <a16:creationId xmlns:a16="http://schemas.microsoft.com/office/drawing/2014/main" id="{8FB7633C-5C65-457C-B33D-D42CFA66F7D6}"/>
              </a:ext>
            </a:extLst>
          </p:cNvPr>
          <p:cNvSpPr>
            <a:spLocks xmlns:a="http://schemas.openxmlformats.org/drawingml/2006/main" noGrp="1"/>
          </p:cNvSpPr>
          <p:nvPr/>
        </p:nvSpPr>
        <p:spPr>
          <a:xfrm xmlns:a="http://schemas.openxmlformats.org/drawingml/2006/main">
            <a:off x="990600" y="4152900"/>
            <a:ext cx="102108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94500C5A-16E4-472E-87B7-D28D35236DAB}"/>
              </a:ext>
            </a:extLst>
          </p:cNvPr>
          <p:cNvSpPr>
            <a:spLocks xmlns:a="http://schemas.openxmlformats.org/drawingml/2006/main" noGrp="1"/>
          </p:cNvSpPr>
          <p:nvPr/>
        </p:nvSpPr>
        <p:spPr>
          <a:xfrm xmlns:a="http://schemas.openxmlformats.org/drawingml/2006/main">
            <a:off x="1123950" y="42672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Balanced interpretation</a:t>
            </a:r>
          </a:p>
        </p:txBody>
      </p:sp>
      <p:sp>
        <p:nvSpPr>
          <p:cNvPr id="19" name="">
            <a:extLst xmlns:a="http://schemas.openxmlformats.org/drawingml/2006/main">
              <a:ext uri="{FF2B5EF4-FFF2-40B4-BE49-F238E27FC236}">
                <a16:creationId xmlns:a16="http://schemas.microsoft.com/office/drawing/2014/main" id="{E077CA56-5EC6-4F23-97AD-2B88A89FFD7F}"/>
              </a:ext>
            </a:extLst>
          </p:cNvPr>
          <p:cNvSpPr>
            <a:spLocks xmlns:a="http://schemas.openxmlformats.org/drawingml/2006/main" noGrp="1"/>
          </p:cNvSpPr>
          <p:nvPr/>
        </p:nvSpPr>
        <p:spPr>
          <a:xfrm xmlns:a="http://schemas.openxmlformats.org/drawingml/2006/main">
            <a:off x="1123950" y="4552950"/>
            <a:ext cx="99441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20" b="0">
                <a:solidFill>
                  <a:srgbClr val="24313A"/>
                </a:solidFill>
                <a:latin typeface="Aptos"/>
                <a:ea typeface="Aptos"/>
                <a:cs typeface="Aptos"/>
              </a:defRPr>
            </a:pPr>
            <a:r>
              <a:rPr sz="1020" b="0">
                <a:solidFill>
                  <a:srgbClr val="24313A"/>
                </a:solidFill>
                <a:latin typeface="Aptos"/>
                <a:ea typeface="Aptos"/>
                <a:cs typeface="Aptos"/>
              </a:rPr>
              <a:t>The newest evidence says aceclofenac remains a workable, familiar NSAID option with ongoing clinical relevance. That is commercially useful because the molecule is quick to recognise and still has a place in discussion.</a:t>
            </a:r>
          </a:p>
        </p:txBody>
      </p:sp>
    </p:spTree>
    <p:extLst>
      <p:ext uri="{BB962C8B-B14F-4D97-AF65-F5344CB8AC3E}">
        <p14:creationId xmlns:p14="http://schemas.microsoft.com/office/powerpoint/2010/main" val="12215074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8CD1694-A05F-4893-885E-E9A6C2AC16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E6DF2990-5F85-4BBC-BCA8-19C2DFA918F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D7748C02-1CAF-42CD-B50F-90FA7F82803B}"/>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Osteoarthritis efficacy: pain, stiffness, and function</a:t>
            </a:r>
          </a:p>
        </p:txBody>
      </p:sp>
      <p:sp>
        <p:nvSpPr>
          <p:cNvPr id="4" name="">
            <a:extLst xmlns:a="http://schemas.openxmlformats.org/drawingml/2006/main">
              <a:ext uri="{FF2B5EF4-FFF2-40B4-BE49-F238E27FC236}">
                <a16:creationId xmlns:a16="http://schemas.microsoft.com/office/drawing/2014/main" id="{C96F316E-8871-4F2B-A717-F3366D06BF34}"/>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This is the core clinical slide and deserves an actual study graphic.</a:t>
            </a:r>
          </a:p>
        </p:txBody>
      </p:sp>
      <p:sp>
        <p:nvSpPr>
          <p:cNvPr id="5" name="">
            <a:extLst xmlns:a="http://schemas.openxmlformats.org/drawingml/2006/main">
              <a:ext uri="{FF2B5EF4-FFF2-40B4-BE49-F238E27FC236}">
                <a16:creationId xmlns:a16="http://schemas.microsoft.com/office/drawing/2014/main" id="{19E19DF7-D575-482D-B3B6-D7B664CDCAF5}"/>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24D342DC-2177-4F30-BC5B-662AA9AD1B18}"/>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5335881; PubMed 17387026; PubMed 24639945</a:t>
            </a:r>
          </a:p>
        </p:txBody>
      </p:sp>
      <p:sp>
        <p:nvSpPr>
          <p:cNvPr id="7" name="">
            <a:extLst xmlns:a="http://schemas.openxmlformats.org/drawingml/2006/main">
              <a:ext uri="{FF2B5EF4-FFF2-40B4-BE49-F238E27FC236}">
                <a16:creationId xmlns:a16="http://schemas.microsoft.com/office/drawing/2014/main" id="{4DA6E88E-B69F-486F-B58E-CEC579D73F89}"/>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8/25</a:t>
            </a:r>
          </a:p>
        </p:txBody>
      </p:sp>
      <p:sp>
        <p:nvSpPr>
          <p:cNvPr id="8" name="">
            <a:extLst xmlns:a="http://schemas.openxmlformats.org/drawingml/2006/main">
              <a:ext uri="{FF2B5EF4-FFF2-40B4-BE49-F238E27FC236}">
                <a16:creationId xmlns:a16="http://schemas.microsoft.com/office/drawing/2014/main" id="{D1F85A0A-4CAD-4A7A-99E7-4BFA84610514}"/>
              </a:ext>
            </a:extLst>
          </p:cNvPr>
          <p:cNvSpPr>
            <a:spLocks xmlns:a="http://schemas.openxmlformats.org/drawingml/2006/main" noGrp="1"/>
          </p:cNvSpPr>
          <p:nvPr/>
        </p:nvSpPr>
        <p:spPr>
          <a:xfrm xmlns:a="http://schemas.openxmlformats.org/drawingml/2006/main">
            <a:off x="609600" y="1466850"/>
            <a:ext cx="3390900" cy="1771650"/>
          </a:xfrm>
          <a:prstGeom xmlns:a="http://schemas.openxmlformats.org/drawingml/2006/main" prst="roundRect">
            <a:avLst>
              <a:gd name="adj" fmla="val 4301"/>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2E90FF58-6D83-4121-A075-94458BFD6B6C}"/>
              </a:ext>
            </a:extLst>
          </p:cNvPr>
          <p:cNvSpPr>
            <a:spLocks xmlns:a="http://schemas.openxmlformats.org/drawingml/2006/main" noGrp="1"/>
          </p:cNvSpPr>
          <p:nvPr/>
        </p:nvSpPr>
        <p:spPr>
          <a:xfrm xmlns:a="http://schemas.openxmlformats.org/drawingml/2006/main">
            <a:off x="742950" y="1581150"/>
            <a:ext cx="31242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What the meta-analysis supports</a:t>
            </a:r>
          </a:p>
        </p:txBody>
      </p:sp>
      <p:sp>
        <p:nvSpPr>
          <p:cNvPr id="10" name="">
            <a:extLst xmlns:a="http://schemas.openxmlformats.org/drawingml/2006/main">
              <a:ext uri="{FF2B5EF4-FFF2-40B4-BE49-F238E27FC236}">
                <a16:creationId xmlns:a16="http://schemas.microsoft.com/office/drawing/2014/main" id="{F2DCFEB5-CDFF-4279-8C21-DEC7B71A1D7F}"/>
              </a:ext>
            </a:extLst>
          </p:cNvPr>
          <p:cNvSpPr>
            <a:spLocks xmlns:a="http://schemas.openxmlformats.org/drawingml/2006/main" noGrp="1"/>
          </p:cNvSpPr>
          <p:nvPr/>
        </p:nvSpPr>
        <p:spPr>
          <a:xfrm xmlns:a="http://schemas.openxmlformats.org/drawingml/2006/main">
            <a:off x="742950" y="1866900"/>
            <a:ext cx="3124200" cy="12763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0" b="0">
                <a:solidFill>
                  <a:srgbClr val="24313A"/>
                </a:solidFill>
                <a:latin typeface="Aptos"/>
                <a:ea typeface="Aptos"/>
                <a:cs typeface="Aptos"/>
              </a:defRPr>
            </a:pPr>
            <a:r>
              <a:rPr sz="870" b="0">
                <a:solidFill>
                  <a:srgbClr val="24313A"/>
                </a:solidFill>
                <a:latin typeface="Aptos"/>
                <a:ea typeface="Aptos"/>
                <a:cs typeface="Aptos"/>
              </a:rPr>
              <a:t>Aceclofenac shows beneficial symptomatic effects in osteoarthritis and is generally comparable with commonly used NSAIDs in short-term trials.</a:t>
            </a:r>
          </a:p>
        </p:txBody>
      </p:sp>
      <p:sp>
        <p:nvSpPr>
          <p:cNvPr id="11" name="">
            <a:extLst xmlns:a="http://schemas.openxmlformats.org/drawingml/2006/main">
              <a:ext uri="{FF2B5EF4-FFF2-40B4-BE49-F238E27FC236}">
                <a16:creationId xmlns:a16="http://schemas.microsoft.com/office/drawing/2014/main" id="{97714B8E-C08D-4CAD-AA32-9C93AD978494}"/>
              </a:ext>
            </a:extLst>
          </p:cNvPr>
          <p:cNvSpPr>
            <a:spLocks xmlns:a="http://schemas.openxmlformats.org/drawingml/2006/main" noGrp="1"/>
          </p:cNvSpPr>
          <p:nvPr/>
        </p:nvSpPr>
        <p:spPr>
          <a:xfrm xmlns:a="http://schemas.openxmlformats.org/drawingml/2006/main">
            <a:off x="4229100" y="1466850"/>
            <a:ext cx="3390900" cy="1771650"/>
          </a:xfrm>
          <a:prstGeom xmlns:a="http://schemas.openxmlformats.org/drawingml/2006/main" prst="roundRect">
            <a:avLst>
              <a:gd name="adj" fmla="val 4301"/>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34D2201A-0F91-4276-BA18-298B97DD6FFA}"/>
              </a:ext>
            </a:extLst>
          </p:cNvPr>
          <p:cNvSpPr>
            <a:spLocks xmlns:a="http://schemas.openxmlformats.org/drawingml/2006/main" noGrp="1"/>
          </p:cNvSpPr>
          <p:nvPr/>
        </p:nvSpPr>
        <p:spPr>
          <a:xfrm xmlns:a="http://schemas.openxmlformats.org/drawingml/2006/main">
            <a:off x="4362450" y="1581150"/>
            <a:ext cx="31242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How to say it</a:t>
            </a:r>
          </a:p>
        </p:txBody>
      </p:sp>
      <p:sp>
        <p:nvSpPr>
          <p:cNvPr id="13" name="">
            <a:extLst xmlns:a="http://schemas.openxmlformats.org/drawingml/2006/main">
              <a:ext uri="{FF2B5EF4-FFF2-40B4-BE49-F238E27FC236}">
                <a16:creationId xmlns:a16="http://schemas.microsoft.com/office/drawing/2014/main" id="{56D3A9F3-9445-4F59-99C0-407AD50E2113}"/>
              </a:ext>
            </a:extLst>
          </p:cNvPr>
          <p:cNvSpPr>
            <a:spLocks xmlns:a="http://schemas.openxmlformats.org/drawingml/2006/main" noGrp="1"/>
          </p:cNvSpPr>
          <p:nvPr/>
        </p:nvSpPr>
        <p:spPr>
          <a:xfrm xmlns:a="http://schemas.openxmlformats.org/drawingml/2006/main">
            <a:off x="4362450" y="1866900"/>
            <a:ext cx="3124200" cy="12763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0" b="0">
                <a:solidFill>
                  <a:srgbClr val="24313A"/>
                </a:solidFill>
                <a:latin typeface="Aptos"/>
                <a:ea typeface="Aptos"/>
                <a:cs typeface="Aptos"/>
              </a:defRPr>
            </a:pPr>
            <a:r>
              <a:rPr sz="870" b="0">
                <a:solidFill>
                  <a:srgbClr val="24313A"/>
                </a:solidFill>
                <a:latin typeface="Aptos"/>
                <a:ea typeface="Aptos"/>
                <a:cs typeface="Aptos"/>
              </a:rPr>
              <a:t>Say pain and function improved, but avoid disease-modifying language. The patient feels better; the joint disease is not reversed.</a:t>
            </a:r>
          </a:p>
        </p:txBody>
      </p:sp>
      <p:sp>
        <p:nvSpPr>
          <p:cNvPr id="14" name="">
            <a:extLst xmlns:a="http://schemas.openxmlformats.org/drawingml/2006/main">
              <a:ext uri="{FF2B5EF4-FFF2-40B4-BE49-F238E27FC236}">
                <a16:creationId xmlns:a16="http://schemas.microsoft.com/office/drawing/2014/main" id="{DB9D6FD7-1EF6-48DC-818D-35A2BCF4A0A9}"/>
              </a:ext>
            </a:extLst>
          </p:cNvPr>
          <p:cNvSpPr>
            <a:spLocks xmlns:a="http://schemas.openxmlformats.org/drawingml/2006/main" noGrp="1"/>
          </p:cNvSpPr>
          <p:nvPr/>
        </p:nvSpPr>
        <p:spPr>
          <a:xfrm xmlns:a="http://schemas.openxmlformats.org/drawingml/2006/main">
            <a:off x="7848600" y="1466850"/>
            <a:ext cx="3733800" cy="1771650"/>
          </a:xfrm>
          <a:prstGeom xmlns:a="http://schemas.openxmlformats.org/drawingml/2006/main" prst="roundRect">
            <a:avLst>
              <a:gd name="adj" fmla="val 4301"/>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3390D82E-4830-482C-99E9-8361714FF47B}"/>
              </a:ext>
            </a:extLst>
          </p:cNvPr>
          <p:cNvSpPr>
            <a:spLocks xmlns:a="http://schemas.openxmlformats.org/drawingml/2006/main" noGrp="1"/>
          </p:cNvSpPr>
          <p:nvPr/>
        </p:nvSpPr>
        <p:spPr>
          <a:xfrm xmlns:a="http://schemas.openxmlformats.org/drawingml/2006/main">
            <a:off x="7981950" y="1581150"/>
            <a:ext cx="34671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Comparator discipline</a:t>
            </a:r>
          </a:p>
        </p:txBody>
      </p:sp>
      <p:sp>
        <p:nvSpPr>
          <p:cNvPr id="16" name="">
            <a:extLst xmlns:a="http://schemas.openxmlformats.org/drawingml/2006/main">
              <a:ext uri="{FF2B5EF4-FFF2-40B4-BE49-F238E27FC236}">
                <a16:creationId xmlns:a16="http://schemas.microsoft.com/office/drawing/2014/main" id="{D1AD7068-AFA5-4C97-AAA7-84818E4A85F2}"/>
              </a:ext>
            </a:extLst>
          </p:cNvPr>
          <p:cNvSpPr>
            <a:spLocks xmlns:a="http://schemas.openxmlformats.org/drawingml/2006/main" noGrp="1"/>
          </p:cNvSpPr>
          <p:nvPr/>
        </p:nvSpPr>
        <p:spPr>
          <a:xfrm xmlns:a="http://schemas.openxmlformats.org/drawingml/2006/main">
            <a:off x="7981950" y="1866900"/>
            <a:ext cx="3467100" cy="127635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70" b="0">
                <a:solidFill>
                  <a:srgbClr val="24313A"/>
                </a:solidFill>
                <a:latin typeface="Aptos"/>
                <a:ea typeface="Aptos"/>
                <a:cs typeface="Aptos"/>
              </a:defRPr>
            </a:pPr>
            <a:r>
              <a:rPr sz="870" b="0">
                <a:solidFill>
                  <a:srgbClr val="24313A"/>
                </a:solidFill>
                <a:latin typeface="Aptos"/>
                <a:ea typeface="Aptos"/>
                <a:cs typeface="Aptos"/>
              </a:rPr>
              <a:t>The interpretation depends on dose equivalence, trial duration, baseline pain, rescue medication, and whether the comparator was fairly selected.</a:t>
            </a:r>
          </a:p>
        </p:txBody>
      </p:sp>
      <p:sp>
        <p:nvSpPr>
          <p:cNvPr id="17" name="">
            <a:extLst xmlns:a="http://schemas.openxmlformats.org/drawingml/2006/main">
              <a:ext uri="{FF2B5EF4-FFF2-40B4-BE49-F238E27FC236}">
                <a16:creationId xmlns:a16="http://schemas.microsoft.com/office/drawing/2014/main" id="{65F04F43-695D-419B-8219-FE8DAE759216}"/>
              </a:ext>
            </a:extLst>
          </p:cNvPr>
          <p:cNvSpPr>
            <a:spLocks xmlns:a="http://schemas.openxmlformats.org/drawingml/2006/main" noGrp="1"/>
          </p:cNvSpPr>
          <p:nvPr/>
        </p:nvSpPr>
        <p:spPr>
          <a:xfrm xmlns:a="http://schemas.openxmlformats.org/drawingml/2006/main">
            <a:off x="990600" y="3638550"/>
            <a:ext cx="10134600" cy="12954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DBFC93A8-772B-445E-9DB5-E273E09B3D25}"/>
              </a:ext>
            </a:extLst>
          </p:cNvPr>
          <p:cNvSpPr>
            <a:spLocks xmlns:a="http://schemas.openxmlformats.org/drawingml/2006/main" noGrp="1"/>
          </p:cNvSpPr>
          <p:nvPr/>
        </p:nvSpPr>
        <p:spPr>
          <a:xfrm xmlns:a="http://schemas.openxmlformats.org/drawingml/2006/main">
            <a:off x="1123950" y="3752850"/>
            <a:ext cx="98679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Evidence signal snapshot</a:t>
            </a:r>
          </a:p>
        </p:txBody>
      </p:sp>
      <p:sp>
        <p:nvSpPr>
          <p:cNvPr id="19" name="">
            <a:extLst xmlns:a="http://schemas.openxmlformats.org/drawingml/2006/main">
              <a:ext uri="{FF2B5EF4-FFF2-40B4-BE49-F238E27FC236}">
                <a16:creationId xmlns:a16="http://schemas.microsoft.com/office/drawing/2014/main" id="{F6622886-1068-4C51-A303-5CDB1180D7EF}"/>
              </a:ext>
            </a:extLst>
          </p:cNvPr>
          <p:cNvSpPr>
            <a:spLocks xmlns:a="http://schemas.openxmlformats.org/drawingml/2006/main" noGrp="1"/>
          </p:cNvSpPr>
          <p:nvPr/>
        </p:nvSpPr>
        <p:spPr>
          <a:xfrm xmlns:a="http://schemas.openxmlformats.org/drawingml/2006/main">
            <a:off x="1123950" y="4038600"/>
            <a:ext cx="98679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0632A8F8-D15A-4ADE-96A8-CA4DD0524E71}"/>
              </a:ext>
            </a:extLst>
          </p:cNvPr>
          <p:cNvSpPr>
            <a:spLocks xmlns:a="http://schemas.openxmlformats.org/drawingml/2006/main" noGrp="1"/>
          </p:cNvSpPr>
          <p:nvPr/>
        </p:nvSpPr>
        <p:spPr>
          <a:xfrm xmlns:a="http://schemas.openxmlformats.org/drawingml/2006/main">
            <a:off x="1524000" y="4324350"/>
            <a:ext cx="552450" cy="171450"/>
          </a:xfrm>
          <a:prstGeom xmlns:a="http://schemas.openxmlformats.org/drawingml/2006/main" prst="rect">
            <a:avLst/>
          </a:prstGeom>
          <a:solidFill xmlns:a="http://schemas.openxmlformats.org/drawingml/2006/main">
            <a:srgbClr val="117A7B"/>
          </a:solidFill>
          <a:ln xmlns:a="http://schemas.openxmlformats.org/drawingml/2006/main" w="0">
            <a:solidFill>
              <a:srgbClr val="117A7B"/>
            </a:solidFill>
            <a:prstDash val="solid"/>
          </a:ln>
        </p:spPr>
      </p:sp>
      <p:sp>
        <p:nvSpPr>
          <p:cNvPr id="21" name="">
            <a:extLst xmlns:a="http://schemas.openxmlformats.org/drawingml/2006/main">
              <a:ext uri="{FF2B5EF4-FFF2-40B4-BE49-F238E27FC236}">
                <a16:creationId xmlns:a16="http://schemas.microsoft.com/office/drawing/2014/main" id="{7DF192BE-132D-4B7D-8493-62C18CA057EC}"/>
              </a:ext>
            </a:extLst>
          </p:cNvPr>
          <p:cNvSpPr>
            <a:spLocks xmlns:a="http://schemas.openxmlformats.org/drawingml/2006/main" noGrp="1"/>
          </p:cNvSpPr>
          <p:nvPr/>
        </p:nvSpPr>
        <p:spPr>
          <a:xfrm xmlns:a="http://schemas.openxmlformats.org/drawingml/2006/main">
            <a:off x="1333500" y="4648200"/>
            <a:ext cx="9144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705" b="0">
                <a:solidFill>
                  <a:srgbClr val="24313A"/>
                </a:solidFill>
                <a:latin typeface="Aptos"/>
                <a:ea typeface="Aptos"/>
                <a:cs typeface="Aptos"/>
              </a:defRPr>
            </a:pPr>
            <a:r>
              <a:rPr sz="705" b="0">
                <a:solidFill>
                  <a:srgbClr val="24313A"/>
                </a:solidFill>
                <a:latin typeface="Aptos"/>
                <a:ea typeface="Aptos"/>
                <a:cs typeface="Aptos"/>
              </a:rPr>
              <a:t>OA vs paracetamol</a:t>
            </a:r>
          </a:p>
        </p:txBody>
      </p:sp>
      <p:sp>
        <p:nvSpPr>
          <p:cNvPr id="22" name="">
            <a:extLst xmlns:a="http://schemas.openxmlformats.org/drawingml/2006/main">
              <a:ext uri="{FF2B5EF4-FFF2-40B4-BE49-F238E27FC236}">
                <a16:creationId xmlns:a16="http://schemas.microsoft.com/office/drawing/2014/main" id="{0152A042-0B3E-4F30-A2DF-E1F12F6DD710}"/>
              </a:ext>
            </a:extLst>
          </p:cNvPr>
          <p:cNvSpPr>
            <a:spLocks xmlns:a="http://schemas.openxmlformats.org/drawingml/2006/main" noGrp="1"/>
          </p:cNvSpPr>
          <p:nvPr/>
        </p:nvSpPr>
        <p:spPr>
          <a:xfrm xmlns:a="http://schemas.openxmlformats.org/drawingml/2006/main">
            <a:off x="1428750" y="4076700"/>
            <a:ext cx="7239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788" b="1">
                <a:solidFill>
                  <a:srgbClr val="24313A"/>
                </a:solidFill>
                <a:latin typeface="Aptos"/>
                <a:ea typeface="Aptos"/>
                <a:cs typeface="Aptos"/>
              </a:defRPr>
            </a:pPr>
            <a:r>
              <a:rPr sz="788" b="1">
                <a:solidFill>
                  <a:srgbClr val="24313A"/>
                </a:solidFill>
                <a:latin typeface="Aptos"/>
                <a:ea typeface="Aptos"/>
                <a:cs typeface="Aptos"/>
              </a:rPr>
              <a:t>7.64</a:t>
            </a:r>
          </a:p>
        </p:txBody>
      </p:sp>
      <p:sp>
        <p:nvSpPr>
          <p:cNvPr id="23" name="">
            <a:extLst xmlns:a="http://schemas.openxmlformats.org/drawingml/2006/main">
              <a:ext uri="{FF2B5EF4-FFF2-40B4-BE49-F238E27FC236}">
                <a16:creationId xmlns:a16="http://schemas.microsoft.com/office/drawing/2014/main" id="{3F2FDDF7-2C0E-4D2B-9194-7267CF3B0DE5}"/>
              </a:ext>
            </a:extLst>
          </p:cNvPr>
          <p:cNvSpPr>
            <a:spLocks xmlns:a="http://schemas.openxmlformats.org/drawingml/2006/main" noGrp="1"/>
          </p:cNvSpPr>
          <p:nvPr/>
        </p:nvSpPr>
        <p:spPr>
          <a:xfrm xmlns:a="http://schemas.openxmlformats.org/drawingml/2006/main">
            <a:off x="4381500" y="3876675"/>
            <a:ext cx="552450" cy="619125"/>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4" name="">
            <a:extLst xmlns:a="http://schemas.openxmlformats.org/drawingml/2006/main">
              <a:ext uri="{FF2B5EF4-FFF2-40B4-BE49-F238E27FC236}">
                <a16:creationId xmlns:a16="http://schemas.microsoft.com/office/drawing/2014/main" id="{3607E1B8-A0DF-4716-B51D-A8497A10D949}"/>
              </a:ext>
            </a:extLst>
          </p:cNvPr>
          <p:cNvSpPr>
            <a:spLocks xmlns:a="http://schemas.openxmlformats.org/drawingml/2006/main" noGrp="1"/>
          </p:cNvSpPr>
          <p:nvPr/>
        </p:nvSpPr>
        <p:spPr>
          <a:xfrm xmlns:a="http://schemas.openxmlformats.org/drawingml/2006/main">
            <a:off x="4191000" y="4648200"/>
            <a:ext cx="9144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705" b="0">
                <a:solidFill>
                  <a:srgbClr val="24313A"/>
                </a:solidFill>
                <a:latin typeface="Aptos"/>
                <a:ea typeface="Aptos"/>
                <a:cs typeface="Aptos"/>
              </a:defRPr>
            </a:pPr>
            <a:r>
              <a:rPr sz="705" b="0">
                <a:solidFill>
                  <a:srgbClr val="24313A"/>
                </a:solidFill>
                <a:latin typeface="Aptos"/>
                <a:ea typeface="Aptos"/>
                <a:cs typeface="Aptos"/>
              </a:rPr>
              <a:t>Acute LBP vs diclofenac</a:t>
            </a:r>
          </a:p>
        </p:txBody>
      </p:sp>
      <p:sp>
        <p:nvSpPr>
          <p:cNvPr id="25" name="">
            <a:extLst xmlns:a="http://schemas.openxmlformats.org/drawingml/2006/main">
              <a:ext uri="{FF2B5EF4-FFF2-40B4-BE49-F238E27FC236}">
                <a16:creationId xmlns:a16="http://schemas.microsoft.com/office/drawing/2014/main" id="{09BE7ABC-0397-44FF-B791-1D22718EEE8A}"/>
              </a:ext>
            </a:extLst>
          </p:cNvPr>
          <p:cNvSpPr>
            <a:spLocks xmlns:a="http://schemas.openxmlformats.org/drawingml/2006/main" noGrp="1"/>
          </p:cNvSpPr>
          <p:nvPr/>
        </p:nvSpPr>
        <p:spPr>
          <a:xfrm xmlns:a="http://schemas.openxmlformats.org/drawingml/2006/main">
            <a:off x="4286250" y="3629025"/>
            <a:ext cx="7239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788" b="1">
                <a:solidFill>
                  <a:srgbClr val="24313A"/>
                </a:solidFill>
                <a:latin typeface="Aptos"/>
                <a:ea typeface="Aptos"/>
                <a:cs typeface="Aptos"/>
              </a:defRPr>
            </a:pPr>
            <a:r>
              <a:rPr sz="788" b="1">
                <a:solidFill>
                  <a:srgbClr val="24313A"/>
                </a:solidFill>
                <a:latin typeface="Aptos"/>
                <a:ea typeface="Aptos"/>
                <a:cs typeface="Aptos"/>
              </a:rPr>
              <a:t>61.6</a:t>
            </a:r>
          </a:p>
        </p:txBody>
      </p:sp>
      <p:sp>
        <p:nvSpPr>
          <p:cNvPr id="26" name="">
            <a:extLst xmlns:a="http://schemas.openxmlformats.org/drawingml/2006/main">
              <a:ext uri="{FF2B5EF4-FFF2-40B4-BE49-F238E27FC236}">
                <a16:creationId xmlns:a16="http://schemas.microsoft.com/office/drawing/2014/main" id="{A7016090-FC53-4DF5-AC83-8C88D6876A56}"/>
              </a:ext>
            </a:extLst>
          </p:cNvPr>
          <p:cNvSpPr>
            <a:spLocks xmlns:a="http://schemas.openxmlformats.org/drawingml/2006/main" noGrp="1"/>
          </p:cNvSpPr>
          <p:nvPr/>
        </p:nvSpPr>
        <p:spPr>
          <a:xfrm xmlns:a="http://schemas.openxmlformats.org/drawingml/2006/main">
            <a:off x="7239000" y="4324350"/>
            <a:ext cx="552450" cy="171450"/>
          </a:xfrm>
          <a:prstGeom xmlns:a="http://schemas.openxmlformats.org/drawingml/2006/main" prst="rect">
            <a:avLst/>
          </a:prstGeom>
          <a:solidFill xmlns:a="http://schemas.openxmlformats.org/drawingml/2006/main">
            <a:srgbClr val="E6F4EA"/>
          </a:solidFill>
          <a:ln xmlns:a="http://schemas.openxmlformats.org/drawingml/2006/main" w="0">
            <a:solidFill>
              <a:srgbClr val="E6F4EA"/>
            </a:solidFill>
            <a:prstDash val="solid"/>
          </a:ln>
        </p:spPr>
      </p:sp>
      <p:sp>
        <p:nvSpPr>
          <p:cNvPr id="27" name="">
            <a:extLst xmlns:a="http://schemas.openxmlformats.org/drawingml/2006/main">
              <a:ext uri="{FF2B5EF4-FFF2-40B4-BE49-F238E27FC236}">
                <a16:creationId xmlns:a16="http://schemas.microsoft.com/office/drawing/2014/main" id="{D60FF01F-5735-4EF9-BD31-E446D3EA8B63}"/>
              </a:ext>
            </a:extLst>
          </p:cNvPr>
          <p:cNvSpPr>
            <a:spLocks xmlns:a="http://schemas.openxmlformats.org/drawingml/2006/main" noGrp="1"/>
          </p:cNvSpPr>
          <p:nvPr/>
        </p:nvSpPr>
        <p:spPr>
          <a:xfrm xmlns:a="http://schemas.openxmlformats.org/drawingml/2006/main">
            <a:off x="7048500" y="4648200"/>
            <a:ext cx="9144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705" b="0">
                <a:solidFill>
                  <a:srgbClr val="24313A"/>
                </a:solidFill>
                <a:latin typeface="Aptos"/>
                <a:ea typeface="Aptos"/>
                <a:cs typeface="Aptos"/>
              </a:defRPr>
            </a:pPr>
            <a:r>
              <a:rPr sz="705" b="0">
                <a:solidFill>
                  <a:srgbClr val="24313A"/>
                </a:solidFill>
                <a:latin typeface="Aptos"/>
                <a:ea typeface="Aptos"/>
                <a:cs typeface="Aptos"/>
              </a:rPr>
              <a:t>Knee OA CR vs IR</a:t>
            </a:r>
          </a:p>
        </p:txBody>
      </p:sp>
      <p:sp>
        <p:nvSpPr>
          <p:cNvPr id="28" name="">
            <a:extLst xmlns:a="http://schemas.openxmlformats.org/drawingml/2006/main">
              <a:ext uri="{FF2B5EF4-FFF2-40B4-BE49-F238E27FC236}">
                <a16:creationId xmlns:a16="http://schemas.microsoft.com/office/drawing/2014/main" id="{1A61B0E7-D9BF-445B-ACD7-800231E40026}"/>
              </a:ext>
            </a:extLst>
          </p:cNvPr>
          <p:cNvSpPr>
            <a:spLocks xmlns:a="http://schemas.openxmlformats.org/drawingml/2006/main" noGrp="1"/>
          </p:cNvSpPr>
          <p:nvPr/>
        </p:nvSpPr>
        <p:spPr>
          <a:xfrm xmlns:a="http://schemas.openxmlformats.org/drawingml/2006/main">
            <a:off x="7143750" y="4076700"/>
            <a:ext cx="7239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788" b="1">
                <a:solidFill>
                  <a:srgbClr val="24313A"/>
                </a:solidFill>
                <a:latin typeface="Aptos"/>
                <a:ea typeface="Aptos"/>
                <a:cs typeface="Aptos"/>
              </a:defRPr>
            </a:pPr>
            <a:r>
              <a:rPr sz="788" b="1">
                <a:solidFill>
                  <a:srgbClr val="24313A"/>
                </a:solidFill>
                <a:latin typeface="Aptos"/>
                <a:ea typeface="Aptos"/>
                <a:cs typeface="Aptos"/>
              </a:rPr>
              <a:t>15.7</a:t>
            </a:r>
          </a:p>
        </p:txBody>
      </p:sp>
    </p:spTree>
    <p:extLst>
      <p:ext uri="{BB962C8B-B14F-4D97-AF65-F5344CB8AC3E}">
        <p14:creationId xmlns:p14="http://schemas.microsoft.com/office/powerpoint/2010/main" val="17568127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0018228-CE54-4FE5-B177-515369545DE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8643F9FB-F782-4DF1-948B-3C63F823BAA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C997DE0E-566B-4B31-A1A9-C011CF8D06CC}"/>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Rheumatoid arthritis and inflammatory arthritis evidence</a:t>
            </a:r>
          </a:p>
        </p:txBody>
      </p:sp>
      <p:sp>
        <p:nvSpPr>
          <p:cNvPr id="4" name="">
            <a:extLst xmlns:a="http://schemas.openxmlformats.org/drawingml/2006/main">
              <a:ext uri="{FF2B5EF4-FFF2-40B4-BE49-F238E27FC236}">
                <a16:creationId xmlns:a16="http://schemas.microsoft.com/office/drawing/2014/main" id="{B4B94A95-9688-4D86-B226-4767E45CF2EB}"/>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Aceclofenac can earn its keep on the symptom side of the rheumatoid arthritis conversation.</a:t>
            </a:r>
          </a:p>
        </p:txBody>
      </p:sp>
      <p:sp>
        <p:nvSpPr>
          <p:cNvPr id="5" name="">
            <a:extLst xmlns:a="http://schemas.openxmlformats.org/drawingml/2006/main">
              <a:ext uri="{FF2B5EF4-FFF2-40B4-BE49-F238E27FC236}">
                <a16:creationId xmlns:a16="http://schemas.microsoft.com/office/drawing/2014/main" id="{D9486118-CEF4-4876-8BEE-17E73388F56B}"/>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5D88372A-463F-4627-8E04-EDE20A2BF82C}"/>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8853164; PMC8643213</a:t>
            </a:r>
          </a:p>
        </p:txBody>
      </p:sp>
      <p:sp>
        <p:nvSpPr>
          <p:cNvPr id="7" name="">
            <a:extLst xmlns:a="http://schemas.openxmlformats.org/drawingml/2006/main">
              <a:ext uri="{FF2B5EF4-FFF2-40B4-BE49-F238E27FC236}">
                <a16:creationId xmlns:a16="http://schemas.microsoft.com/office/drawing/2014/main" id="{090EFBD4-371B-467F-86A2-0C9B28719A1C}"/>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9/25</a:t>
            </a:r>
          </a:p>
        </p:txBody>
      </p:sp>
      <p:sp>
        <p:nvSpPr>
          <p:cNvPr id="8" name="">
            <a:extLst xmlns:a="http://schemas.openxmlformats.org/drawingml/2006/main">
              <a:ext uri="{FF2B5EF4-FFF2-40B4-BE49-F238E27FC236}">
                <a16:creationId xmlns:a16="http://schemas.microsoft.com/office/drawing/2014/main" id="{83AA2884-6992-454B-963F-2E46F64A69AD}"/>
              </a:ext>
            </a:extLst>
          </p:cNvPr>
          <p:cNvSpPr>
            <a:spLocks xmlns:a="http://schemas.openxmlformats.org/drawingml/2006/main" noGrp="1"/>
          </p:cNvSpPr>
          <p:nvPr/>
        </p:nvSpPr>
        <p:spPr>
          <a:xfrm xmlns:a="http://schemas.openxmlformats.org/drawingml/2006/main">
            <a:off x="609600" y="1485900"/>
            <a:ext cx="3390900" cy="1638300"/>
          </a:xfrm>
          <a:prstGeom xmlns:a="http://schemas.openxmlformats.org/drawingml/2006/main" prst="roundRect">
            <a:avLst>
              <a:gd name="adj" fmla="val 4651"/>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92E33BC4-4B87-4AB2-A6EB-6472295C0E03}"/>
              </a:ext>
            </a:extLst>
          </p:cNvPr>
          <p:cNvSpPr>
            <a:spLocks xmlns:a="http://schemas.openxmlformats.org/drawingml/2006/main" noGrp="1"/>
          </p:cNvSpPr>
          <p:nvPr/>
        </p:nvSpPr>
        <p:spPr>
          <a:xfrm xmlns:a="http://schemas.openxmlformats.org/drawingml/2006/main">
            <a:off x="742950" y="1600200"/>
            <a:ext cx="31242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RA trial signal</a:t>
            </a:r>
          </a:p>
        </p:txBody>
      </p:sp>
      <p:sp>
        <p:nvSpPr>
          <p:cNvPr id="10" name="">
            <a:extLst xmlns:a="http://schemas.openxmlformats.org/drawingml/2006/main">
              <a:ext uri="{FF2B5EF4-FFF2-40B4-BE49-F238E27FC236}">
                <a16:creationId xmlns:a16="http://schemas.microsoft.com/office/drawing/2014/main" id="{70D25368-E94B-4A49-8E77-518F1B1563BA}"/>
              </a:ext>
            </a:extLst>
          </p:cNvPr>
          <p:cNvSpPr>
            <a:spLocks xmlns:a="http://schemas.openxmlformats.org/drawingml/2006/main" noGrp="1"/>
          </p:cNvSpPr>
          <p:nvPr/>
        </p:nvSpPr>
        <p:spPr>
          <a:xfrm xmlns:a="http://schemas.openxmlformats.org/drawingml/2006/main">
            <a:off x="742950" y="1885950"/>
            <a:ext cx="3124200" cy="11430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48" b="0">
                <a:solidFill>
                  <a:srgbClr val="24313A"/>
                </a:solidFill>
                <a:latin typeface="Aptos"/>
                <a:ea typeface="Aptos"/>
                <a:cs typeface="Aptos"/>
              </a:defRPr>
            </a:pPr>
            <a:r>
              <a:rPr sz="848" b="0">
                <a:solidFill>
                  <a:srgbClr val="24313A"/>
                </a:solidFill>
                <a:latin typeface="Aptos"/>
                <a:ea typeface="Aptos"/>
                <a:cs typeface="Aptos"/>
              </a:rPr>
              <a:t>In a multicentre double-blind study, aceclofenac 100 mg twice daily improved the Ritchie articular index, morning stiffness, joint swelling, functional class, and pain.</a:t>
            </a:r>
          </a:p>
        </p:txBody>
      </p:sp>
      <p:sp>
        <p:nvSpPr>
          <p:cNvPr id="11" name="">
            <a:extLst xmlns:a="http://schemas.openxmlformats.org/drawingml/2006/main">
              <a:ext uri="{FF2B5EF4-FFF2-40B4-BE49-F238E27FC236}">
                <a16:creationId xmlns:a16="http://schemas.microsoft.com/office/drawing/2014/main" id="{0EE8565C-CACF-4E91-92D7-5DF81A321BB5}"/>
              </a:ext>
            </a:extLst>
          </p:cNvPr>
          <p:cNvSpPr>
            <a:spLocks xmlns:a="http://schemas.openxmlformats.org/drawingml/2006/main" noGrp="1"/>
          </p:cNvSpPr>
          <p:nvPr/>
        </p:nvSpPr>
        <p:spPr>
          <a:xfrm xmlns:a="http://schemas.openxmlformats.org/drawingml/2006/main">
            <a:off x="4229100" y="1485900"/>
            <a:ext cx="3390900" cy="1638300"/>
          </a:xfrm>
          <a:prstGeom xmlns:a="http://schemas.openxmlformats.org/drawingml/2006/main" prst="roundRect">
            <a:avLst>
              <a:gd name="adj" fmla="val 4651"/>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07290E77-AFA6-460C-A13E-B6816127BBE1}"/>
              </a:ext>
            </a:extLst>
          </p:cNvPr>
          <p:cNvSpPr>
            <a:spLocks xmlns:a="http://schemas.openxmlformats.org/drawingml/2006/main" noGrp="1"/>
          </p:cNvSpPr>
          <p:nvPr/>
        </p:nvSpPr>
        <p:spPr>
          <a:xfrm xmlns:a="http://schemas.openxmlformats.org/drawingml/2006/main">
            <a:off x="4362450" y="1600200"/>
            <a:ext cx="31242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Clinical meaning</a:t>
            </a:r>
          </a:p>
        </p:txBody>
      </p:sp>
      <p:sp>
        <p:nvSpPr>
          <p:cNvPr id="13" name="">
            <a:extLst xmlns:a="http://schemas.openxmlformats.org/drawingml/2006/main">
              <a:ext uri="{FF2B5EF4-FFF2-40B4-BE49-F238E27FC236}">
                <a16:creationId xmlns:a16="http://schemas.microsoft.com/office/drawing/2014/main" id="{722E5604-D5E2-4DCD-A8E9-A9FA566D21F9}"/>
              </a:ext>
            </a:extLst>
          </p:cNvPr>
          <p:cNvSpPr>
            <a:spLocks xmlns:a="http://schemas.openxmlformats.org/drawingml/2006/main" noGrp="1"/>
          </p:cNvSpPr>
          <p:nvPr/>
        </p:nvSpPr>
        <p:spPr>
          <a:xfrm xmlns:a="http://schemas.openxmlformats.org/drawingml/2006/main">
            <a:off x="4362450" y="1885950"/>
            <a:ext cx="3124200" cy="11430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48" b="0">
                <a:solidFill>
                  <a:srgbClr val="24313A"/>
                </a:solidFill>
                <a:latin typeface="Aptos"/>
                <a:ea typeface="Aptos"/>
                <a:cs typeface="Aptos"/>
              </a:defRPr>
            </a:pPr>
            <a:r>
              <a:rPr sz="848" b="0">
                <a:solidFill>
                  <a:srgbClr val="24313A"/>
                </a:solidFill>
                <a:latin typeface="Aptos"/>
                <a:ea typeface="Aptos"/>
                <a:cs typeface="Aptos"/>
              </a:rPr>
              <a:t>The slide should make clear that symptom relief can be meaningful even when the disease mechanism needs DMARD-based control.</a:t>
            </a:r>
          </a:p>
        </p:txBody>
      </p:sp>
      <p:sp>
        <p:nvSpPr>
          <p:cNvPr id="14" name="">
            <a:extLst xmlns:a="http://schemas.openxmlformats.org/drawingml/2006/main">
              <a:ext uri="{FF2B5EF4-FFF2-40B4-BE49-F238E27FC236}">
                <a16:creationId xmlns:a16="http://schemas.microsoft.com/office/drawing/2014/main" id="{85A5B8A1-AA58-4B53-859F-890C41FE63F1}"/>
              </a:ext>
            </a:extLst>
          </p:cNvPr>
          <p:cNvSpPr>
            <a:spLocks xmlns:a="http://schemas.openxmlformats.org/drawingml/2006/main" noGrp="1"/>
          </p:cNvSpPr>
          <p:nvPr/>
        </p:nvSpPr>
        <p:spPr>
          <a:xfrm xmlns:a="http://schemas.openxmlformats.org/drawingml/2006/main">
            <a:off x="7848600" y="1485900"/>
            <a:ext cx="3733800" cy="1638300"/>
          </a:xfrm>
          <a:prstGeom xmlns:a="http://schemas.openxmlformats.org/drawingml/2006/main" prst="roundRect">
            <a:avLst>
              <a:gd name="adj" fmla="val 4651"/>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59E91E64-81BB-4C76-98CB-4E015CEB94AC}"/>
              </a:ext>
            </a:extLst>
          </p:cNvPr>
          <p:cNvSpPr>
            <a:spLocks xmlns:a="http://schemas.openxmlformats.org/drawingml/2006/main" noGrp="1"/>
          </p:cNvSpPr>
          <p:nvPr/>
        </p:nvSpPr>
        <p:spPr>
          <a:xfrm xmlns:a="http://schemas.openxmlformats.org/drawingml/2006/main">
            <a:off x="7981950" y="1600200"/>
            <a:ext cx="34671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Place in the conversation</a:t>
            </a:r>
          </a:p>
        </p:txBody>
      </p:sp>
      <p:sp>
        <p:nvSpPr>
          <p:cNvPr id="16" name="">
            <a:extLst xmlns:a="http://schemas.openxmlformats.org/drawingml/2006/main">
              <a:ext uri="{FF2B5EF4-FFF2-40B4-BE49-F238E27FC236}">
                <a16:creationId xmlns:a16="http://schemas.microsoft.com/office/drawing/2014/main" id="{EE3A8923-AD33-4968-8207-049D0A439D63}"/>
              </a:ext>
            </a:extLst>
          </p:cNvPr>
          <p:cNvSpPr>
            <a:spLocks xmlns:a="http://schemas.openxmlformats.org/drawingml/2006/main" noGrp="1"/>
          </p:cNvSpPr>
          <p:nvPr/>
        </p:nvSpPr>
        <p:spPr>
          <a:xfrm xmlns:a="http://schemas.openxmlformats.org/drawingml/2006/main">
            <a:off x="7981950" y="1885950"/>
            <a:ext cx="3467100" cy="11430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48" b="0">
                <a:solidFill>
                  <a:srgbClr val="24313A"/>
                </a:solidFill>
                <a:latin typeface="Aptos"/>
                <a:ea typeface="Aptos"/>
                <a:cs typeface="Aptos"/>
              </a:defRPr>
            </a:pPr>
            <a:r>
              <a:rPr sz="848" b="0">
                <a:solidFill>
                  <a:srgbClr val="24313A"/>
                </a:solidFill>
                <a:latin typeface="Aptos"/>
                <a:ea typeface="Aptos"/>
                <a:cs typeface="Aptos"/>
              </a:rPr>
              <a:t>The NSAID gives practical relief, then the disease-specific plan continues separately.</a:t>
            </a:r>
          </a:p>
        </p:txBody>
      </p:sp>
      <p:sp>
        <p:nvSpPr>
          <p:cNvPr id="17" name="">
            <a:extLst xmlns:a="http://schemas.openxmlformats.org/drawingml/2006/main">
              <a:ext uri="{FF2B5EF4-FFF2-40B4-BE49-F238E27FC236}">
                <a16:creationId xmlns:a16="http://schemas.microsoft.com/office/drawing/2014/main" id="{714E33CA-E6EB-4F1E-9203-4904036F207A}"/>
              </a:ext>
            </a:extLst>
          </p:cNvPr>
          <p:cNvSpPr>
            <a:spLocks xmlns:a="http://schemas.openxmlformats.org/drawingml/2006/main" noGrp="1"/>
          </p:cNvSpPr>
          <p:nvPr/>
        </p:nvSpPr>
        <p:spPr>
          <a:xfrm xmlns:a="http://schemas.openxmlformats.org/drawingml/2006/main">
            <a:off x="914400" y="3638550"/>
            <a:ext cx="1036320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998" b="0">
                <a:solidFill>
                  <a:srgbClr val="24313A"/>
                </a:solidFill>
                <a:latin typeface="Aptos"/>
                <a:ea typeface="Aptos"/>
                <a:cs typeface="Aptos"/>
              </a:defRPr>
            </a:pPr>
            <a:r>
              <a:rPr sz="998" b="0">
                <a:solidFill>
                  <a:srgbClr val="24313A"/>
                </a:solidFill>
                <a:latin typeface="Aptos"/>
                <a:ea typeface="Aptos"/>
                <a:cs typeface="Aptos"/>
              </a:rPr>
              <a:t>- This evidence belongs to symptomatic control, not disease modification.</a:t>
            </a:r>
          </a:p>
          <a:p xmlns:a="http://schemas.openxmlformats.org/drawingml/2006/main">
            <a:r>
              <a:t/>
            </a:r>
          </a:p>
          <a:p xmlns:a="http://schemas.openxmlformats.org/drawingml/2006/main">
            <a:pPr algn="l">
              <a:defRPr sz="998" b="0">
                <a:solidFill>
                  <a:srgbClr val="24313A"/>
                </a:solidFill>
                <a:latin typeface="Aptos"/>
                <a:ea typeface="Aptos"/>
                <a:cs typeface="Aptos"/>
              </a:defRPr>
            </a:pPr>
            <a:r>
              <a:rPr sz="998" b="0">
                <a:solidFill>
                  <a:srgbClr val="24313A"/>
                </a:solidFill>
                <a:latin typeface="Aptos"/>
                <a:ea typeface="Aptos"/>
                <a:cs typeface="Aptos"/>
              </a:rPr>
              <a:t>- Choice still depends on GI, renal, cardiovascular, and bleeding risk.</a:t>
            </a:r>
          </a:p>
          <a:p xmlns:a="http://schemas.openxmlformats.org/drawingml/2006/main">
            <a:r>
              <a:t/>
            </a:r>
          </a:p>
          <a:p xmlns:a="http://schemas.openxmlformats.org/drawingml/2006/main">
            <a:pPr algn="l">
              <a:defRPr sz="998" b="0">
                <a:solidFill>
                  <a:srgbClr val="24313A"/>
                </a:solidFill>
                <a:latin typeface="Aptos"/>
                <a:ea typeface="Aptos"/>
                <a:cs typeface="Aptos"/>
              </a:defRPr>
            </a:pPr>
            <a:r>
              <a:rPr sz="998" b="0">
                <a:solidFill>
                  <a:srgbClr val="24313A"/>
                </a:solidFill>
                <a:latin typeface="Aptos"/>
                <a:ea typeface="Aptos"/>
                <a:cs typeface="Aptos"/>
              </a:rPr>
              <a:t>- If the patient needs DMARD escalation, the NSAID does not replace that discussion.</a:t>
            </a:r>
          </a:p>
        </p:txBody>
      </p:sp>
    </p:spTree>
    <p:extLst>
      <p:ext uri="{BB962C8B-B14F-4D97-AF65-F5344CB8AC3E}">
        <p14:creationId xmlns:p14="http://schemas.microsoft.com/office/powerpoint/2010/main" val="17580238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34B388-3483-46EF-90C6-C1DC9F768B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872EAE6-B35C-41F8-B1FA-6D8FE04F2C4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773D2CDC-C27F-445F-9469-7707BC2E067A}"/>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Axial disease and acute low back pain</a:t>
            </a:r>
          </a:p>
        </p:txBody>
      </p:sp>
      <p:sp>
        <p:nvSpPr>
          <p:cNvPr id="4" name="">
            <a:extLst xmlns:a="http://schemas.openxmlformats.org/drawingml/2006/main">
              <a:ext uri="{FF2B5EF4-FFF2-40B4-BE49-F238E27FC236}">
                <a16:creationId xmlns:a16="http://schemas.microsoft.com/office/drawing/2014/main" id="{7FCBE0ED-DC89-4E0A-B153-8CE7F93E5879}"/>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NSAIDs remain first-line symptom therapy in many axial pain settings, but they do not change the underlying disease course.</a:t>
            </a:r>
          </a:p>
        </p:txBody>
      </p:sp>
      <p:sp>
        <p:nvSpPr>
          <p:cNvPr id="5" name="">
            <a:extLst xmlns:a="http://schemas.openxmlformats.org/drawingml/2006/main">
              <a:ext uri="{FF2B5EF4-FFF2-40B4-BE49-F238E27FC236}">
                <a16:creationId xmlns:a16="http://schemas.microsoft.com/office/drawing/2014/main" id="{714679F7-A420-44B1-A495-353F9D111DBC}"/>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6BED332F-AE0C-4D56-9F4D-A1354F6E3A4C}"/>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26186173; PubMed 12740678; PubMed 36647880</a:t>
            </a:r>
          </a:p>
        </p:txBody>
      </p:sp>
      <p:sp>
        <p:nvSpPr>
          <p:cNvPr id="7" name="">
            <a:extLst xmlns:a="http://schemas.openxmlformats.org/drawingml/2006/main">
              <a:ext uri="{FF2B5EF4-FFF2-40B4-BE49-F238E27FC236}">
                <a16:creationId xmlns:a16="http://schemas.microsoft.com/office/drawing/2014/main" id="{3809DBED-3B64-4835-ADE1-3492F342FA80}"/>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10/25</a:t>
            </a:r>
          </a:p>
        </p:txBody>
      </p:sp>
      <p:graphicFrame>
        <p:nvGraphicFramePr>
          <p:cNvPr id="8" name=""/>
          <p:cNvGraphicFramePr/>
          <p:nvPr/>
        </p:nvGraphicFramePr>
        <p:xfrm>
          <a:off xmlns:a="http://schemas.openxmlformats.org/drawingml/2006/main" x="609600" y="1485900"/>
          <a:ext xmlns:a="http://schemas.openxmlformats.org/drawingml/2006/main" cx="7200900" cy="2724150"/>
        </p:xfrm>
        <a:graphic xmlns:a="http://schemas.openxmlformats.org/drawingml/2006/main">
          <a:graphicData uri="http://schemas.openxmlformats.org/drawingml/2006/table">
            <a:tbl>
              <a:tblPr/>
              <a:tblGrid>
                <a:gridCol w="1584198"/>
                <a:gridCol w="5616702"/>
              </a:tblGrid>
              <a:tr h="454025">
                <a:tc>
                  <a:txBody>
                    <a:bodyPr/>
                    <a:lstStyle/>
                    <a:p>
                      <a:r>
                        <a:rPr sz="750" b="1">
                          <a:solidFill>
                            <a:srgbClr val="FFFFFF"/>
                          </a:solidFill>
                          <a:latin typeface="Aptos"/>
                          <a:ea typeface="Aptos"/>
                          <a:cs typeface="Aptos"/>
                        </a:rPr>
                        <a:t>Question</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Evidence anchor</a:t>
                      </a:r>
                    </a:p>
                  </a:txBody>
                  <a:tcPr marL="91440" marR="91440" marT="45720" marB="45720">
                    <a:lnB w="9525">
                      <a:solidFill>
                        <a:srgbClr val="FFFFFF"/>
                      </a:solidFill>
                    </a:lnB>
                    <a:solidFill>
                      <a:srgbClr val="16324F"/>
                    </a:solidFill>
                  </a:tcPr>
                </a:tc>
              </a:tr>
              <a:tr h="454025">
                <a:tc>
                  <a:txBody>
                    <a:bodyPr/>
                    <a:lstStyle/>
                    <a:p>
                      <a:r>
                        <a:t>What do NSAIDs do?</a:t>
                      </a:r>
                    </a:p>
                  </a:txBody>
                  <a:tcPr marL="91440" marR="91440" marT="45720" marB="45720"/>
                </a:tc>
                <a:tc>
                  <a:txBody>
                    <a:bodyPr/>
                    <a:lstStyle/>
                    <a:p>
                      <a:r>
                        <a:t>Improve pain and function in axial spondyloarthritis / inflammatory back pain</a:t>
                      </a:r>
                    </a:p>
                  </a:txBody>
                  <a:tcPr marL="91440" marR="91440" marT="45720" marB="45720"/>
                </a:tc>
              </a:tr>
              <a:tr h="454025">
                <a:tc>
                  <a:txBody>
                    <a:bodyPr/>
                    <a:lstStyle/>
                    <a:p>
                      <a:r>
                        <a:t>How large is the effect?</a:t>
                      </a:r>
                    </a:p>
                  </a:txBody>
                  <a:tcPr marL="91440" marR="91440" marT="45720" marB="45720"/>
                </a:tc>
                <a:tc>
                  <a:txBody>
                    <a:bodyPr/>
                    <a:lstStyle/>
                    <a:p>
                      <a:r>
                        <a:t>Guideline-level evidence shows meaningful pain relief and functional benefit in the class</a:t>
                      </a:r>
                    </a:p>
                  </a:txBody>
                  <a:tcPr marL="91440" marR="91440" marT="45720" marB="45720"/>
                </a:tc>
              </a:tr>
              <a:tr h="454025">
                <a:tc>
                  <a:txBody>
                    <a:bodyPr/>
                    <a:lstStyle/>
                    <a:p>
                      <a:r>
                        <a:t>What is the limitation?</a:t>
                      </a:r>
                    </a:p>
                  </a:txBody>
                  <a:tcPr marL="91440" marR="91440" marT="45720" marB="45720"/>
                </a:tc>
                <a:tc>
                  <a:txBody>
                    <a:bodyPr/>
                    <a:lstStyle/>
                    <a:p>
                      <a:r>
                        <a:t>NSAIDs do not alter radiographic progression in a dependable way</a:t>
                      </a:r>
                    </a:p>
                  </a:txBody>
                  <a:tcPr marL="91440" marR="91440" marT="45720" marB="45720"/>
                </a:tc>
              </a:tr>
              <a:tr h="454025">
                <a:tc>
                  <a:txBody>
                    <a:bodyPr/>
                    <a:lstStyle/>
                    <a:p>
                      <a:r>
                        <a:t>What about acute low back pain?</a:t>
                      </a:r>
                    </a:p>
                  </a:txBody>
                  <a:tcPr marL="91440" marR="91440" marT="45720" marB="45720"/>
                </a:tc>
                <a:tc>
                  <a:txBody>
                    <a:bodyPr/>
                    <a:lstStyle/>
                    <a:p>
                      <a:r>
                        <a:t>Short-term trial data support symptomatic use where appropriate</a:t>
                      </a:r>
                    </a:p>
                  </a:txBody>
                  <a:tcPr marL="91440" marR="91440" marT="45720" marB="45720"/>
                </a:tc>
              </a:tr>
              <a:tr h="454025">
                <a:tc>
                  <a:txBody>
                    <a:bodyPr/>
                    <a:lstStyle/>
                    <a:p>
                      <a:r>
                        <a:t>What should clinicians remember?</a:t>
                      </a:r>
                    </a:p>
                  </a:txBody>
                  <a:tcPr marL="91440" marR="91440" marT="45720" marB="45720"/>
                </a:tc>
                <a:tc>
                  <a:txBody>
                    <a:bodyPr/>
                    <a:lstStyle/>
                    <a:p>
                      <a:r>
                        <a:t>Pain relief is the target; patient risk stratification still drives the choice</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0E75034A-EEEA-4766-9091-ADDC45159E97}"/>
              </a:ext>
            </a:extLst>
          </p:cNvPr>
          <p:cNvSpPr>
            <a:spLocks xmlns:a="http://schemas.openxmlformats.org/drawingml/2006/main" noGrp="1"/>
          </p:cNvSpPr>
          <p:nvPr/>
        </p:nvSpPr>
        <p:spPr>
          <a:xfrm xmlns:a="http://schemas.openxmlformats.org/drawingml/2006/main">
            <a:off x="8115300" y="1524000"/>
            <a:ext cx="3467100" cy="1238250"/>
          </a:xfrm>
          <a:prstGeom xmlns:a="http://schemas.openxmlformats.org/drawingml/2006/main" prst="roundRect">
            <a:avLst>
              <a:gd name="adj" fmla="val 6154"/>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CE6F28CE-FA46-45A1-8641-5A728DFF6AF0}"/>
              </a:ext>
            </a:extLst>
          </p:cNvPr>
          <p:cNvSpPr>
            <a:spLocks xmlns:a="http://schemas.openxmlformats.org/drawingml/2006/main" noGrp="1"/>
          </p:cNvSpPr>
          <p:nvPr/>
        </p:nvSpPr>
        <p:spPr>
          <a:xfrm xmlns:a="http://schemas.openxmlformats.org/drawingml/2006/main">
            <a:off x="8248650" y="1638300"/>
            <a:ext cx="32004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Balanced message</a:t>
            </a:r>
          </a:p>
        </p:txBody>
      </p:sp>
      <p:sp>
        <p:nvSpPr>
          <p:cNvPr id="11" name="">
            <a:extLst xmlns:a="http://schemas.openxmlformats.org/drawingml/2006/main">
              <a:ext uri="{FF2B5EF4-FFF2-40B4-BE49-F238E27FC236}">
                <a16:creationId xmlns:a16="http://schemas.microsoft.com/office/drawing/2014/main" id="{FA014EDA-5691-4DA1-8F25-998A489D2158}"/>
              </a:ext>
            </a:extLst>
          </p:cNvPr>
          <p:cNvSpPr>
            <a:spLocks xmlns:a="http://schemas.openxmlformats.org/drawingml/2006/main" noGrp="1"/>
          </p:cNvSpPr>
          <p:nvPr/>
        </p:nvSpPr>
        <p:spPr>
          <a:xfrm xmlns:a="http://schemas.openxmlformats.org/drawingml/2006/main">
            <a:off x="8248650" y="1924050"/>
            <a:ext cx="3200400" cy="7429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0" b="0">
                <a:solidFill>
                  <a:srgbClr val="24313A"/>
                </a:solidFill>
                <a:latin typeface="Aptos"/>
                <a:ea typeface="Aptos"/>
                <a:cs typeface="Aptos"/>
              </a:defRPr>
            </a:pPr>
            <a:r>
              <a:rPr sz="870" b="0">
                <a:solidFill>
                  <a:srgbClr val="24313A"/>
                </a:solidFill>
                <a:latin typeface="Aptos"/>
                <a:ea typeface="Aptos"/>
                <a:cs typeface="Aptos"/>
              </a:rPr>
              <a:t>The science supports symptom relief, but it does not justify disease-modifying language.</a:t>
            </a:r>
          </a:p>
        </p:txBody>
      </p:sp>
      <p:sp>
        <p:nvSpPr>
          <p:cNvPr id="12" name="">
            <a:extLst xmlns:a="http://schemas.openxmlformats.org/drawingml/2006/main">
              <a:ext uri="{FF2B5EF4-FFF2-40B4-BE49-F238E27FC236}">
                <a16:creationId xmlns:a16="http://schemas.microsoft.com/office/drawing/2014/main" id="{038EB0E6-227D-48B3-BCC2-E3F79F81C7D7}"/>
              </a:ext>
            </a:extLst>
          </p:cNvPr>
          <p:cNvSpPr>
            <a:spLocks xmlns:a="http://schemas.openxmlformats.org/drawingml/2006/main" noGrp="1"/>
          </p:cNvSpPr>
          <p:nvPr/>
        </p:nvSpPr>
        <p:spPr>
          <a:xfrm xmlns:a="http://schemas.openxmlformats.org/drawingml/2006/main">
            <a:off x="8115300" y="2990850"/>
            <a:ext cx="3467100" cy="1219200"/>
          </a:xfrm>
          <a:prstGeom xmlns:a="http://schemas.openxmlformats.org/drawingml/2006/main" prst="roundRect">
            <a:avLst>
              <a:gd name="adj" fmla="val 6250"/>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7B64EDB6-F7FE-4B50-8F20-2B4860F6FC24}"/>
              </a:ext>
            </a:extLst>
          </p:cNvPr>
          <p:cNvSpPr>
            <a:spLocks xmlns:a="http://schemas.openxmlformats.org/drawingml/2006/main" noGrp="1"/>
          </p:cNvSpPr>
          <p:nvPr/>
        </p:nvSpPr>
        <p:spPr>
          <a:xfrm xmlns:a="http://schemas.openxmlformats.org/drawingml/2006/main">
            <a:off x="8248650" y="3105150"/>
            <a:ext cx="32004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Practical use</a:t>
            </a:r>
          </a:p>
        </p:txBody>
      </p:sp>
      <p:sp>
        <p:nvSpPr>
          <p:cNvPr id="14" name="">
            <a:extLst xmlns:a="http://schemas.openxmlformats.org/drawingml/2006/main">
              <a:ext uri="{FF2B5EF4-FFF2-40B4-BE49-F238E27FC236}">
                <a16:creationId xmlns:a16="http://schemas.microsoft.com/office/drawing/2014/main" id="{121CFD94-456E-49E2-82CB-B6307D99218A}"/>
              </a:ext>
            </a:extLst>
          </p:cNvPr>
          <p:cNvSpPr>
            <a:spLocks xmlns:a="http://schemas.openxmlformats.org/drawingml/2006/main" noGrp="1"/>
          </p:cNvSpPr>
          <p:nvPr/>
        </p:nvSpPr>
        <p:spPr>
          <a:xfrm xmlns:a="http://schemas.openxmlformats.org/drawingml/2006/main">
            <a:off x="8248650" y="3390900"/>
            <a:ext cx="3200400" cy="7239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70" b="0">
                <a:solidFill>
                  <a:srgbClr val="24313A"/>
                </a:solidFill>
                <a:latin typeface="Aptos"/>
                <a:ea typeface="Aptos"/>
                <a:cs typeface="Aptos"/>
              </a:defRPr>
            </a:pPr>
            <a:r>
              <a:rPr sz="870" b="0">
                <a:solidFill>
                  <a:srgbClr val="24313A"/>
                </a:solidFill>
                <a:latin typeface="Aptos"/>
                <a:ea typeface="Aptos"/>
                <a:cs typeface="Aptos"/>
              </a:rPr>
              <a:t>If the patient needs longer-term control, clinicians should follow the disease-specific pathway rather than rely on the NSAID alone.</a:t>
            </a:r>
          </a:p>
        </p:txBody>
      </p:sp>
    </p:spTree>
    <p:extLst>
      <p:ext uri="{BB962C8B-B14F-4D97-AF65-F5344CB8AC3E}">
        <p14:creationId xmlns:p14="http://schemas.microsoft.com/office/powerpoint/2010/main" val="173434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0D846FF-E653-4379-A11A-24B627A4F3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A00ED6AF-5136-44EE-8B0F-376A90994DF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71AD92F7-6F14-429D-90D1-19A2483CDEBF}"/>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Safety profile: what the literature keeps reminding us</a:t>
            </a:r>
          </a:p>
        </p:txBody>
      </p:sp>
      <p:sp>
        <p:nvSpPr>
          <p:cNvPr id="4" name="">
            <a:extLst xmlns:a="http://schemas.openxmlformats.org/drawingml/2006/main">
              <a:ext uri="{FF2B5EF4-FFF2-40B4-BE49-F238E27FC236}">
                <a16:creationId xmlns:a16="http://schemas.microsoft.com/office/drawing/2014/main" id="{9E5D9CE8-9479-4141-9D08-59E36DC826B6}"/>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 evidence supports benefit, but the safety conversation is where credibility is won.</a:t>
            </a:r>
          </a:p>
        </p:txBody>
      </p:sp>
      <p:sp>
        <p:nvSpPr>
          <p:cNvPr id="5" name="">
            <a:extLst xmlns:a="http://schemas.openxmlformats.org/drawingml/2006/main">
              <a:ext uri="{FF2B5EF4-FFF2-40B4-BE49-F238E27FC236}">
                <a16:creationId xmlns:a16="http://schemas.microsoft.com/office/drawing/2014/main" id="{9CF99203-094D-4052-BECE-19E374AC7C8D}"/>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46E8A0C1-EB05-4A4A-91FF-4DF1A6A8F276}"/>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34876850; PubMed 33238721; PMC9530112</a:t>
            </a:r>
          </a:p>
        </p:txBody>
      </p:sp>
      <p:sp>
        <p:nvSpPr>
          <p:cNvPr id="7" name="">
            <a:extLst xmlns:a="http://schemas.openxmlformats.org/drawingml/2006/main">
              <a:ext uri="{FF2B5EF4-FFF2-40B4-BE49-F238E27FC236}">
                <a16:creationId xmlns:a16="http://schemas.microsoft.com/office/drawing/2014/main" id="{088A26CA-58D6-472B-9F83-AA1CAF7AD7FB}"/>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11/25</a:t>
            </a:r>
          </a:p>
        </p:txBody>
      </p:sp>
      <p:sp>
        <p:nvSpPr>
          <p:cNvPr id="8" name="">
            <a:extLst xmlns:a="http://schemas.openxmlformats.org/drawingml/2006/main">
              <a:ext uri="{FF2B5EF4-FFF2-40B4-BE49-F238E27FC236}">
                <a16:creationId xmlns:a16="http://schemas.microsoft.com/office/drawing/2014/main" id="{734EFBEB-5218-4967-8968-58396F13389D}"/>
              </a:ext>
            </a:extLst>
          </p:cNvPr>
          <p:cNvSpPr>
            <a:spLocks xmlns:a="http://schemas.openxmlformats.org/drawingml/2006/main" noGrp="1"/>
          </p:cNvSpPr>
          <p:nvPr/>
        </p:nvSpPr>
        <p:spPr>
          <a:xfrm xmlns:a="http://schemas.openxmlformats.org/drawingml/2006/main">
            <a:off x="609600" y="1524000"/>
            <a:ext cx="3390900" cy="1752600"/>
          </a:xfrm>
          <a:prstGeom xmlns:a="http://schemas.openxmlformats.org/drawingml/2006/main" prst="roundRect">
            <a:avLst>
              <a:gd name="adj" fmla="val 4348"/>
            </a:avLst>
          </a:prstGeom>
          <a:solidFill xmlns:a="http://schemas.openxmlformats.org/drawingml/2006/main">
            <a:srgbClr val="FCE4D6"/>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2228BD42-D5B0-4C74-A561-866DDDF744C4}"/>
              </a:ext>
            </a:extLst>
          </p:cNvPr>
          <p:cNvSpPr>
            <a:spLocks xmlns:a="http://schemas.openxmlformats.org/drawingml/2006/main" noGrp="1"/>
          </p:cNvSpPr>
          <p:nvPr/>
        </p:nvSpPr>
        <p:spPr>
          <a:xfrm xmlns:a="http://schemas.openxmlformats.org/drawingml/2006/main">
            <a:off x="742950" y="1638300"/>
            <a:ext cx="3124200" cy="2667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Common</a:t>
            </a:r>
          </a:p>
        </p:txBody>
      </p:sp>
      <p:sp>
        <p:nvSpPr>
          <p:cNvPr id="10" name="">
            <a:extLst xmlns:a="http://schemas.openxmlformats.org/drawingml/2006/main">
              <a:ext uri="{FF2B5EF4-FFF2-40B4-BE49-F238E27FC236}">
                <a16:creationId xmlns:a16="http://schemas.microsoft.com/office/drawing/2014/main" id="{99E4884B-8C20-45F9-AB62-A68A4830FA87}"/>
              </a:ext>
            </a:extLst>
          </p:cNvPr>
          <p:cNvSpPr>
            <a:spLocks xmlns:a="http://schemas.openxmlformats.org/drawingml/2006/main" noGrp="1"/>
          </p:cNvSpPr>
          <p:nvPr/>
        </p:nvSpPr>
        <p:spPr>
          <a:xfrm xmlns:a="http://schemas.openxmlformats.org/drawingml/2006/main">
            <a:off x="742950" y="1924050"/>
            <a:ext cx="3124200" cy="12573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Dyspepsia, abdominal pain, nausea, constipation, flatulence, gastritis, and dizziness are among the typical reported reactions.</a:t>
            </a:r>
          </a:p>
        </p:txBody>
      </p:sp>
      <p:sp>
        <p:nvSpPr>
          <p:cNvPr id="11" name="">
            <a:extLst xmlns:a="http://schemas.openxmlformats.org/drawingml/2006/main">
              <a:ext uri="{FF2B5EF4-FFF2-40B4-BE49-F238E27FC236}">
                <a16:creationId xmlns:a16="http://schemas.microsoft.com/office/drawing/2014/main" id="{9CDD2436-E3E6-4F77-9898-A29B4CC6C025}"/>
              </a:ext>
            </a:extLst>
          </p:cNvPr>
          <p:cNvSpPr>
            <a:spLocks xmlns:a="http://schemas.openxmlformats.org/drawingml/2006/main" noGrp="1"/>
          </p:cNvSpPr>
          <p:nvPr/>
        </p:nvSpPr>
        <p:spPr>
          <a:xfrm xmlns:a="http://schemas.openxmlformats.org/drawingml/2006/main">
            <a:off x="4229100" y="1524000"/>
            <a:ext cx="3390900" cy="1752600"/>
          </a:xfrm>
          <a:prstGeom xmlns:a="http://schemas.openxmlformats.org/drawingml/2006/main" prst="roundRect">
            <a:avLst>
              <a:gd name="adj" fmla="val 4348"/>
            </a:avLst>
          </a:prstGeom>
          <a:solidFill xmlns:a="http://schemas.openxmlformats.org/drawingml/2006/main">
            <a:srgbClr val="FFF2CC"/>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A408EB01-213B-405D-A827-65B1492E5050}"/>
              </a:ext>
            </a:extLst>
          </p:cNvPr>
          <p:cNvSpPr>
            <a:spLocks xmlns:a="http://schemas.openxmlformats.org/drawingml/2006/main" noGrp="1"/>
          </p:cNvSpPr>
          <p:nvPr/>
        </p:nvSpPr>
        <p:spPr>
          <a:xfrm xmlns:a="http://schemas.openxmlformats.org/drawingml/2006/main">
            <a:off x="4362450" y="1638300"/>
            <a:ext cx="3124200" cy="266700"/>
          </a:xfrm>
          <a:prstGeom xmlns:a="http://schemas.openxmlformats.org/drawingml/2006/main" prst="rect">
            <a:avLst/>
          </a:prstGeom>
          <a:solidFill xmlns:a="http://schemas.openxmlformats.org/drawingml/2006/main">
            <a:srgbClr val="FFF2CC"/>
          </a:solidFill>
          <a:ln xmlns:a="http://schemas.openxmlformats.org/drawingml/2006/main" w="9525">
            <a:solidFill>
              <a:srgbClr val="FFF2CC"/>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Uncommon / rare</a:t>
            </a:r>
          </a:p>
        </p:txBody>
      </p:sp>
      <p:sp>
        <p:nvSpPr>
          <p:cNvPr id="13" name="">
            <a:extLst xmlns:a="http://schemas.openxmlformats.org/drawingml/2006/main">
              <a:ext uri="{FF2B5EF4-FFF2-40B4-BE49-F238E27FC236}">
                <a16:creationId xmlns:a16="http://schemas.microsoft.com/office/drawing/2014/main" id="{678BA5E0-B13A-4BD1-BC49-B1C78A917E46}"/>
              </a:ext>
            </a:extLst>
          </p:cNvPr>
          <p:cNvSpPr>
            <a:spLocks xmlns:a="http://schemas.openxmlformats.org/drawingml/2006/main" noGrp="1"/>
          </p:cNvSpPr>
          <p:nvPr/>
        </p:nvSpPr>
        <p:spPr>
          <a:xfrm xmlns:a="http://schemas.openxmlformats.org/drawingml/2006/main">
            <a:off x="4362450" y="1924050"/>
            <a:ext cx="3124200" cy="1257300"/>
          </a:xfrm>
          <a:prstGeom xmlns:a="http://schemas.openxmlformats.org/drawingml/2006/main" prst="rect">
            <a:avLst/>
          </a:prstGeom>
          <a:solidFill xmlns:a="http://schemas.openxmlformats.org/drawingml/2006/main">
            <a:srgbClr val="FFF2CC"/>
          </a:solidFill>
          <a:ln xmlns:a="http://schemas.openxmlformats.org/drawingml/2006/main" w="9525">
            <a:solidFill>
              <a:srgbClr val="FFF2CC"/>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Rash, pruritus, dermatitis, urticaria, blood urea or creatinine increase, angioedema, and hypersensitivity may occur.</a:t>
            </a:r>
          </a:p>
        </p:txBody>
      </p:sp>
      <p:sp>
        <p:nvSpPr>
          <p:cNvPr id="14" name="">
            <a:extLst xmlns:a="http://schemas.openxmlformats.org/drawingml/2006/main">
              <a:ext uri="{FF2B5EF4-FFF2-40B4-BE49-F238E27FC236}">
                <a16:creationId xmlns:a16="http://schemas.microsoft.com/office/drawing/2014/main" id="{8D2CAFEA-2A7D-43A4-8566-C11E1EE902BF}"/>
              </a:ext>
            </a:extLst>
          </p:cNvPr>
          <p:cNvSpPr>
            <a:spLocks xmlns:a="http://schemas.openxmlformats.org/drawingml/2006/main" noGrp="1"/>
          </p:cNvSpPr>
          <p:nvPr/>
        </p:nvSpPr>
        <p:spPr>
          <a:xfrm xmlns:a="http://schemas.openxmlformats.org/drawingml/2006/main">
            <a:off x="7848600" y="1524000"/>
            <a:ext cx="3733800" cy="1752600"/>
          </a:xfrm>
          <a:prstGeom xmlns:a="http://schemas.openxmlformats.org/drawingml/2006/main" prst="roundRect">
            <a:avLst>
              <a:gd name="adj" fmla="val 4348"/>
            </a:avLst>
          </a:prstGeom>
          <a:solidFill xmlns:a="http://schemas.openxmlformats.org/drawingml/2006/main">
            <a:srgbClr val="F4F8FA"/>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35EBFD2D-6AE0-48DB-ABA5-A25B00813215}"/>
              </a:ext>
            </a:extLst>
          </p:cNvPr>
          <p:cNvSpPr>
            <a:spLocks xmlns:a="http://schemas.openxmlformats.org/drawingml/2006/main" noGrp="1"/>
          </p:cNvSpPr>
          <p:nvPr/>
        </p:nvSpPr>
        <p:spPr>
          <a:xfrm xmlns:a="http://schemas.openxmlformats.org/drawingml/2006/main">
            <a:off x="7981950" y="1638300"/>
            <a:ext cx="34671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Serious but uncommon</a:t>
            </a:r>
          </a:p>
        </p:txBody>
      </p:sp>
      <p:sp>
        <p:nvSpPr>
          <p:cNvPr id="16" name="">
            <a:extLst xmlns:a="http://schemas.openxmlformats.org/drawingml/2006/main">
              <a:ext uri="{FF2B5EF4-FFF2-40B4-BE49-F238E27FC236}">
                <a16:creationId xmlns:a16="http://schemas.microsoft.com/office/drawing/2014/main" id="{FC3ED23A-07C5-4460-A9F3-F6C671F752F4}"/>
              </a:ext>
            </a:extLst>
          </p:cNvPr>
          <p:cNvSpPr>
            <a:spLocks xmlns:a="http://schemas.openxmlformats.org/drawingml/2006/main" noGrp="1"/>
          </p:cNvSpPr>
          <p:nvPr/>
        </p:nvSpPr>
        <p:spPr>
          <a:xfrm xmlns:a="http://schemas.openxmlformats.org/drawingml/2006/main">
            <a:off x="7981950" y="1924050"/>
            <a:ext cx="3467100" cy="12573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GI bleeding, ulceration, renal failure, nephrotic syndrome, severe skin reactions, and cardiovascular events require immediate attention.</a:t>
            </a:r>
          </a:p>
        </p:txBody>
      </p:sp>
      <p:sp>
        <p:nvSpPr>
          <p:cNvPr id="17" name="">
            <a:extLst xmlns:a="http://schemas.openxmlformats.org/drawingml/2006/main">
              <a:ext uri="{FF2B5EF4-FFF2-40B4-BE49-F238E27FC236}">
                <a16:creationId xmlns:a16="http://schemas.microsoft.com/office/drawing/2014/main" id="{88FF76D0-831E-4E16-8F5F-CE94941DBEA6}"/>
              </a:ext>
            </a:extLst>
          </p:cNvPr>
          <p:cNvSpPr>
            <a:spLocks xmlns:a="http://schemas.openxmlformats.org/drawingml/2006/main" noGrp="1"/>
          </p:cNvSpPr>
          <p:nvPr/>
        </p:nvSpPr>
        <p:spPr>
          <a:xfrm xmlns:a="http://schemas.openxmlformats.org/drawingml/2006/main">
            <a:off x="1028700" y="3657600"/>
            <a:ext cx="101346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CF349784-C5AF-4092-B8D4-F68D0108EEBA}"/>
              </a:ext>
            </a:extLst>
          </p:cNvPr>
          <p:cNvSpPr>
            <a:spLocks xmlns:a="http://schemas.openxmlformats.org/drawingml/2006/main" noGrp="1"/>
          </p:cNvSpPr>
          <p:nvPr/>
        </p:nvSpPr>
        <p:spPr>
          <a:xfrm xmlns:a="http://schemas.openxmlformats.org/drawingml/2006/main">
            <a:off x="1162050" y="3771900"/>
            <a:ext cx="98679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Safe slide principle</a:t>
            </a:r>
          </a:p>
        </p:txBody>
      </p:sp>
      <p:sp>
        <p:nvSpPr>
          <p:cNvPr id="19" name="">
            <a:extLst xmlns:a="http://schemas.openxmlformats.org/drawingml/2006/main">
              <a:ext uri="{FF2B5EF4-FFF2-40B4-BE49-F238E27FC236}">
                <a16:creationId xmlns:a16="http://schemas.microsoft.com/office/drawing/2014/main" id="{533EC077-079A-4B82-82A8-0BCE6C88C6EA}"/>
              </a:ext>
            </a:extLst>
          </p:cNvPr>
          <p:cNvSpPr>
            <a:spLocks xmlns:a="http://schemas.openxmlformats.org/drawingml/2006/main" noGrp="1"/>
          </p:cNvSpPr>
          <p:nvPr/>
        </p:nvSpPr>
        <p:spPr>
          <a:xfrm xmlns:a="http://schemas.openxmlformats.org/drawingml/2006/main">
            <a:off x="1162050" y="4057650"/>
            <a:ext cx="98679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35" b="0">
                <a:solidFill>
                  <a:srgbClr val="24313A"/>
                </a:solidFill>
                <a:latin typeface="Aptos"/>
                <a:ea typeface="Aptos"/>
                <a:cs typeface="Aptos"/>
              </a:defRPr>
            </a:pPr>
            <a:r>
              <a:rPr sz="1035" b="0">
                <a:solidFill>
                  <a:srgbClr val="24313A"/>
                </a:solidFill>
                <a:latin typeface="Aptos"/>
                <a:ea typeface="Aptos"/>
                <a:cs typeface="Aptos"/>
              </a:rPr>
              <a:t>The honest scientific message is not that the drug is safe in all patients. It is that the prescriber should recognise predictable NSAID risks, select patients well, and monitor actively.</a:t>
            </a:r>
          </a:p>
        </p:txBody>
      </p:sp>
    </p:spTree>
    <p:extLst>
      <p:ext uri="{BB962C8B-B14F-4D97-AF65-F5344CB8AC3E}">
        <p14:creationId xmlns:p14="http://schemas.microsoft.com/office/powerpoint/2010/main" val="1558988666"/>
      </p:ext>
    </p:extLst>
  </p:cSld>
</p:sld>
</file>

<file path=ppt/slides/slide12.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F5C1EB-A03B-44C9-8886-EA296ABC86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 name="">
            <a:extLst xmlns:a="http://schemas.openxmlformats.org/drawingml/2006/main">
              <a:ext uri="{FF2B5EF4-FFF2-40B4-BE49-F238E27FC236}">
                <a16:creationId xmlns:a16="http://schemas.microsoft.com/office/drawing/2014/main" id="{08AC1E2B-417B-45A0-A388-6F6402E2D97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E2538"/>
          </a:solidFill>
          <a:ln xmlns:a="http://schemas.openxmlformats.org/drawingml/2006/main" w="0">
            <a:solidFill>
              <a:srgbClr val="0E2538"/>
            </a:solidFill>
            <a:prstDash val="solid"/>
          </a:ln>
        </p:spPr>
      </p:sp>
      <p:sp>
        <p:nvSpPr>
          <p:cNvPr id="3" name="">
            <a:extLst xmlns:a="http://schemas.openxmlformats.org/drawingml/2006/main">
              <a:ext uri="{FF2B5EF4-FFF2-40B4-BE49-F238E27FC236}">
                <a16:creationId xmlns:a16="http://schemas.microsoft.com/office/drawing/2014/main" id="{726BC3E6-9073-4D3E-80BA-56B507EB28D1}"/>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ptos"/>
                <a:ea typeface="Aptos"/>
                <a:cs typeface="Aptos"/>
              </a:defRPr>
            </a:pPr>
            <a:r>
              <a:rPr sz="1800" b="1">
                <a:solidFill>
                  <a:srgbClr val="FFFFFF"/>
                </a:solidFill>
                <a:latin typeface="Aptos"/>
                <a:ea typeface="Aptos"/>
                <a:cs typeface="Aptos"/>
              </a:rPr>
              <a:t>GI risk and mitigation</a:t>
            </a:r>
          </a:p>
        </p:txBody>
      </p:sp>
      <p:sp>
        <p:nvSpPr>
          <p:cNvPr id="4" name="">
            <a:extLst xmlns:a="http://schemas.openxmlformats.org/drawingml/2006/main">
              <a:ext uri="{FF2B5EF4-FFF2-40B4-BE49-F238E27FC236}">
                <a16:creationId xmlns:a16="http://schemas.microsoft.com/office/drawing/2014/main" id="{37DBCB67-328F-4AE7-8EA9-B8D1C8943A0E}"/>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D6E3EA"/>
                </a:solidFill>
                <a:latin typeface="Aptos"/>
                <a:ea typeface="Aptos"/>
                <a:cs typeface="Aptos"/>
              </a:defRPr>
            </a:pPr>
            <a:r>
              <a:rPr sz="863" b="0">
                <a:solidFill>
                  <a:srgbClr val="D6E3EA"/>
                </a:solidFill>
                <a:latin typeface="Aptos"/>
                <a:ea typeface="Aptos"/>
                <a:cs typeface="Aptos"/>
              </a:rPr>
              <a:t>This is the familiar NSAID conversation, but the details matter.</a:t>
            </a:r>
          </a:p>
        </p:txBody>
      </p:sp>
      <p:sp>
        <p:nvSpPr>
          <p:cNvPr id="5" name="">
            <a:extLst xmlns:a="http://schemas.openxmlformats.org/drawingml/2006/main">
              <a:ext uri="{FF2B5EF4-FFF2-40B4-BE49-F238E27FC236}">
                <a16:creationId xmlns:a16="http://schemas.microsoft.com/office/drawing/2014/main" id="{D745D38F-5CFE-4626-B0BB-C164DDE658A7}"/>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31536A"/>
          </a:solidFill>
          <a:ln xmlns:a="http://schemas.openxmlformats.org/drawingml/2006/main" w="0">
            <a:solidFill>
              <a:srgbClr val="31536A"/>
            </a:solidFill>
            <a:prstDash val="solid"/>
          </a:ln>
        </p:spPr>
      </p:sp>
      <p:sp>
        <p:nvSpPr>
          <p:cNvPr id="6" name="">
            <a:extLst xmlns:a="http://schemas.openxmlformats.org/drawingml/2006/main">
              <a:ext uri="{FF2B5EF4-FFF2-40B4-BE49-F238E27FC236}">
                <a16:creationId xmlns:a16="http://schemas.microsoft.com/office/drawing/2014/main" id="{93A8B5A5-63AC-4347-854C-F328D3184382}"/>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D6E3EA"/>
                </a:solidFill>
                <a:latin typeface="Aptos"/>
                <a:ea typeface="Aptos"/>
                <a:cs typeface="Aptos"/>
              </a:defRPr>
            </a:pPr>
            <a:r>
              <a:rPr sz="570" b="0">
                <a:solidFill>
                  <a:srgbClr val="D6E3EA"/>
                </a:solidFill>
                <a:latin typeface="Aptos"/>
                <a:ea typeface="Aptos"/>
                <a:cs typeface="Aptos"/>
              </a:rPr>
              <a:t>Refs: PubMed 33238721; PMC9530112</a:t>
            </a:r>
          </a:p>
        </p:txBody>
      </p:sp>
      <p:sp>
        <p:nvSpPr>
          <p:cNvPr id="7" name="">
            <a:extLst xmlns:a="http://schemas.openxmlformats.org/drawingml/2006/main">
              <a:ext uri="{FF2B5EF4-FFF2-40B4-BE49-F238E27FC236}">
                <a16:creationId xmlns:a16="http://schemas.microsoft.com/office/drawing/2014/main" id="{B25F512B-AC1C-480D-8874-802B6DFA661C}"/>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D6E3EA"/>
                </a:solidFill>
                <a:latin typeface="Aptos"/>
                <a:ea typeface="Aptos"/>
                <a:cs typeface="Aptos"/>
              </a:defRPr>
            </a:pPr>
            <a:r>
              <a:rPr sz="570" b="0">
                <a:solidFill>
                  <a:srgbClr val="D6E3EA"/>
                </a:solidFill>
                <a:latin typeface="Aptos"/>
                <a:ea typeface="Aptos"/>
                <a:cs typeface="Aptos"/>
              </a:rPr>
              <a:t>Slide 12/25</a:t>
            </a:r>
          </a:p>
        </p:txBody>
      </p:sp>
      <p:sp>
        <p:nvSpPr>
          <p:cNvPr id="8" name="">
            <a:extLst xmlns:a="http://schemas.openxmlformats.org/drawingml/2006/main">
              <a:ext uri="{FF2B5EF4-FFF2-40B4-BE49-F238E27FC236}">
                <a16:creationId xmlns:a16="http://schemas.microsoft.com/office/drawing/2014/main" id="{CC76B761-359A-4671-9D42-28DBA70B8E76}"/>
              </a:ext>
            </a:extLst>
          </p:cNvPr>
          <p:cNvSpPr>
            <a:spLocks xmlns:a="http://schemas.openxmlformats.org/drawingml/2006/main" noGrp="1"/>
          </p:cNvSpPr>
          <p:nvPr/>
        </p:nvSpPr>
        <p:spPr>
          <a:xfrm xmlns:a="http://schemas.openxmlformats.org/drawingml/2006/main">
            <a:off x="685800" y="1504950"/>
            <a:ext cx="6153150" cy="304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Ask about ulcer history, prior GI bleeding, H. pylori history, corticosteroids, anticoagulants, antiplatelets, SSRIs, and alcohol use.</a:t>
            </a:r>
          </a:p>
          <a:p xmlns:a="http://schemas.openxmlformats.org/drawingml/2006/main">
            <a:r>
              <a:t/>
            </a:r>
          </a:p>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Use the lowest effective dose for the shortest effective duration consistent with the label.</a:t>
            </a:r>
          </a:p>
          <a:p xmlns:a="http://schemas.openxmlformats.org/drawingml/2006/main">
            <a:r>
              <a:t/>
            </a:r>
          </a:p>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Consider gastroprotection in higher-risk patients where local practice supports it.</a:t>
            </a:r>
          </a:p>
          <a:p xmlns:a="http://schemas.openxmlformats.org/drawingml/2006/main">
            <a:r>
              <a:t/>
            </a:r>
          </a:p>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Escalate melaena, haematemesis, persistent abdominal pain, and unexplained anaemia promptly.</a:t>
            </a:r>
          </a:p>
        </p:txBody>
      </p:sp>
      <p:sp>
        <p:nvSpPr>
          <p:cNvPr id="9" name="">
            <a:extLst xmlns:a="http://schemas.openxmlformats.org/drawingml/2006/main">
              <a:ext uri="{FF2B5EF4-FFF2-40B4-BE49-F238E27FC236}">
                <a16:creationId xmlns:a16="http://schemas.microsoft.com/office/drawing/2014/main" id="{4687EF49-072F-4808-A608-E66E12B0C580}"/>
              </a:ext>
            </a:extLst>
          </p:cNvPr>
          <p:cNvSpPr>
            <a:spLocks xmlns:a="http://schemas.openxmlformats.org/drawingml/2006/main" noGrp="1"/>
          </p:cNvSpPr>
          <p:nvPr/>
        </p:nvSpPr>
        <p:spPr>
          <a:xfrm xmlns:a="http://schemas.openxmlformats.org/drawingml/2006/main">
            <a:off x="7239000" y="1676400"/>
            <a:ext cx="3848100" cy="1695450"/>
          </a:xfrm>
          <a:prstGeom xmlns:a="http://schemas.openxmlformats.org/drawingml/2006/main" prst="roundRect">
            <a:avLst>
              <a:gd name="adj" fmla="val 4494"/>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B4D3D6EC-6135-4DE7-899E-85E3CD16A82E}"/>
              </a:ext>
            </a:extLst>
          </p:cNvPr>
          <p:cNvSpPr>
            <a:spLocks xmlns:a="http://schemas.openxmlformats.org/drawingml/2006/main" noGrp="1"/>
          </p:cNvSpPr>
          <p:nvPr/>
        </p:nvSpPr>
        <p:spPr>
          <a:xfrm xmlns:a="http://schemas.openxmlformats.org/drawingml/2006/main">
            <a:off x="7372350" y="1790700"/>
            <a:ext cx="35814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Message to the prescriber</a:t>
            </a:r>
          </a:p>
        </p:txBody>
      </p:sp>
      <p:sp>
        <p:nvSpPr>
          <p:cNvPr id="11" name="">
            <a:extLst xmlns:a="http://schemas.openxmlformats.org/drawingml/2006/main">
              <a:ext uri="{FF2B5EF4-FFF2-40B4-BE49-F238E27FC236}">
                <a16:creationId xmlns:a16="http://schemas.microsoft.com/office/drawing/2014/main" id="{F3BE5708-F575-4308-BAE0-9D528150AF39}"/>
              </a:ext>
            </a:extLst>
          </p:cNvPr>
          <p:cNvSpPr>
            <a:spLocks xmlns:a="http://schemas.openxmlformats.org/drawingml/2006/main" noGrp="1"/>
          </p:cNvSpPr>
          <p:nvPr/>
        </p:nvSpPr>
        <p:spPr>
          <a:xfrm xmlns:a="http://schemas.openxmlformats.org/drawingml/2006/main">
            <a:off x="7372350" y="2076450"/>
            <a:ext cx="3581400" cy="12001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Risk is modifiable, not invisible. The practical question is who can use an NSAID, under what monitoring, and for how long.</a:t>
            </a:r>
          </a:p>
        </p:txBody>
      </p:sp>
      <p:sp>
        <p:nvSpPr>
          <p:cNvPr id="12" name="">
            <a:extLst xmlns:a="http://schemas.openxmlformats.org/drawingml/2006/main">
              <a:ext uri="{FF2B5EF4-FFF2-40B4-BE49-F238E27FC236}">
                <a16:creationId xmlns:a16="http://schemas.microsoft.com/office/drawing/2014/main" id="{1A794D1A-FEEA-4601-BA35-C68F70629758}"/>
              </a:ext>
            </a:extLst>
          </p:cNvPr>
          <p:cNvSpPr>
            <a:spLocks xmlns:a="http://schemas.openxmlformats.org/drawingml/2006/main" noGrp="1"/>
          </p:cNvSpPr>
          <p:nvPr/>
        </p:nvSpPr>
        <p:spPr>
          <a:xfrm xmlns:a="http://schemas.openxmlformats.org/drawingml/2006/main">
            <a:off x="7239000" y="3543300"/>
            <a:ext cx="3848100" cy="1104900"/>
          </a:xfrm>
          <a:prstGeom xmlns:a="http://schemas.openxmlformats.org/drawingml/2006/main" prst="roundRect">
            <a:avLst>
              <a:gd name="adj" fmla="val 6897"/>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45EFD509-9F38-42DE-861A-52DAD7442FB0}"/>
              </a:ext>
            </a:extLst>
          </p:cNvPr>
          <p:cNvSpPr>
            <a:spLocks xmlns:a="http://schemas.openxmlformats.org/drawingml/2006/main" noGrp="1"/>
          </p:cNvSpPr>
          <p:nvPr/>
        </p:nvSpPr>
        <p:spPr>
          <a:xfrm xmlns:a="http://schemas.openxmlformats.org/drawingml/2006/main">
            <a:off x="7372350" y="3657600"/>
            <a:ext cx="35814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Presentation style</a:t>
            </a:r>
          </a:p>
        </p:txBody>
      </p:sp>
      <p:sp>
        <p:nvSpPr>
          <p:cNvPr id="14" name="">
            <a:extLst xmlns:a="http://schemas.openxmlformats.org/drawingml/2006/main">
              <a:ext uri="{FF2B5EF4-FFF2-40B4-BE49-F238E27FC236}">
                <a16:creationId xmlns:a16="http://schemas.microsoft.com/office/drawing/2014/main" id="{FC47C2A6-2C87-41F5-8FA9-B3642B89F0F3}"/>
              </a:ext>
            </a:extLst>
          </p:cNvPr>
          <p:cNvSpPr>
            <a:spLocks xmlns:a="http://schemas.openxmlformats.org/drawingml/2006/main" noGrp="1"/>
          </p:cNvSpPr>
          <p:nvPr/>
        </p:nvSpPr>
        <p:spPr>
          <a:xfrm xmlns:a="http://schemas.openxmlformats.org/drawingml/2006/main">
            <a:off x="7372350" y="3943350"/>
            <a:ext cx="3581400" cy="6096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Avoid vague caution language. Be concrete about triggers, monitoring, and stop rules.</a:t>
            </a:r>
          </a:p>
        </p:txBody>
      </p:sp>
      <p:sp>
        <p:nvSpPr>
          <p:cNvPr id="15" name="">
            <a:extLst xmlns:a="http://schemas.openxmlformats.org/drawingml/2006/main">
              <a:ext uri="{FF2B5EF4-FFF2-40B4-BE49-F238E27FC236}">
                <a16:creationId xmlns:a16="http://schemas.microsoft.com/office/drawing/2014/main" id="{131EF356-D75F-4169-AA4D-97A464D8E671}"/>
              </a:ext>
            </a:extLst>
          </p:cNvPr>
          <p:cNvSpPr>
            <a:spLocks xmlns:a="http://schemas.openxmlformats.org/drawingml/2006/main" noGrp="1"/>
          </p:cNvSpPr>
          <p:nvPr/>
        </p:nvSpPr>
        <p:spPr>
          <a:xfrm xmlns:a="http://schemas.openxmlformats.org/drawingml/2006/main">
            <a:off x="609600" y="6343650"/>
            <a:ext cx="11049000" cy="17145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GI precautions should be clinical and actionable.</a:t>
            </a:r>
          </a:p>
        </p:txBody>
      </p:sp>
    </p:spTree>
    <p:extLst>
      <p:ext uri="{BB962C8B-B14F-4D97-AF65-F5344CB8AC3E}">
        <p14:creationId xmlns:p14="http://schemas.microsoft.com/office/powerpoint/2010/main" val="187314915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7649B18-27C0-40B2-A00E-D8B4E6FD1B2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2279507E-CB19-46BC-ABC4-9E91E57F65B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8BB693DD-347E-47F7-AC2B-C6CBF056E11E}"/>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Renal, cardiovascular, and hepatic cautions</a:t>
            </a:r>
          </a:p>
        </p:txBody>
      </p:sp>
      <p:sp>
        <p:nvSpPr>
          <p:cNvPr id="4" name="">
            <a:extLst xmlns:a="http://schemas.openxmlformats.org/drawingml/2006/main">
              <a:ext uri="{FF2B5EF4-FFF2-40B4-BE49-F238E27FC236}">
                <a16:creationId xmlns:a16="http://schemas.microsoft.com/office/drawing/2014/main" id="{13BEB314-25E1-4464-A2FD-2B8C7C75F0A5}"/>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 good scientific talk shows the rest of the organ systems, not only the stomach.</a:t>
            </a:r>
          </a:p>
        </p:txBody>
      </p:sp>
      <p:sp>
        <p:nvSpPr>
          <p:cNvPr id="5" name="">
            <a:extLst xmlns:a="http://schemas.openxmlformats.org/drawingml/2006/main">
              <a:ext uri="{FF2B5EF4-FFF2-40B4-BE49-F238E27FC236}">
                <a16:creationId xmlns:a16="http://schemas.microsoft.com/office/drawing/2014/main" id="{4BD5282E-204A-49B5-B420-0D2C24CF7234}"/>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E3D58A16-A02A-4B9E-9676-3E3EBD01F981}"/>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33238721; PubMed 34876850</a:t>
            </a:r>
          </a:p>
        </p:txBody>
      </p:sp>
      <p:sp>
        <p:nvSpPr>
          <p:cNvPr id="7" name="">
            <a:extLst xmlns:a="http://schemas.openxmlformats.org/drawingml/2006/main">
              <a:ext uri="{FF2B5EF4-FFF2-40B4-BE49-F238E27FC236}">
                <a16:creationId xmlns:a16="http://schemas.microsoft.com/office/drawing/2014/main" id="{CCF8D75E-D49A-479F-9BCA-F8B6A1E817D0}"/>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13/25</a:t>
            </a:r>
          </a:p>
        </p:txBody>
      </p:sp>
      <p:sp>
        <p:nvSpPr>
          <p:cNvPr id="8" name="">
            <a:extLst xmlns:a="http://schemas.openxmlformats.org/drawingml/2006/main">
              <a:ext uri="{FF2B5EF4-FFF2-40B4-BE49-F238E27FC236}">
                <a16:creationId xmlns:a16="http://schemas.microsoft.com/office/drawing/2014/main" id="{51CF61CB-CFDF-4262-8FC5-948F04C01FF2}"/>
              </a:ext>
            </a:extLst>
          </p:cNvPr>
          <p:cNvSpPr>
            <a:spLocks xmlns:a="http://schemas.openxmlformats.org/drawingml/2006/main" noGrp="1"/>
          </p:cNvSpPr>
          <p:nvPr/>
        </p:nvSpPr>
        <p:spPr>
          <a:xfrm xmlns:a="http://schemas.openxmlformats.org/drawingml/2006/main">
            <a:off x="609600" y="1485900"/>
            <a:ext cx="3467100" cy="1809750"/>
          </a:xfrm>
          <a:prstGeom xmlns:a="http://schemas.openxmlformats.org/drawingml/2006/main" prst="roundRect">
            <a:avLst>
              <a:gd name="adj" fmla="val 4211"/>
            </a:avLst>
          </a:prstGeom>
          <a:solidFill xmlns:a="http://schemas.openxmlformats.org/drawingml/2006/main">
            <a:srgbClr val="F4F8FA"/>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03231729-A7C2-40CE-A3A6-007E4AACBC4D}"/>
              </a:ext>
            </a:extLst>
          </p:cNvPr>
          <p:cNvSpPr>
            <a:spLocks xmlns:a="http://schemas.openxmlformats.org/drawingml/2006/main" noGrp="1"/>
          </p:cNvSpPr>
          <p:nvPr/>
        </p:nvSpPr>
        <p:spPr>
          <a:xfrm xmlns:a="http://schemas.openxmlformats.org/drawingml/2006/main">
            <a:off x="742950" y="1600200"/>
            <a:ext cx="32004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Renal</a:t>
            </a:r>
          </a:p>
        </p:txBody>
      </p:sp>
      <p:sp>
        <p:nvSpPr>
          <p:cNvPr id="10" name="">
            <a:extLst xmlns:a="http://schemas.openxmlformats.org/drawingml/2006/main">
              <a:ext uri="{FF2B5EF4-FFF2-40B4-BE49-F238E27FC236}">
                <a16:creationId xmlns:a16="http://schemas.microsoft.com/office/drawing/2014/main" id="{05C027D5-394D-48E0-855B-E47D7ECC87F1}"/>
              </a:ext>
            </a:extLst>
          </p:cNvPr>
          <p:cNvSpPr>
            <a:spLocks xmlns:a="http://schemas.openxmlformats.org/drawingml/2006/main" noGrp="1"/>
          </p:cNvSpPr>
          <p:nvPr/>
        </p:nvSpPr>
        <p:spPr>
          <a:xfrm xmlns:a="http://schemas.openxmlformats.org/drawingml/2006/main">
            <a:off x="742950" y="1885950"/>
            <a:ext cx="3200400" cy="13144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Caution is needed in dehydration, CKD, heart failure, diuretic use, ACEi/ARB use, and post-operative states because renal perfusion may fall.</a:t>
            </a:r>
          </a:p>
        </p:txBody>
      </p:sp>
      <p:sp>
        <p:nvSpPr>
          <p:cNvPr id="11" name="">
            <a:extLst xmlns:a="http://schemas.openxmlformats.org/drawingml/2006/main">
              <a:ext uri="{FF2B5EF4-FFF2-40B4-BE49-F238E27FC236}">
                <a16:creationId xmlns:a16="http://schemas.microsoft.com/office/drawing/2014/main" id="{F99653C5-4066-449F-BD23-C4192C5BD2CD}"/>
              </a:ext>
            </a:extLst>
          </p:cNvPr>
          <p:cNvSpPr>
            <a:spLocks xmlns:a="http://schemas.openxmlformats.org/drawingml/2006/main" noGrp="1"/>
          </p:cNvSpPr>
          <p:nvPr/>
        </p:nvSpPr>
        <p:spPr>
          <a:xfrm xmlns:a="http://schemas.openxmlformats.org/drawingml/2006/main">
            <a:off x="4362450" y="1485900"/>
            <a:ext cx="3467100" cy="1809750"/>
          </a:xfrm>
          <a:prstGeom xmlns:a="http://schemas.openxmlformats.org/drawingml/2006/main" prst="roundRect">
            <a:avLst>
              <a:gd name="adj" fmla="val 4211"/>
            </a:avLst>
          </a:prstGeom>
          <a:solidFill xmlns:a="http://schemas.openxmlformats.org/drawingml/2006/main">
            <a:srgbClr val="EAF4F7"/>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990B2ADA-E609-488E-AC26-78E7DB0C2520}"/>
              </a:ext>
            </a:extLst>
          </p:cNvPr>
          <p:cNvSpPr>
            <a:spLocks xmlns:a="http://schemas.openxmlformats.org/drawingml/2006/main" noGrp="1"/>
          </p:cNvSpPr>
          <p:nvPr/>
        </p:nvSpPr>
        <p:spPr>
          <a:xfrm xmlns:a="http://schemas.openxmlformats.org/drawingml/2006/main">
            <a:off x="4495800" y="1600200"/>
            <a:ext cx="32004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Cardiovascular</a:t>
            </a:r>
          </a:p>
        </p:txBody>
      </p:sp>
      <p:sp>
        <p:nvSpPr>
          <p:cNvPr id="13" name="">
            <a:extLst xmlns:a="http://schemas.openxmlformats.org/drawingml/2006/main">
              <a:ext uri="{FF2B5EF4-FFF2-40B4-BE49-F238E27FC236}">
                <a16:creationId xmlns:a16="http://schemas.microsoft.com/office/drawing/2014/main" id="{EA626BDF-A6F8-41FC-A331-913E5F6A031C}"/>
              </a:ext>
            </a:extLst>
          </p:cNvPr>
          <p:cNvSpPr>
            <a:spLocks xmlns:a="http://schemas.openxmlformats.org/drawingml/2006/main" noGrp="1"/>
          </p:cNvSpPr>
          <p:nvPr/>
        </p:nvSpPr>
        <p:spPr>
          <a:xfrm xmlns:a="http://schemas.openxmlformats.org/drawingml/2006/main">
            <a:off x="4495800" y="1885950"/>
            <a:ext cx="3200400" cy="13144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Hypertension, oedema, and heart failure are class concerns; use is cautious in patients with significant CV disease or risk factors.</a:t>
            </a:r>
          </a:p>
        </p:txBody>
      </p:sp>
      <p:sp>
        <p:nvSpPr>
          <p:cNvPr id="14" name="">
            <a:extLst xmlns:a="http://schemas.openxmlformats.org/drawingml/2006/main">
              <a:ext uri="{FF2B5EF4-FFF2-40B4-BE49-F238E27FC236}">
                <a16:creationId xmlns:a16="http://schemas.microsoft.com/office/drawing/2014/main" id="{34D17C00-C6F7-4260-98C1-3480D471C2CB}"/>
              </a:ext>
            </a:extLst>
          </p:cNvPr>
          <p:cNvSpPr>
            <a:spLocks xmlns:a="http://schemas.openxmlformats.org/drawingml/2006/main" noGrp="1"/>
          </p:cNvSpPr>
          <p:nvPr/>
        </p:nvSpPr>
        <p:spPr>
          <a:xfrm xmlns:a="http://schemas.openxmlformats.org/drawingml/2006/main">
            <a:off x="8115300" y="1485900"/>
            <a:ext cx="3467100" cy="1809750"/>
          </a:xfrm>
          <a:prstGeom xmlns:a="http://schemas.openxmlformats.org/drawingml/2006/main" prst="roundRect">
            <a:avLst>
              <a:gd name="adj" fmla="val 4211"/>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144479BA-C771-404D-918A-06943022C737}"/>
              </a:ext>
            </a:extLst>
          </p:cNvPr>
          <p:cNvSpPr>
            <a:spLocks xmlns:a="http://schemas.openxmlformats.org/drawingml/2006/main" noGrp="1"/>
          </p:cNvSpPr>
          <p:nvPr/>
        </p:nvSpPr>
        <p:spPr>
          <a:xfrm xmlns:a="http://schemas.openxmlformats.org/drawingml/2006/main">
            <a:off x="8248650" y="1600200"/>
            <a:ext cx="32004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Hepatic</a:t>
            </a:r>
          </a:p>
        </p:txBody>
      </p:sp>
      <p:sp>
        <p:nvSpPr>
          <p:cNvPr id="16" name="">
            <a:extLst xmlns:a="http://schemas.openxmlformats.org/drawingml/2006/main">
              <a:ext uri="{FF2B5EF4-FFF2-40B4-BE49-F238E27FC236}">
                <a16:creationId xmlns:a16="http://schemas.microsoft.com/office/drawing/2014/main" id="{3B2FD7BD-10C8-40A6-A60D-D75EBA95CE38}"/>
              </a:ext>
            </a:extLst>
          </p:cNvPr>
          <p:cNvSpPr>
            <a:spLocks xmlns:a="http://schemas.openxmlformats.org/drawingml/2006/main" noGrp="1"/>
          </p:cNvSpPr>
          <p:nvPr/>
        </p:nvSpPr>
        <p:spPr>
          <a:xfrm xmlns:a="http://schemas.openxmlformats.org/drawingml/2006/main">
            <a:off x="8248650" y="1885950"/>
            <a:ext cx="3200400" cy="131445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If LFTs persistently worsen, or if liver-disease symptoms appear, the drug should be stopped and reassessed.</a:t>
            </a:r>
          </a:p>
        </p:txBody>
      </p:sp>
      <p:sp>
        <p:nvSpPr>
          <p:cNvPr id="17" name="">
            <a:extLst xmlns:a="http://schemas.openxmlformats.org/drawingml/2006/main">
              <a:ext uri="{FF2B5EF4-FFF2-40B4-BE49-F238E27FC236}">
                <a16:creationId xmlns:a16="http://schemas.microsoft.com/office/drawing/2014/main" id="{61101B4C-D321-48B7-A8F8-97D4A44C9194}"/>
              </a:ext>
            </a:extLst>
          </p:cNvPr>
          <p:cNvSpPr>
            <a:spLocks xmlns:a="http://schemas.openxmlformats.org/drawingml/2006/main" noGrp="1"/>
          </p:cNvSpPr>
          <p:nvPr/>
        </p:nvSpPr>
        <p:spPr>
          <a:xfrm xmlns:a="http://schemas.openxmlformats.org/drawingml/2006/main">
            <a:off x="990600" y="3733800"/>
            <a:ext cx="1021080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6FE3DE07-28BB-479A-959B-F33451E63FCE}"/>
              </a:ext>
            </a:extLst>
          </p:cNvPr>
          <p:cNvSpPr>
            <a:spLocks xmlns:a="http://schemas.openxmlformats.org/drawingml/2006/main" noGrp="1"/>
          </p:cNvSpPr>
          <p:nvPr/>
        </p:nvSpPr>
        <p:spPr>
          <a:xfrm xmlns:a="http://schemas.openxmlformats.org/drawingml/2006/main">
            <a:off x="1123950" y="38481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Clinical guidance</a:t>
            </a:r>
          </a:p>
        </p:txBody>
      </p:sp>
      <p:sp>
        <p:nvSpPr>
          <p:cNvPr id="19" name="">
            <a:extLst xmlns:a="http://schemas.openxmlformats.org/drawingml/2006/main">
              <a:ext uri="{FF2B5EF4-FFF2-40B4-BE49-F238E27FC236}">
                <a16:creationId xmlns:a16="http://schemas.microsoft.com/office/drawing/2014/main" id="{9ECC5FC1-7A3D-4EFF-9241-765EE7AA3D88}"/>
              </a:ext>
            </a:extLst>
          </p:cNvPr>
          <p:cNvSpPr>
            <a:spLocks xmlns:a="http://schemas.openxmlformats.org/drawingml/2006/main" noGrp="1"/>
          </p:cNvSpPr>
          <p:nvPr/>
        </p:nvSpPr>
        <p:spPr>
          <a:xfrm xmlns:a="http://schemas.openxmlformats.org/drawingml/2006/main">
            <a:off x="1123950" y="4133850"/>
            <a:ext cx="99441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35" b="0">
                <a:solidFill>
                  <a:srgbClr val="24313A"/>
                </a:solidFill>
                <a:latin typeface="Aptos"/>
                <a:ea typeface="Aptos"/>
                <a:cs typeface="Aptos"/>
              </a:defRPr>
            </a:pPr>
            <a:r>
              <a:rPr sz="1035" b="0">
                <a:solidFill>
                  <a:srgbClr val="24313A"/>
                </a:solidFill>
                <a:latin typeface="Aptos"/>
                <a:ea typeface="Aptos"/>
                <a:cs typeface="Aptos"/>
              </a:rPr>
              <a:t>The right scientific framing is not 'NSAIDs are risky' but 'here is which risk is relevant, how to monitor it, and when to stop'.</a:t>
            </a:r>
          </a:p>
        </p:txBody>
      </p:sp>
    </p:spTree>
    <p:extLst>
      <p:ext uri="{BB962C8B-B14F-4D97-AF65-F5344CB8AC3E}">
        <p14:creationId xmlns:p14="http://schemas.microsoft.com/office/powerpoint/2010/main" val="194249746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EF84D27-E2C8-4B17-9A36-D73D12CB41D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7950B6E9-9747-412F-AF70-640AE6EE317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334537BF-6F7C-4401-B27E-1ADE08D8A5C9}"/>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Drug interactions and concomitant therapy checks</a:t>
            </a:r>
          </a:p>
        </p:txBody>
      </p:sp>
      <p:sp>
        <p:nvSpPr>
          <p:cNvPr id="4" name="">
            <a:extLst xmlns:a="http://schemas.openxmlformats.org/drawingml/2006/main">
              <a:ext uri="{FF2B5EF4-FFF2-40B4-BE49-F238E27FC236}">
                <a16:creationId xmlns:a16="http://schemas.microsoft.com/office/drawing/2014/main" id="{4C8974B6-FDE7-4A64-A91E-30097FD3FCCC}"/>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NSAID interactions are often about the full regimen and comorbidity profile.</a:t>
            </a:r>
          </a:p>
        </p:txBody>
      </p:sp>
      <p:sp>
        <p:nvSpPr>
          <p:cNvPr id="5" name="">
            <a:extLst xmlns:a="http://schemas.openxmlformats.org/drawingml/2006/main">
              <a:ext uri="{FF2B5EF4-FFF2-40B4-BE49-F238E27FC236}">
                <a16:creationId xmlns:a16="http://schemas.microsoft.com/office/drawing/2014/main" id="{F32703BE-307E-4098-987C-F79623224E73}"/>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34A3B6C4-F824-496D-9E00-5AD7C2055FCD}"/>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33238721; PubMed 34876850</a:t>
            </a:r>
          </a:p>
        </p:txBody>
      </p:sp>
      <p:sp>
        <p:nvSpPr>
          <p:cNvPr id="7" name="">
            <a:extLst xmlns:a="http://schemas.openxmlformats.org/drawingml/2006/main">
              <a:ext uri="{FF2B5EF4-FFF2-40B4-BE49-F238E27FC236}">
                <a16:creationId xmlns:a16="http://schemas.microsoft.com/office/drawing/2014/main" id="{E7D2CC25-BA56-43FC-B2F9-5C95A9DEE88E}"/>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14/25</a:t>
            </a:r>
          </a:p>
        </p:txBody>
      </p:sp>
      <p:graphicFrame>
        <p:nvGraphicFramePr>
          <p:cNvPr id="8" name=""/>
          <p:cNvGraphicFramePr/>
          <p:nvPr/>
        </p:nvGraphicFramePr>
        <p:xfrm>
          <a:off xmlns:a="http://schemas.openxmlformats.org/drawingml/2006/main" x="609600" y="1485900"/>
          <a:ext xmlns:a="http://schemas.openxmlformats.org/drawingml/2006/main" cx="7029450" cy="2724150"/>
        </p:xfrm>
        <a:graphic xmlns:a="http://schemas.openxmlformats.org/drawingml/2006/main">
          <a:graphicData uri="http://schemas.openxmlformats.org/drawingml/2006/table">
            <a:tbl>
              <a:tblPr/>
              <a:tblGrid>
                <a:gridCol w="2249424"/>
                <a:gridCol w="4780026"/>
              </a:tblGrid>
              <a:tr h="454025">
                <a:tc>
                  <a:txBody>
                    <a:bodyPr/>
                    <a:lstStyle/>
                    <a:p>
                      <a:r>
                        <a:rPr sz="750" b="1">
                          <a:solidFill>
                            <a:srgbClr val="FFFFFF"/>
                          </a:solidFill>
                          <a:latin typeface="Aptos"/>
                          <a:ea typeface="Aptos"/>
                          <a:cs typeface="Aptos"/>
                        </a:rPr>
                        <a:t>Interaction class</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Why it matters</a:t>
                      </a:r>
                    </a:p>
                  </a:txBody>
                  <a:tcPr marL="91440" marR="91440" marT="45720" marB="45720">
                    <a:lnB w="9525">
                      <a:solidFill>
                        <a:srgbClr val="FFFFFF"/>
                      </a:solidFill>
                    </a:lnB>
                    <a:solidFill>
                      <a:srgbClr val="16324F"/>
                    </a:solidFill>
                  </a:tcPr>
                </a:tc>
              </a:tr>
              <a:tr h="454025">
                <a:tc>
                  <a:txBody>
                    <a:bodyPr/>
                    <a:lstStyle/>
                    <a:p>
                      <a:r>
                        <a:t>Anticoagulants / antiplatelets</a:t>
                      </a:r>
                    </a:p>
                  </a:txBody>
                  <a:tcPr marL="91440" marR="91440" marT="45720" marB="45720"/>
                </a:tc>
                <a:tc>
                  <a:txBody>
                    <a:bodyPr/>
                    <a:lstStyle/>
                    <a:p>
                      <a:r>
                        <a:t>Bleeding risk rises</a:t>
                      </a:r>
                    </a:p>
                  </a:txBody>
                  <a:tcPr marL="91440" marR="91440" marT="45720" marB="45720"/>
                </a:tc>
              </a:tr>
              <a:tr h="454025">
                <a:tc>
                  <a:txBody>
                    <a:bodyPr/>
                    <a:lstStyle/>
                    <a:p>
                      <a:r>
                        <a:t>Other NSAIDs / COX-2s</a:t>
                      </a:r>
                    </a:p>
                  </a:txBody>
                  <a:tcPr marL="91440" marR="91440" marT="45720" marB="45720"/>
                </a:tc>
                <a:tc>
                  <a:txBody>
                    <a:bodyPr/>
                    <a:lstStyle/>
                    <a:p>
                      <a:r>
                        <a:t>Duplicate toxicity without added benefit</a:t>
                      </a:r>
                    </a:p>
                  </a:txBody>
                  <a:tcPr marL="91440" marR="91440" marT="45720" marB="45720"/>
                </a:tc>
              </a:tr>
              <a:tr h="454025">
                <a:tc>
                  <a:txBody>
                    <a:bodyPr/>
                    <a:lstStyle/>
                    <a:p>
                      <a:r>
                        <a:t>ACEi / ARB + diuretic</a:t>
                      </a:r>
                    </a:p>
                  </a:txBody>
                  <a:tcPr marL="91440" marR="91440" marT="45720" marB="45720"/>
                </a:tc>
                <a:tc>
                  <a:txBody>
                    <a:bodyPr/>
                    <a:lstStyle/>
                    <a:p>
                      <a:r>
                        <a:t>Renal perfusion and AKI concern</a:t>
                      </a:r>
                    </a:p>
                  </a:txBody>
                  <a:tcPr marL="91440" marR="91440" marT="45720" marB="45720"/>
                </a:tc>
              </a:tr>
              <a:tr h="454025">
                <a:tc>
                  <a:txBody>
                    <a:bodyPr/>
                    <a:lstStyle/>
                    <a:p>
                      <a:r>
                        <a:t>Lithium / methotrexate</a:t>
                      </a:r>
                    </a:p>
                  </a:txBody>
                  <a:tcPr marL="91440" marR="91440" marT="45720" marB="45720"/>
                </a:tc>
                <a:tc>
                  <a:txBody>
                    <a:bodyPr/>
                    <a:lstStyle/>
                    <a:p>
                      <a:r>
                        <a:t>Potential exposure increase and toxicity</a:t>
                      </a:r>
                    </a:p>
                  </a:txBody>
                  <a:tcPr marL="91440" marR="91440" marT="45720" marB="45720"/>
                </a:tc>
              </a:tr>
              <a:tr h="454025">
                <a:tc>
                  <a:txBody>
                    <a:bodyPr/>
                    <a:lstStyle/>
                    <a:p>
                      <a:r>
                        <a:t>Steroids / SSRIs / alcohol</a:t>
                      </a:r>
                    </a:p>
                  </a:txBody>
                  <a:tcPr marL="91440" marR="91440" marT="45720" marB="45720"/>
                </a:tc>
                <a:tc>
                  <a:txBody>
                    <a:bodyPr/>
                    <a:lstStyle/>
                    <a:p>
                      <a:r>
                        <a:t>GI risk may rise further</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D977BF75-A4BD-42E6-8D7C-B858AF964BFE}"/>
              </a:ext>
            </a:extLst>
          </p:cNvPr>
          <p:cNvSpPr>
            <a:spLocks xmlns:a="http://schemas.openxmlformats.org/drawingml/2006/main" noGrp="1"/>
          </p:cNvSpPr>
          <p:nvPr/>
        </p:nvSpPr>
        <p:spPr>
          <a:xfrm xmlns:a="http://schemas.openxmlformats.org/drawingml/2006/main">
            <a:off x="7905750" y="1524000"/>
            <a:ext cx="3695700" cy="1676400"/>
          </a:xfrm>
          <a:prstGeom xmlns:a="http://schemas.openxmlformats.org/drawingml/2006/main" prst="roundRect">
            <a:avLst>
              <a:gd name="adj" fmla="val 4545"/>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512BFFCE-9554-41B1-9AFD-D23FEA80A021}"/>
              </a:ext>
            </a:extLst>
          </p:cNvPr>
          <p:cNvSpPr>
            <a:spLocks xmlns:a="http://schemas.openxmlformats.org/drawingml/2006/main" noGrp="1"/>
          </p:cNvSpPr>
          <p:nvPr/>
        </p:nvSpPr>
        <p:spPr>
          <a:xfrm xmlns:a="http://schemas.openxmlformats.org/drawingml/2006/main">
            <a:off x="8039100" y="1638300"/>
            <a:ext cx="34290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What the prescriber needs</a:t>
            </a:r>
          </a:p>
        </p:txBody>
      </p:sp>
      <p:sp>
        <p:nvSpPr>
          <p:cNvPr id="11" name="">
            <a:extLst xmlns:a="http://schemas.openxmlformats.org/drawingml/2006/main">
              <a:ext uri="{FF2B5EF4-FFF2-40B4-BE49-F238E27FC236}">
                <a16:creationId xmlns:a16="http://schemas.microsoft.com/office/drawing/2014/main" id="{95F61538-1216-4DEF-A0AF-634F0DF34BA5}"/>
              </a:ext>
            </a:extLst>
          </p:cNvPr>
          <p:cNvSpPr>
            <a:spLocks xmlns:a="http://schemas.openxmlformats.org/drawingml/2006/main" noGrp="1"/>
          </p:cNvSpPr>
          <p:nvPr/>
        </p:nvSpPr>
        <p:spPr>
          <a:xfrm xmlns:a="http://schemas.openxmlformats.org/drawingml/2006/main">
            <a:off x="8039100" y="1924050"/>
            <a:ext cx="3429000" cy="11811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A short medication review before starting an NSAID is a genuine clinical safety step, not a checkbox.</a:t>
            </a:r>
          </a:p>
        </p:txBody>
      </p:sp>
      <p:sp>
        <p:nvSpPr>
          <p:cNvPr id="12" name="">
            <a:extLst xmlns:a="http://schemas.openxmlformats.org/drawingml/2006/main">
              <a:ext uri="{FF2B5EF4-FFF2-40B4-BE49-F238E27FC236}">
                <a16:creationId xmlns:a16="http://schemas.microsoft.com/office/drawing/2014/main" id="{C305066C-DD02-470B-800C-389E745FB690}"/>
              </a:ext>
            </a:extLst>
          </p:cNvPr>
          <p:cNvSpPr>
            <a:spLocks xmlns:a="http://schemas.openxmlformats.org/drawingml/2006/main" noGrp="1"/>
          </p:cNvSpPr>
          <p:nvPr/>
        </p:nvSpPr>
        <p:spPr>
          <a:xfrm xmlns:a="http://schemas.openxmlformats.org/drawingml/2006/main">
            <a:off x="7905750" y="3371850"/>
            <a:ext cx="3695700" cy="1123950"/>
          </a:xfrm>
          <a:prstGeom xmlns:a="http://schemas.openxmlformats.org/drawingml/2006/main" prst="roundRect">
            <a:avLst>
              <a:gd name="adj" fmla="val 6780"/>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655631AB-B9C1-4B28-AC81-B19225CA47D5}"/>
              </a:ext>
            </a:extLst>
          </p:cNvPr>
          <p:cNvSpPr>
            <a:spLocks xmlns:a="http://schemas.openxmlformats.org/drawingml/2006/main" noGrp="1"/>
          </p:cNvSpPr>
          <p:nvPr/>
        </p:nvSpPr>
        <p:spPr>
          <a:xfrm xmlns:a="http://schemas.openxmlformats.org/drawingml/2006/main">
            <a:off x="8039100" y="3486150"/>
            <a:ext cx="34290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Tip</a:t>
            </a:r>
          </a:p>
        </p:txBody>
      </p:sp>
      <p:sp>
        <p:nvSpPr>
          <p:cNvPr id="14" name="">
            <a:extLst xmlns:a="http://schemas.openxmlformats.org/drawingml/2006/main">
              <a:ext uri="{FF2B5EF4-FFF2-40B4-BE49-F238E27FC236}">
                <a16:creationId xmlns:a16="http://schemas.microsoft.com/office/drawing/2014/main" id="{06CB3A5A-98F3-4BA0-B9A1-692342991834}"/>
              </a:ext>
            </a:extLst>
          </p:cNvPr>
          <p:cNvSpPr>
            <a:spLocks xmlns:a="http://schemas.openxmlformats.org/drawingml/2006/main" noGrp="1"/>
          </p:cNvSpPr>
          <p:nvPr/>
        </p:nvSpPr>
        <p:spPr>
          <a:xfrm xmlns:a="http://schemas.openxmlformats.org/drawingml/2006/main">
            <a:off x="8039100" y="3771900"/>
            <a:ext cx="3429000" cy="62865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The slide should end with a question: 'What else is the patient taking and what organ systems are already vulnerable?'</a:t>
            </a:r>
          </a:p>
        </p:txBody>
      </p:sp>
    </p:spTree>
    <p:extLst>
      <p:ext uri="{BB962C8B-B14F-4D97-AF65-F5344CB8AC3E}">
        <p14:creationId xmlns:p14="http://schemas.microsoft.com/office/powerpoint/2010/main" val="13090569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4A00AF-B89B-4FA8-A0C5-2C366DAFE98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119FFB3-ACE4-4E63-96A2-F60A2BCA5A0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B4FF7BB4-894F-4DB8-8907-F81873EC8290}"/>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Dosing and administration</a:t>
            </a:r>
          </a:p>
        </p:txBody>
      </p:sp>
      <p:sp>
        <p:nvSpPr>
          <p:cNvPr id="4" name="">
            <a:extLst xmlns:a="http://schemas.openxmlformats.org/drawingml/2006/main">
              <a:ext uri="{FF2B5EF4-FFF2-40B4-BE49-F238E27FC236}">
                <a16:creationId xmlns:a16="http://schemas.microsoft.com/office/drawing/2014/main" id="{FA6B33C9-8716-4252-9087-E99655852128}"/>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This slide should be based on the literature and the approved label, not memory.</a:t>
            </a:r>
          </a:p>
        </p:txBody>
      </p:sp>
      <p:sp>
        <p:nvSpPr>
          <p:cNvPr id="5" name="">
            <a:extLst xmlns:a="http://schemas.openxmlformats.org/drawingml/2006/main">
              <a:ext uri="{FF2B5EF4-FFF2-40B4-BE49-F238E27FC236}">
                <a16:creationId xmlns:a16="http://schemas.microsoft.com/office/drawing/2014/main" id="{170F2D92-0C80-4D3B-BBA3-0E3B27F73378}"/>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FA7ABE5C-D539-4FEC-B43A-1981AB24ABB5}"/>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PMC8643213; PMC9530112; PubMed 24639945</a:t>
            </a:r>
          </a:p>
        </p:txBody>
      </p:sp>
      <p:sp>
        <p:nvSpPr>
          <p:cNvPr id="7" name="">
            <a:extLst xmlns:a="http://schemas.openxmlformats.org/drawingml/2006/main">
              <a:ext uri="{FF2B5EF4-FFF2-40B4-BE49-F238E27FC236}">
                <a16:creationId xmlns:a16="http://schemas.microsoft.com/office/drawing/2014/main" id="{A0C36F0B-5E71-4ED0-B4AB-24814702744D}"/>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15/25</a:t>
            </a:r>
          </a:p>
        </p:txBody>
      </p:sp>
      <p:sp>
        <p:nvSpPr>
          <p:cNvPr id="8" name="">
            <a:extLst xmlns:a="http://schemas.openxmlformats.org/drawingml/2006/main">
              <a:ext uri="{FF2B5EF4-FFF2-40B4-BE49-F238E27FC236}">
                <a16:creationId xmlns:a16="http://schemas.microsoft.com/office/drawing/2014/main" id="{40AD0F68-6F68-4827-A720-DB47EE611088}"/>
              </a:ext>
            </a:extLst>
          </p:cNvPr>
          <p:cNvSpPr>
            <a:spLocks xmlns:a="http://schemas.openxmlformats.org/drawingml/2006/main" noGrp="1"/>
          </p:cNvSpPr>
          <p:nvPr/>
        </p:nvSpPr>
        <p:spPr>
          <a:xfrm xmlns:a="http://schemas.openxmlformats.org/drawingml/2006/main">
            <a:off x="609600" y="1485900"/>
            <a:ext cx="3429000" cy="1714500"/>
          </a:xfrm>
          <a:prstGeom xmlns:a="http://schemas.openxmlformats.org/drawingml/2006/main" prst="roundRect">
            <a:avLst>
              <a:gd name="adj" fmla="val 4444"/>
            </a:avLst>
          </a:prstGeom>
          <a:solidFill xmlns:a="http://schemas.openxmlformats.org/drawingml/2006/main">
            <a:srgbClr val="F4F8FA"/>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087F5B26-1AAC-467D-B31C-B6227A67BBE2}"/>
              </a:ext>
            </a:extLst>
          </p:cNvPr>
          <p:cNvSpPr>
            <a:spLocks xmlns:a="http://schemas.openxmlformats.org/drawingml/2006/main" noGrp="1"/>
          </p:cNvSpPr>
          <p:nvPr/>
        </p:nvSpPr>
        <p:spPr>
          <a:xfrm xmlns:a="http://schemas.openxmlformats.org/drawingml/2006/main">
            <a:off x="742950" y="1600200"/>
            <a:ext cx="31623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Dose principle</a:t>
            </a:r>
          </a:p>
        </p:txBody>
      </p:sp>
      <p:sp>
        <p:nvSpPr>
          <p:cNvPr id="10" name="">
            <a:extLst xmlns:a="http://schemas.openxmlformats.org/drawingml/2006/main">
              <a:ext uri="{FF2B5EF4-FFF2-40B4-BE49-F238E27FC236}">
                <a16:creationId xmlns:a16="http://schemas.microsoft.com/office/drawing/2014/main" id="{B4A6DA82-DDEB-4948-A606-6B0D7430D359}"/>
              </a:ext>
            </a:extLst>
          </p:cNvPr>
          <p:cNvSpPr>
            <a:spLocks xmlns:a="http://schemas.openxmlformats.org/drawingml/2006/main" noGrp="1"/>
          </p:cNvSpPr>
          <p:nvPr/>
        </p:nvSpPr>
        <p:spPr>
          <a:xfrm xmlns:a="http://schemas.openxmlformats.org/drawingml/2006/main">
            <a:off x="742950" y="1885950"/>
            <a:ext cx="3162300" cy="12192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The most studied adult regimen is 100 mg twice daily by mouth; some studies also evaluated once-daily CR 200 mg.</a:t>
            </a:r>
          </a:p>
        </p:txBody>
      </p:sp>
      <p:sp>
        <p:nvSpPr>
          <p:cNvPr id="11" name="">
            <a:extLst xmlns:a="http://schemas.openxmlformats.org/drawingml/2006/main">
              <a:ext uri="{FF2B5EF4-FFF2-40B4-BE49-F238E27FC236}">
                <a16:creationId xmlns:a16="http://schemas.microsoft.com/office/drawing/2014/main" id="{6C27A8B3-A34E-4F02-B6F9-CEE4CE376E86}"/>
              </a:ext>
            </a:extLst>
          </p:cNvPr>
          <p:cNvSpPr>
            <a:spLocks xmlns:a="http://schemas.openxmlformats.org/drawingml/2006/main" noGrp="1"/>
          </p:cNvSpPr>
          <p:nvPr/>
        </p:nvSpPr>
        <p:spPr>
          <a:xfrm xmlns:a="http://schemas.openxmlformats.org/drawingml/2006/main">
            <a:off x="4229100" y="1485900"/>
            <a:ext cx="3429000" cy="1714500"/>
          </a:xfrm>
          <a:prstGeom xmlns:a="http://schemas.openxmlformats.org/drawingml/2006/main" prst="roundRect">
            <a:avLst>
              <a:gd name="adj" fmla="val 4444"/>
            </a:avLst>
          </a:prstGeom>
          <a:solidFill xmlns:a="http://schemas.openxmlformats.org/drawingml/2006/main">
            <a:srgbClr val="EAF4F7"/>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75A4F9EA-34AE-493A-8FCB-AFC7A3890339}"/>
              </a:ext>
            </a:extLst>
          </p:cNvPr>
          <p:cNvSpPr>
            <a:spLocks xmlns:a="http://schemas.openxmlformats.org/drawingml/2006/main" noGrp="1"/>
          </p:cNvSpPr>
          <p:nvPr/>
        </p:nvSpPr>
        <p:spPr>
          <a:xfrm xmlns:a="http://schemas.openxmlformats.org/drawingml/2006/main">
            <a:off x="4362450" y="1600200"/>
            <a:ext cx="31623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Administration</a:t>
            </a:r>
          </a:p>
        </p:txBody>
      </p:sp>
      <p:sp>
        <p:nvSpPr>
          <p:cNvPr id="13" name="">
            <a:extLst xmlns:a="http://schemas.openxmlformats.org/drawingml/2006/main">
              <a:ext uri="{FF2B5EF4-FFF2-40B4-BE49-F238E27FC236}">
                <a16:creationId xmlns:a16="http://schemas.microsoft.com/office/drawing/2014/main" id="{9D300DD6-DE5A-4909-8DCC-B8302397FC04}"/>
              </a:ext>
            </a:extLst>
          </p:cNvPr>
          <p:cNvSpPr>
            <a:spLocks xmlns:a="http://schemas.openxmlformats.org/drawingml/2006/main" noGrp="1"/>
          </p:cNvSpPr>
          <p:nvPr/>
        </p:nvSpPr>
        <p:spPr>
          <a:xfrm xmlns:a="http://schemas.openxmlformats.org/drawingml/2006/main">
            <a:off x="4362450" y="1885950"/>
            <a:ext cx="3162300" cy="12192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Keep timing and food instructions aligned to the formulation used in the local market.</a:t>
            </a:r>
          </a:p>
        </p:txBody>
      </p:sp>
      <p:sp>
        <p:nvSpPr>
          <p:cNvPr id="14" name="">
            <a:extLst xmlns:a="http://schemas.openxmlformats.org/drawingml/2006/main">
              <a:ext uri="{FF2B5EF4-FFF2-40B4-BE49-F238E27FC236}">
                <a16:creationId xmlns:a16="http://schemas.microsoft.com/office/drawing/2014/main" id="{2FA1231E-A2B4-43D9-A863-AD1E919AAE7A}"/>
              </a:ext>
            </a:extLst>
          </p:cNvPr>
          <p:cNvSpPr>
            <a:spLocks xmlns:a="http://schemas.openxmlformats.org/drawingml/2006/main" noGrp="1"/>
          </p:cNvSpPr>
          <p:nvPr/>
        </p:nvSpPr>
        <p:spPr>
          <a:xfrm xmlns:a="http://schemas.openxmlformats.org/drawingml/2006/main">
            <a:off x="7848600" y="1485900"/>
            <a:ext cx="3733800" cy="1714500"/>
          </a:xfrm>
          <a:prstGeom xmlns:a="http://schemas.openxmlformats.org/drawingml/2006/main" prst="roundRect">
            <a:avLst>
              <a:gd name="adj" fmla="val 4444"/>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DD74CE2A-BAF9-42D3-8BE1-E6B30062248D}"/>
              </a:ext>
            </a:extLst>
          </p:cNvPr>
          <p:cNvSpPr>
            <a:spLocks xmlns:a="http://schemas.openxmlformats.org/drawingml/2006/main" noGrp="1"/>
          </p:cNvSpPr>
          <p:nvPr/>
        </p:nvSpPr>
        <p:spPr>
          <a:xfrm xmlns:a="http://schemas.openxmlformats.org/drawingml/2006/main">
            <a:off x="7981950" y="1600200"/>
            <a:ext cx="34671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Adjustments</a:t>
            </a:r>
          </a:p>
        </p:txBody>
      </p:sp>
      <p:sp>
        <p:nvSpPr>
          <p:cNvPr id="16" name="">
            <a:extLst xmlns:a="http://schemas.openxmlformats.org/drawingml/2006/main">
              <a:ext uri="{FF2B5EF4-FFF2-40B4-BE49-F238E27FC236}">
                <a16:creationId xmlns:a16="http://schemas.microsoft.com/office/drawing/2014/main" id="{00F9C6F3-BFAA-4618-82BC-F1E17BC350B5}"/>
              </a:ext>
            </a:extLst>
          </p:cNvPr>
          <p:cNvSpPr>
            <a:spLocks xmlns:a="http://schemas.openxmlformats.org/drawingml/2006/main" noGrp="1"/>
          </p:cNvSpPr>
          <p:nvPr/>
        </p:nvSpPr>
        <p:spPr>
          <a:xfrm xmlns:a="http://schemas.openxmlformats.org/drawingml/2006/main">
            <a:off x="7981950" y="1885950"/>
            <a:ext cx="3467100" cy="12192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Elderly patients need closer adverse-event vigilance, and organ impairment deserves individualised judgment.</a:t>
            </a:r>
          </a:p>
        </p:txBody>
      </p:sp>
      <p:sp>
        <p:nvSpPr>
          <p:cNvPr id="17" name="">
            <a:extLst xmlns:a="http://schemas.openxmlformats.org/drawingml/2006/main">
              <a:ext uri="{FF2B5EF4-FFF2-40B4-BE49-F238E27FC236}">
                <a16:creationId xmlns:a16="http://schemas.microsoft.com/office/drawing/2014/main" id="{F3AD5FC3-5187-478B-BD38-4783DB118912}"/>
              </a:ext>
            </a:extLst>
          </p:cNvPr>
          <p:cNvSpPr>
            <a:spLocks xmlns:a="http://schemas.openxmlformats.org/drawingml/2006/main" noGrp="1"/>
          </p:cNvSpPr>
          <p:nvPr/>
        </p:nvSpPr>
        <p:spPr>
          <a:xfrm xmlns:a="http://schemas.openxmlformats.org/drawingml/2006/main">
            <a:off x="990600" y="3695700"/>
            <a:ext cx="102108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AB561B5F-C5D5-458F-BF89-E67535B19DA4}"/>
              </a:ext>
            </a:extLst>
          </p:cNvPr>
          <p:cNvSpPr>
            <a:spLocks xmlns:a="http://schemas.openxmlformats.org/drawingml/2006/main" noGrp="1"/>
          </p:cNvSpPr>
          <p:nvPr/>
        </p:nvSpPr>
        <p:spPr>
          <a:xfrm xmlns:a="http://schemas.openxmlformats.org/drawingml/2006/main">
            <a:off x="1123950" y="38100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Deck message</a:t>
            </a:r>
          </a:p>
        </p:txBody>
      </p:sp>
      <p:sp>
        <p:nvSpPr>
          <p:cNvPr id="19" name="">
            <a:extLst xmlns:a="http://schemas.openxmlformats.org/drawingml/2006/main">
              <a:ext uri="{FF2B5EF4-FFF2-40B4-BE49-F238E27FC236}">
                <a16:creationId xmlns:a16="http://schemas.microsoft.com/office/drawing/2014/main" id="{E7C3E63A-21E1-482F-9091-2F402C82B8A8}"/>
              </a:ext>
            </a:extLst>
          </p:cNvPr>
          <p:cNvSpPr>
            <a:spLocks xmlns:a="http://schemas.openxmlformats.org/drawingml/2006/main" noGrp="1"/>
          </p:cNvSpPr>
          <p:nvPr/>
        </p:nvSpPr>
        <p:spPr>
          <a:xfrm xmlns:a="http://schemas.openxmlformats.org/drawingml/2006/main">
            <a:off x="1123950" y="4095750"/>
            <a:ext cx="99441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24313A"/>
                </a:solidFill>
                <a:latin typeface="Aptos"/>
                <a:ea typeface="Aptos"/>
                <a:cs typeface="Aptos"/>
              </a:defRPr>
            </a:pPr>
            <a:r>
              <a:rPr sz="1050" b="0">
                <a:solidFill>
                  <a:srgbClr val="24313A"/>
                </a:solidFill>
                <a:latin typeface="Aptos"/>
                <a:ea typeface="Aptos"/>
                <a:cs typeface="Aptos"/>
              </a:rPr>
              <a:t>The role of the slide is to make dosing practical and compliant, not to invent an off-label universal regimen.</a:t>
            </a:r>
          </a:p>
        </p:txBody>
      </p:sp>
    </p:spTree>
    <p:extLst>
      <p:ext uri="{BB962C8B-B14F-4D97-AF65-F5344CB8AC3E}">
        <p14:creationId xmlns:p14="http://schemas.microsoft.com/office/powerpoint/2010/main" val="74007974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1170DAD-5D85-484E-8D62-B9B2140148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6A371478-1267-476A-99DF-12189ED7EB1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238DAAB3-A21C-4C33-AF0F-ABDC18863B78}"/>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Special populations and risk modifiers</a:t>
            </a:r>
          </a:p>
        </p:txBody>
      </p:sp>
      <p:sp>
        <p:nvSpPr>
          <p:cNvPr id="4" name="">
            <a:extLst xmlns:a="http://schemas.openxmlformats.org/drawingml/2006/main">
              <a:ext uri="{FF2B5EF4-FFF2-40B4-BE49-F238E27FC236}">
                <a16:creationId xmlns:a16="http://schemas.microsoft.com/office/drawing/2014/main" id="{D426739E-C429-4763-AD60-875DB063127D}"/>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 deck should remind the audience that NSAID risk is not evenly distributed across patients.</a:t>
            </a:r>
          </a:p>
        </p:txBody>
      </p:sp>
      <p:sp>
        <p:nvSpPr>
          <p:cNvPr id="5" name="">
            <a:extLst xmlns:a="http://schemas.openxmlformats.org/drawingml/2006/main">
              <a:ext uri="{FF2B5EF4-FFF2-40B4-BE49-F238E27FC236}">
                <a16:creationId xmlns:a16="http://schemas.microsoft.com/office/drawing/2014/main" id="{CFB0922D-6A09-4D70-9628-D663FED430EE}"/>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5ABE00D5-BB7E-408B-A350-BF37407C6612}"/>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33238721; PubMed 34876850</a:t>
            </a:r>
          </a:p>
        </p:txBody>
      </p:sp>
      <p:sp>
        <p:nvSpPr>
          <p:cNvPr id="7" name="">
            <a:extLst xmlns:a="http://schemas.openxmlformats.org/drawingml/2006/main">
              <a:ext uri="{FF2B5EF4-FFF2-40B4-BE49-F238E27FC236}">
                <a16:creationId xmlns:a16="http://schemas.microsoft.com/office/drawing/2014/main" id="{8BB81C6B-6AE6-4927-BBDF-70EB84DF748A}"/>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16/25</a:t>
            </a:r>
          </a:p>
        </p:txBody>
      </p:sp>
      <p:graphicFrame>
        <p:nvGraphicFramePr>
          <p:cNvPr id="8" name=""/>
          <p:cNvGraphicFramePr/>
          <p:nvPr/>
        </p:nvGraphicFramePr>
        <p:xfrm>
          <a:off xmlns:a="http://schemas.openxmlformats.org/drawingml/2006/main" x="609600" y="1524000"/>
          <a:ext xmlns:a="http://schemas.openxmlformats.org/drawingml/2006/main" cx="6800850" cy="2667000"/>
        </p:xfrm>
        <a:graphic xmlns:a="http://schemas.openxmlformats.org/drawingml/2006/main">
          <a:graphicData uri="http://schemas.openxmlformats.org/drawingml/2006/table">
            <a:tbl>
              <a:tblPr/>
              <a:tblGrid>
                <a:gridCol w="2176272"/>
                <a:gridCol w="4624578"/>
              </a:tblGrid>
              <a:tr h="444500">
                <a:tc>
                  <a:txBody>
                    <a:bodyPr/>
                    <a:lstStyle/>
                    <a:p>
                      <a:r>
                        <a:rPr sz="750" b="1">
                          <a:solidFill>
                            <a:srgbClr val="FFFFFF"/>
                          </a:solidFill>
                          <a:latin typeface="Aptos"/>
                          <a:ea typeface="Aptos"/>
                          <a:cs typeface="Aptos"/>
                        </a:rPr>
                        <a:t>Population</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Practical question</a:t>
                      </a:r>
                    </a:p>
                  </a:txBody>
                  <a:tcPr marL="91440" marR="91440" marT="45720" marB="45720">
                    <a:lnB w="9525">
                      <a:solidFill>
                        <a:srgbClr val="FFFFFF"/>
                      </a:solidFill>
                    </a:lnB>
                    <a:solidFill>
                      <a:srgbClr val="16324F"/>
                    </a:solidFill>
                  </a:tcPr>
                </a:tc>
              </a:tr>
              <a:tr h="444500">
                <a:tc>
                  <a:txBody>
                    <a:bodyPr/>
                    <a:lstStyle/>
                    <a:p>
                      <a:r>
                        <a:t>Older adults</a:t>
                      </a:r>
                    </a:p>
                  </a:txBody>
                  <a:tcPr marL="91440" marR="91440" marT="45720" marB="45720"/>
                </a:tc>
                <a:tc>
                  <a:txBody>
                    <a:bodyPr/>
                    <a:lstStyle/>
                    <a:p>
                      <a:r>
                        <a:t>Is GI, renal, or blood-pressure risk higher?</a:t>
                      </a:r>
                    </a:p>
                  </a:txBody>
                  <a:tcPr marL="91440" marR="91440" marT="45720" marB="45720"/>
                </a:tc>
              </a:tr>
              <a:tr h="444500">
                <a:tc>
                  <a:txBody>
                    <a:bodyPr/>
                    <a:lstStyle/>
                    <a:p>
                      <a:r>
                        <a:t>CKD / dehydration</a:t>
                      </a:r>
                    </a:p>
                  </a:txBody>
                  <a:tcPr marL="91440" marR="91440" marT="45720" marB="45720"/>
                </a:tc>
                <a:tc>
                  <a:txBody>
                    <a:bodyPr/>
                    <a:lstStyle/>
                    <a:p>
                      <a:r>
                        <a:t>Will renal perfusion be affected?</a:t>
                      </a:r>
                    </a:p>
                  </a:txBody>
                  <a:tcPr marL="91440" marR="91440" marT="45720" marB="45720"/>
                </a:tc>
              </a:tr>
              <a:tr h="444500">
                <a:tc>
                  <a:txBody>
                    <a:bodyPr/>
                    <a:lstStyle/>
                    <a:p>
                      <a:r>
                        <a:t>Hepatic impairment</a:t>
                      </a:r>
                    </a:p>
                  </a:txBody>
                  <a:tcPr marL="91440" marR="91440" marT="45720" marB="45720"/>
                </a:tc>
                <a:tc>
                  <a:txBody>
                    <a:bodyPr/>
                    <a:lstStyle/>
                    <a:p>
                      <a:r>
                        <a:t>Does local labeling require a lower dose or avoidance?</a:t>
                      </a:r>
                    </a:p>
                  </a:txBody>
                  <a:tcPr marL="91440" marR="91440" marT="45720" marB="45720"/>
                </a:tc>
              </a:tr>
              <a:tr h="444500">
                <a:tc>
                  <a:txBody>
                    <a:bodyPr/>
                    <a:lstStyle/>
                    <a:p>
                      <a:r>
                        <a:t>Pregnancy / lactation</a:t>
                      </a:r>
                    </a:p>
                  </a:txBody>
                  <a:tcPr marL="91440" marR="91440" marT="45720" marB="45720"/>
                </a:tc>
                <a:tc>
                  <a:txBody>
                    <a:bodyPr/>
                    <a:lstStyle/>
                    <a:p>
                      <a:r>
                        <a:t>Is the patient in a trimester or lactation state where NSAID use is discouraged?</a:t>
                      </a:r>
                    </a:p>
                  </a:txBody>
                  <a:tcPr marL="91440" marR="91440" marT="45720" marB="45720"/>
                </a:tc>
              </a:tr>
              <a:tr h="444500">
                <a:tc>
                  <a:txBody>
                    <a:bodyPr/>
                    <a:lstStyle/>
                    <a:p>
                      <a:r>
                        <a:t>Children / adolescents</a:t>
                      </a:r>
                    </a:p>
                  </a:txBody>
                  <a:tcPr marL="91440" marR="91440" marT="45720" marB="45720"/>
                </a:tc>
                <a:tc>
                  <a:txBody>
                    <a:bodyPr/>
                    <a:lstStyle/>
                    <a:p>
                      <a:r>
                        <a:t>Is use approved at all in the target market?</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8B210E08-F55E-434F-B892-4412802BEFD2}"/>
              </a:ext>
            </a:extLst>
          </p:cNvPr>
          <p:cNvSpPr>
            <a:spLocks xmlns:a="http://schemas.openxmlformats.org/drawingml/2006/main" noGrp="1"/>
          </p:cNvSpPr>
          <p:nvPr/>
        </p:nvSpPr>
        <p:spPr>
          <a:xfrm xmlns:a="http://schemas.openxmlformats.org/drawingml/2006/main">
            <a:off x="7829550" y="1524000"/>
            <a:ext cx="3771900" cy="1695450"/>
          </a:xfrm>
          <a:prstGeom xmlns:a="http://schemas.openxmlformats.org/drawingml/2006/main" prst="roundRect">
            <a:avLst>
              <a:gd name="adj" fmla="val 4494"/>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B4B89839-BBC7-4C47-8990-98D9DFE8680D}"/>
              </a:ext>
            </a:extLst>
          </p:cNvPr>
          <p:cNvSpPr>
            <a:spLocks xmlns:a="http://schemas.openxmlformats.org/drawingml/2006/main" noGrp="1"/>
          </p:cNvSpPr>
          <p:nvPr/>
        </p:nvSpPr>
        <p:spPr>
          <a:xfrm xmlns:a="http://schemas.openxmlformats.org/drawingml/2006/main">
            <a:off x="7962900" y="1638300"/>
            <a:ext cx="35052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Rule of thumb</a:t>
            </a:r>
          </a:p>
        </p:txBody>
      </p:sp>
      <p:sp>
        <p:nvSpPr>
          <p:cNvPr id="11" name="">
            <a:extLst xmlns:a="http://schemas.openxmlformats.org/drawingml/2006/main">
              <a:ext uri="{FF2B5EF4-FFF2-40B4-BE49-F238E27FC236}">
                <a16:creationId xmlns:a16="http://schemas.microsoft.com/office/drawing/2014/main" id="{1F6D095D-86CF-4F01-A57A-2B78077678CA}"/>
              </a:ext>
            </a:extLst>
          </p:cNvPr>
          <p:cNvSpPr>
            <a:spLocks xmlns:a="http://schemas.openxmlformats.org/drawingml/2006/main" noGrp="1"/>
          </p:cNvSpPr>
          <p:nvPr/>
        </p:nvSpPr>
        <p:spPr>
          <a:xfrm xmlns:a="http://schemas.openxmlformats.org/drawingml/2006/main">
            <a:off x="7962900" y="1924050"/>
            <a:ext cx="3505200" cy="12001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When a population is high risk or under-defined, the slide should direct the audience back to the approved label and individual clinical judgment.</a:t>
            </a:r>
          </a:p>
        </p:txBody>
      </p:sp>
      <p:sp>
        <p:nvSpPr>
          <p:cNvPr id="12" name="">
            <a:extLst xmlns:a="http://schemas.openxmlformats.org/drawingml/2006/main">
              <a:ext uri="{FF2B5EF4-FFF2-40B4-BE49-F238E27FC236}">
                <a16:creationId xmlns:a16="http://schemas.microsoft.com/office/drawing/2014/main" id="{9DA51016-3133-46CE-AA3E-2EA7DFB61B02}"/>
              </a:ext>
            </a:extLst>
          </p:cNvPr>
          <p:cNvSpPr>
            <a:spLocks xmlns:a="http://schemas.openxmlformats.org/drawingml/2006/main" noGrp="1"/>
          </p:cNvSpPr>
          <p:nvPr/>
        </p:nvSpPr>
        <p:spPr>
          <a:xfrm xmlns:a="http://schemas.openxmlformats.org/drawingml/2006/main">
            <a:off x="7829550" y="3409950"/>
            <a:ext cx="3771900" cy="1047750"/>
          </a:xfrm>
          <a:prstGeom xmlns:a="http://schemas.openxmlformats.org/drawingml/2006/main" prst="roundRect">
            <a:avLst>
              <a:gd name="adj" fmla="val 7273"/>
            </a:avLst>
          </a:prstGeom>
          <a:solidFill xmlns:a="http://schemas.openxmlformats.org/drawingml/2006/main">
            <a:srgbClr val="F4F8F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AB0FC453-7C4A-44CB-8A24-F4A550ECB218}"/>
              </a:ext>
            </a:extLst>
          </p:cNvPr>
          <p:cNvSpPr>
            <a:spLocks xmlns:a="http://schemas.openxmlformats.org/drawingml/2006/main" noGrp="1"/>
          </p:cNvSpPr>
          <p:nvPr/>
        </p:nvSpPr>
        <p:spPr>
          <a:xfrm xmlns:a="http://schemas.openxmlformats.org/drawingml/2006/main">
            <a:off x="7962900" y="3524250"/>
            <a:ext cx="35052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Do not overgeneralize</a:t>
            </a:r>
          </a:p>
        </p:txBody>
      </p:sp>
      <p:sp>
        <p:nvSpPr>
          <p:cNvPr id="14" name="">
            <a:extLst xmlns:a="http://schemas.openxmlformats.org/drawingml/2006/main">
              <a:ext uri="{FF2B5EF4-FFF2-40B4-BE49-F238E27FC236}">
                <a16:creationId xmlns:a16="http://schemas.microsoft.com/office/drawing/2014/main" id="{72CBA98D-E54E-4D8F-B93D-7853C087634E}"/>
              </a:ext>
            </a:extLst>
          </p:cNvPr>
          <p:cNvSpPr>
            <a:spLocks xmlns:a="http://schemas.openxmlformats.org/drawingml/2006/main" noGrp="1"/>
          </p:cNvSpPr>
          <p:nvPr/>
        </p:nvSpPr>
        <p:spPr>
          <a:xfrm xmlns:a="http://schemas.openxmlformats.org/drawingml/2006/main">
            <a:off x="7962900" y="3810000"/>
            <a:ext cx="3505200" cy="5524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The adult dosing rule cannot be casually copied into pregnancy, paediatrics, or organ impairment.</a:t>
            </a:r>
          </a:p>
        </p:txBody>
      </p:sp>
    </p:spTree>
    <p:extLst>
      <p:ext uri="{BB962C8B-B14F-4D97-AF65-F5344CB8AC3E}">
        <p14:creationId xmlns:p14="http://schemas.microsoft.com/office/powerpoint/2010/main" val="1512092884"/>
      </p:ext>
    </p:extLst>
  </p:cSld>
</p:sld>
</file>

<file path=ppt/slides/slide17.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4E3C92-EF68-4D80-9D48-AA1CCFC1ED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 name="">
            <a:extLst xmlns:a="http://schemas.openxmlformats.org/drawingml/2006/main">
              <a:ext uri="{FF2B5EF4-FFF2-40B4-BE49-F238E27FC236}">
                <a16:creationId xmlns:a16="http://schemas.microsoft.com/office/drawing/2014/main" id="{E4D1592D-FC07-4E84-BB86-16783E99EDE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E2538"/>
          </a:solidFill>
          <a:ln xmlns:a="http://schemas.openxmlformats.org/drawingml/2006/main" w="0">
            <a:solidFill>
              <a:srgbClr val="0E2538"/>
            </a:solidFill>
            <a:prstDash val="solid"/>
          </a:ln>
        </p:spPr>
      </p:sp>
      <p:sp>
        <p:nvSpPr>
          <p:cNvPr id="3" name="">
            <a:extLst xmlns:a="http://schemas.openxmlformats.org/drawingml/2006/main">
              <a:ext uri="{FF2B5EF4-FFF2-40B4-BE49-F238E27FC236}">
                <a16:creationId xmlns:a16="http://schemas.microsoft.com/office/drawing/2014/main" id="{AFE87396-831E-4B65-811F-FF7C163A8D06}"/>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ptos"/>
                <a:ea typeface="Aptos"/>
                <a:cs typeface="Aptos"/>
              </a:defRPr>
            </a:pPr>
            <a:r>
              <a:rPr sz="1800" b="1">
                <a:solidFill>
                  <a:srgbClr val="FFFFFF"/>
                </a:solidFill>
                <a:latin typeface="Aptos"/>
                <a:ea typeface="Aptos"/>
                <a:cs typeface="Aptos"/>
              </a:rPr>
              <a:t>Practical patient selection</a:t>
            </a:r>
          </a:p>
        </p:txBody>
      </p:sp>
      <p:sp>
        <p:nvSpPr>
          <p:cNvPr id="4" name="">
            <a:extLst xmlns:a="http://schemas.openxmlformats.org/drawingml/2006/main">
              <a:ext uri="{FF2B5EF4-FFF2-40B4-BE49-F238E27FC236}">
                <a16:creationId xmlns:a16="http://schemas.microsoft.com/office/drawing/2014/main" id="{BBDCE9B3-934D-43E8-8884-005CDDEB4771}"/>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D6E3EA"/>
                </a:solidFill>
                <a:latin typeface="Aptos"/>
                <a:ea typeface="Aptos"/>
                <a:cs typeface="Aptos"/>
              </a:defRPr>
            </a:pPr>
            <a:r>
              <a:rPr sz="863" b="0">
                <a:solidFill>
                  <a:srgbClr val="D6E3EA"/>
                </a:solidFill>
                <a:latin typeface="Aptos"/>
                <a:ea typeface="Aptos"/>
                <a:cs typeface="Aptos"/>
              </a:rPr>
              <a:t>A good scientific deck should clearly separate the patients who benefit from those who need another strategy.</a:t>
            </a:r>
          </a:p>
        </p:txBody>
      </p:sp>
      <p:sp>
        <p:nvSpPr>
          <p:cNvPr id="5" name="">
            <a:extLst xmlns:a="http://schemas.openxmlformats.org/drawingml/2006/main">
              <a:ext uri="{FF2B5EF4-FFF2-40B4-BE49-F238E27FC236}">
                <a16:creationId xmlns:a16="http://schemas.microsoft.com/office/drawing/2014/main" id="{D29BF100-D452-4F9A-8FD2-BF95064ECFBB}"/>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31536A"/>
          </a:solidFill>
          <a:ln xmlns:a="http://schemas.openxmlformats.org/drawingml/2006/main" w="0">
            <a:solidFill>
              <a:srgbClr val="31536A"/>
            </a:solidFill>
            <a:prstDash val="solid"/>
          </a:ln>
        </p:spPr>
      </p:sp>
      <p:sp>
        <p:nvSpPr>
          <p:cNvPr id="6" name="">
            <a:extLst xmlns:a="http://schemas.openxmlformats.org/drawingml/2006/main">
              <a:ext uri="{FF2B5EF4-FFF2-40B4-BE49-F238E27FC236}">
                <a16:creationId xmlns:a16="http://schemas.microsoft.com/office/drawing/2014/main" id="{0DF28924-A37D-4D63-BFB5-E8029ECF0984}"/>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D6E3EA"/>
                </a:solidFill>
                <a:latin typeface="Aptos"/>
                <a:ea typeface="Aptos"/>
                <a:cs typeface="Aptos"/>
              </a:defRPr>
            </a:pPr>
            <a:r>
              <a:rPr sz="570" b="0">
                <a:solidFill>
                  <a:srgbClr val="D6E3EA"/>
                </a:solidFill>
                <a:latin typeface="Aptos"/>
                <a:ea typeface="Aptos"/>
                <a:cs typeface="Aptos"/>
              </a:rPr>
              <a:t>Refs: PubMed 26186173; PubMed 31908149; PubMed 34876850</a:t>
            </a:r>
          </a:p>
        </p:txBody>
      </p:sp>
      <p:sp>
        <p:nvSpPr>
          <p:cNvPr id="7" name="">
            <a:extLst xmlns:a="http://schemas.openxmlformats.org/drawingml/2006/main">
              <a:ext uri="{FF2B5EF4-FFF2-40B4-BE49-F238E27FC236}">
                <a16:creationId xmlns:a16="http://schemas.microsoft.com/office/drawing/2014/main" id="{31513295-2A10-4DE4-80E4-89FD3D925523}"/>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D6E3EA"/>
                </a:solidFill>
                <a:latin typeface="Aptos"/>
                <a:ea typeface="Aptos"/>
                <a:cs typeface="Aptos"/>
              </a:defRPr>
            </a:pPr>
            <a:r>
              <a:rPr sz="570" b="0">
                <a:solidFill>
                  <a:srgbClr val="D6E3EA"/>
                </a:solidFill>
                <a:latin typeface="Aptos"/>
                <a:ea typeface="Aptos"/>
                <a:cs typeface="Aptos"/>
              </a:rPr>
              <a:t>Slide 17/25</a:t>
            </a:r>
          </a:p>
        </p:txBody>
      </p:sp>
      <p:sp>
        <p:nvSpPr>
          <p:cNvPr id="8" name="">
            <a:extLst xmlns:a="http://schemas.openxmlformats.org/drawingml/2006/main">
              <a:ext uri="{FF2B5EF4-FFF2-40B4-BE49-F238E27FC236}">
                <a16:creationId xmlns:a16="http://schemas.microsoft.com/office/drawing/2014/main" id="{C5E3367B-0190-4855-9036-F91359B27843}"/>
              </a:ext>
            </a:extLst>
          </p:cNvPr>
          <p:cNvSpPr>
            <a:spLocks xmlns:a="http://schemas.openxmlformats.org/drawingml/2006/main" noGrp="1"/>
          </p:cNvSpPr>
          <p:nvPr/>
        </p:nvSpPr>
        <p:spPr>
          <a:xfrm xmlns:a="http://schemas.openxmlformats.org/drawingml/2006/main">
            <a:off x="609600" y="1504950"/>
            <a:ext cx="5219700" cy="2038350"/>
          </a:xfrm>
          <a:prstGeom xmlns:a="http://schemas.openxmlformats.org/drawingml/2006/main" prst="roundRect">
            <a:avLst>
              <a:gd name="adj" fmla="val 3738"/>
            </a:avLst>
          </a:prstGeom>
          <a:solidFill xmlns:a="http://schemas.openxmlformats.org/drawingml/2006/main">
            <a:srgbClr val="E6F4EA"/>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D1F1E709-78D5-4D3D-88B1-D6C57AD81F11}"/>
              </a:ext>
            </a:extLst>
          </p:cNvPr>
          <p:cNvSpPr>
            <a:spLocks xmlns:a="http://schemas.openxmlformats.org/drawingml/2006/main" noGrp="1"/>
          </p:cNvSpPr>
          <p:nvPr/>
        </p:nvSpPr>
        <p:spPr>
          <a:xfrm xmlns:a="http://schemas.openxmlformats.org/drawingml/2006/main">
            <a:off x="742950" y="1619250"/>
            <a:ext cx="49530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Reasonable candidates</a:t>
            </a:r>
          </a:p>
        </p:txBody>
      </p:sp>
      <p:sp>
        <p:nvSpPr>
          <p:cNvPr id="10" name="">
            <a:extLst xmlns:a="http://schemas.openxmlformats.org/drawingml/2006/main">
              <a:ext uri="{FF2B5EF4-FFF2-40B4-BE49-F238E27FC236}">
                <a16:creationId xmlns:a16="http://schemas.microsoft.com/office/drawing/2014/main" id="{E1D80A28-F0A4-48AD-8FF7-8AC2C63BCF17}"/>
              </a:ext>
            </a:extLst>
          </p:cNvPr>
          <p:cNvSpPr>
            <a:spLocks xmlns:a="http://schemas.openxmlformats.org/drawingml/2006/main" noGrp="1"/>
          </p:cNvSpPr>
          <p:nvPr/>
        </p:nvSpPr>
        <p:spPr>
          <a:xfrm xmlns:a="http://schemas.openxmlformats.org/drawingml/2006/main">
            <a:off x="742950" y="1905000"/>
            <a:ext cx="4953000" cy="154305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907" b="0">
                <a:solidFill>
                  <a:srgbClr val="24313A"/>
                </a:solidFill>
                <a:latin typeface="Aptos"/>
                <a:ea typeface="Aptos"/>
                <a:cs typeface="Aptos"/>
              </a:defRPr>
            </a:pPr>
            <a:r>
              <a:rPr sz="907" b="0">
                <a:solidFill>
                  <a:srgbClr val="24313A"/>
                </a:solidFill>
                <a:latin typeface="Aptos"/>
                <a:ea typeface="Aptos"/>
                <a:cs typeface="Aptos"/>
              </a:rPr>
              <a:t>Patients with inflammatory pain, osteoarthritis, or short-term musculoskeletal pain who need an NSAID and have an acceptable GI, renal, hepatic, and cardiovascular profile.</a:t>
            </a:r>
          </a:p>
        </p:txBody>
      </p:sp>
      <p:sp>
        <p:nvSpPr>
          <p:cNvPr id="11" name="">
            <a:extLst xmlns:a="http://schemas.openxmlformats.org/drawingml/2006/main">
              <a:ext uri="{FF2B5EF4-FFF2-40B4-BE49-F238E27FC236}">
                <a16:creationId xmlns:a16="http://schemas.microsoft.com/office/drawing/2014/main" id="{291D3620-EBC9-47F9-934F-ABC0AA8553E8}"/>
              </a:ext>
            </a:extLst>
          </p:cNvPr>
          <p:cNvSpPr>
            <a:spLocks xmlns:a="http://schemas.openxmlformats.org/drawingml/2006/main" noGrp="1"/>
          </p:cNvSpPr>
          <p:nvPr/>
        </p:nvSpPr>
        <p:spPr>
          <a:xfrm xmlns:a="http://schemas.openxmlformats.org/drawingml/2006/main">
            <a:off x="6076950" y="1504950"/>
            <a:ext cx="5505450" cy="2038350"/>
          </a:xfrm>
          <a:prstGeom xmlns:a="http://schemas.openxmlformats.org/drawingml/2006/main" prst="roundRect">
            <a:avLst>
              <a:gd name="adj" fmla="val 3738"/>
            </a:avLst>
          </a:prstGeom>
          <a:solidFill xmlns:a="http://schemas.openxmlformats.org/drawingml/2006/main">
            <a:srgbClr val="FCE4D6"/>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31A2AC67-67F0-4640-A048-7425F0128F04}"/>
              </a:ext>
            </a:extLst>
          </p:cNvPr>
          <p:cNvSpPr>
            <a:spLocks xmlns:a="http://schemas.openxmlformats.org/drawingml/2006/main" noGrp="1"/>
          </p:cNvSpPr>
          <p:nvPr/>
        </p:nvSpPr>
        <p:spPr>
          <a:xfrm xmlns:a="http://schemas.openxmlformats.org/drawingml/2006/main">
            <a:off x="6210300" y="1619250"/>
            <a:ext cx="5238750" cy="2667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Be cautious or avoid</a:t>
            </a:r>
          </a:p>
        </p:txBody>
      </p:sp>
      <p:sp>
        <p:nvSpPr>
          <p:cNvPr id="13" name="">
            <a:extLst xmlns:a="http://schemas.openxmlformats.org/drawingml/2006/main">
              <a:ext uri="{FF2B5EF4-FFF2-40B4-BE49-F238E27FC236}">
                <a16:creationId xmlns:a16="http://schemas.microsoft.com/office/drawing/2014/main" id="{08602927-699C-4CE3-BC6C-1C9F18287633}"/>
              </a:ext>
            </a:extLst>
          </p:cNvPr>
          <p:cNvSpPr>
            <a:spLocks xmlns:a="http://schemas.openxmlformats.org/drawingml/2006/main" noGrp="1"/>
          </p:cNvSpPr>
          <p:nvPr/>
        </p:nvSpPr>
        <p:spPr>
          <a:xfrm xmlns:a="http://schemas.openxmlformats.org/drawingml/2006/main">
            <a:off x="6210300" y="1905000"/>
            <a:ext cx="5238750" cy="154305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l">
              <a:defRPr sz="907" b="0">
                <a:solidFill>
                  <a:srgbClr val="24313A"/>
                </a:solidFill>
                <a:latin typeface="Aptos"/>
                <a:ea typeface="Aptos"/>
                <a:cs typeface="Aptos"/>
              </a:defRPr>
            </a:pPr>
            <a:r>
              <a:rPr sz="907" b="0">
                <a:solidFill>
                  <a:srgbClr val="24313A"/>
                </a:solidFill>
                <a:latin typeface="Aptos"/>
                <a:ea typeface="Aptos"/>
                <a:cs typeface="Aptos"/>
              </a:rPr>
              <a:t>Active ulcer disease, prior GI bleed, significant renal impairment, uncontrolled cardiovascular disease, pregnancy-related risk, and any situation where the approved label advises against use.</a:t>
            </a:r>
          </a:p>
        </p:txBody>
      </p:sp>
      <p:sp>
        <p:nvSpPr>
          <p:cNvPr id="14" name="">
            <a:extLst xmlns:a="http://schemas.openxmlformats.org/drawingml/2006/main">
              <a:ext uri="{FF2B5EF4-FFF2-40B4-BE49-F238E27FC236}">
                <a16:creationId xmlns:a16="http://schemas.microsoft.com/office/drawing/2014/main" id="{508C21CC-7FD9-4D71-86F9-31A63336BFF0}"/>
              </a:ext>
            </a:extLst>
          </p:cNvPr>
          <p:cNvSpPr>
            <a:spLocks xmlns:a="http://schemas.openxmlformats.org/drawingml/2006/main" noGrp="1"/>
          </p:cNvSpPr>
          <p:nvPr/>
        </p:nvSpPr>
        <p:spPr>
          <a:xfrm xmlns:a="http://schemas.openxmlformats.org/drawingml/2006/main">
            <a:off x="990600" y="4000500"/>
            <a:ext cx="102108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F28BF1A8-D91A-437B-AC96-AFD677C48518}"/>
              </a:ext>
            </a:extLst>
          </p:cNvPr>
          <p:cNvSpPr>
            <a:spLocks xmlns:a="http://schemas.openxmlformats.org/drawingml/2006/main" noGrp="1"/>
          </p:cNvSpPr>
          <p:nvPr/>
        </p:nvSpPr>
        <p:spPr>
          <a:xfrm xmlns:a="http://schemas.openxmlformats.org/drawingml/2006/main">
            <a:off x="1123950" y="41148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Decision rule</a:t>
            </a:r>
          </a:p>
        </p:txBody>
      </p:sp>
      <p:sp>
        <p:nvSpPr>
          <p:cNvPr id="16" name="">
            <a:extLst xmlns:a="http://schemas.openxmlformats.org/drawingml/2006/main">
              <a:ext uri="{FF2B5EF4-FFF2-40B4-BE49-F238E27FC236}">
                <a16:creationId xmlns:a16="http://schemas.microsoft.com/office/drawing/2014/main" id="{C07FD5E7-8287-4E54-9AD0-65315613E640}"/>
              </a:ext>
            </a:extLst>
          </p:cNvPr>
          <p:cNvSpPr>
            <a:spLocks xmlns:a="http://schemas.openxmlformats.org/drawingml/2006/main" noGrp="1"/>
          </p:cNvSpPr>
          <p:nvPr/>
        </p:nvSpPr>
        <p:spPr>
          <a:xfrm xmlns:a="http://schemas.openxmlformats.org/drawingml/2006/main">
            <a:off x="1123950" y="4400550"/>
            <a:ext cx="99441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24313A"/>
                </a:solidFill>
                <a:latin typeface="Aptos"/>
                <a:ea typeface="Aptos"/>
                <a:cs typeface="Aptos"/>
              </a:defRPr>
            </a:pPr>
            <a:r>
              <a:rPr sz="1050" b="0">
                <a:solidFill>
                  <a:srgbClr val="24313A"/>
                </a:solidFill>
                <a:latin typeface="Aptos"/>
                <a:ea typeface="Aptos"/>
                <a:cs typeface="Aptos"/>
              </a:rPr>
              <a:t>Use the smallest effective exposure for the shortest effective time, and let the approved PI and the patient profile drive the final choice.</a:t>
            </a:r>
          </a:p>
        </p:txBody>
      </p:sp>
    </p:spTree>
    <p:extLst>
      <p:ext uri="{BB962C8B-B14F-4D97-AF65-F5344CB8AC3E}">
        <p14:creationId xmlns:p14="http://schemas.microsoft.com/office/powerpoint/2010/main" val="50002102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457DC44-5E95-4456-91E9-6A4DDDD18C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67308EC1-64D0-4A36-88AD-4A31CFEFA31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50A6EF1F-47F1-4595-9E3F-19F290C1FE26}"/>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Where aceclofenac fits in therapy</a:t>
            </a:r>
          </a:p>
        </p:txBody>
      </p:sp>
      <p:sp>
        <p:nvSpPr>
          <p:cNvPr id="4" name="">
            <a:extLst xmlns:a="http://schemas.openxmlformats.org/drawingml/2006/main">
              <a:ext uri="{FF2B5EF4-FFF2-40B4-BE49-F238E27FC236}">
                <a16:creationId xmlns:a16="http://schemas.microsoft.com/office/drawing/2014/main" id="{8D685933-A258-43CB-89CB-2F06701E323F}"/>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Place-in-therapy slides should be balanced, guideline-aware, and clinically honest.</a:t>
            </a:r>
          </a:p>
        </p:txBody>
      </p:sp>
      <p:sp>
        <p:nvSpPr>
          <p:cNvPr id="5" name="">
            <a:extLst xmlns:a="http://schemas.openxmlformats.org/drawingml/2006/main">
              <a:ext uri="{FF2B5EF4-FFF2-40B4-BE49-F238E27FC236}">
                <a16:creationId xmlns:a16="http://schemas.microsoft.com/office/drawing/2014/main" id="{2E0F7087-15B2-4227-8651-DDC89BE1E7CC}"/>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901CC60B-5BF9-44C9-B585-2D41F31F65AD}"/>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5335881; PubMed 26186173; PubMed 36414224</a:t>
            </a:r>
          </a:p>
        </p:txBody>
      </p:sp>
      <p:sp>
        <p:nvSpPr>
          <p:cNvPr id="7" name="">
            <a:extLst xmlns:a="http://schemas.openxmlformats.org/drawingml/2006/main">
              <a:ext uri="{FF2B5EF4-FFF2-40B4-BE49-F238E27FC236}">
                <a16:creationId xmlns:a16="http://schemas.microsoft.com/office/drawing/2014/main" id="{DB58668F-97B2-4CFE-9F9C-7EEA6A50822B}"/>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18/25</a:t>
            </a:r>
          </a:p>
        </p:txBody>
      </p:sp>
      <p:sp>
        <p:nvSpPr>
          <p:cNvPr id="8" name="">
            <a:extLst xmlns:a="http://schemas.openxmlformats.org/drawingml/2006/main">
              <a:ext uri="{FF2B5EF4-FFF2-40B4-BE49-F238E27FC236}">
                <a16:creationId xmlns:a16="http://schemas.microsoft.com/office/drawing/2014/main" id="{2FF34B4D-B1F7-4691-B99D-73864A2AC884}"/>
              </a:ext>
            </a:extLst>
          </p:cNvPr>
          <p:cNvSpPr>
            <a:spLocks xmlns:a="http://schemas.openxmlformats.org/drawingml/2006/main" noGrp="1"/>
          </p:cNvSpPr>
          <p:nvPr/>
        </p:nvSpPr>
        <p:spPr>
          <a:xfrm xmlns:a="http://schemas.openxmlformats.org/drawingml/2006/main">
            <a:off x="609600" y="1466850"/>
            <a:ext cx="3429000" cy="1771650"/>
          </a:xfrm>
          <a:prstGeom xmlns:a="http://schemas.openxmlformats.org/drawingml/2006/main" prst="roundRect">
            <a:avLst>
              <a:gd name="adj" fmla="val 4301"/>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B21E7515-DA3A-417D-AC13-69B2FF645CC3}"/>
              </a:ext>
            </a:extLst>
          </p:cNvPr>
          <p:cNvSpPr>
            <a:spLocks xmlns:a="http://schemas.openxmlformats.org/drawingml/2006/main" noGrp="1"/>
          </p:cNvSpPr>
          <p:nvPr/>
        </p:nvSpPr>
        <p:spPr>
          <a:xfrm xmlns:a="http://schemas.openxmlformats.org/drawingml/2006/main">
            <a:off x="742950" y="1581150"/>
            <a:ext cx="31623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Core role</a:t>
            </a:r>
          </a:p>
        </p:txBody>
      </p:sp>
      <p:sp>
        <p:nvSpPr>
          <p:cNvPr id="10" name="">
            <a:extLst xmlns:a="http://schemas.openxmlformats.org/drawingml/2006/main">
              <a:ext uri="{FF2B5EF4-FFF2-40B4-BE49-F238E27FC236}">
                <a16:creationId xmlns:a16="http://schemas.microsoft.com/office/drawing/2014/main" id="{18C55F55-FABF-4AB1-9235-E4D4256C4004}"/>
              </a:ext>
            </a:extLst>
          </p:cNvPr>
          <p:cNvSpPr>
            <a:spLocks xmlns:a="http://schemas.openxmlformats.org/drawingml/2006/main" noGrp="1"/>
          </p:cNvSpPr>
          <p:nvPr/>
        </p:nvSpPr>
        <p:spPr>
          <a:xfrm xmlns:a="http://schemas.openxmlformats.org/drawingml/2006/main">
            <a:off x="742950" y="1866900"/>
            <a:ext cx="3162300" cy="12763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Symptomatic relief in inflammatory pain or osteoarthritis where an NSAID is appropriate.</a:t>
            </a:r>
          </a:p>
        </p:txBody>
      </p:sp>
      <p:sp>
        <p:nvSpPr>
          <p:cNvPr id="11" name="">
            <a:extLst xmlns:a="http://schemas.openxmlformats.org/drawingml/2006/main">
              <a:ext uri="{FF2B5EF4-FFF2-40B4-BE49-F238E27FC236}">
                <a16:creationId xmlns:a16="http://schemas.microsoft.com/office/drawing/2014/main" id="{FD046C99-FD60-4C4C-B3DF-CA73197169B5}"/>
              </a:ext>
            </a:extLst>
          </p:cNvPr>
          <p:cNvSpPr>
            <a:spLocks xmlns:a="http://schemas.openxmlformats.org/drawingml/2006/main" noGrp="1"/>
          </p:cNvSpPr>
          <p:nvPr/>
        </p:nvSpPr>
        <p:spPr>
          <a:xfrm xmlns:a="http://schemas.openxmlformats.org/drawingml/2006/main">
            <a:off x="4229100" y="1466850"/>
            <a:ext cx="3429000" cy="1771650"/>
          </a:xfrm>
          <a:prstGeom xmlns:a="http://schemas.openxmlformats.org/drawingml/2006/main" prst="roundRect">
            <a:avLst>
              <a:gd name="adj" fmla="val 4301"/>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5A724F66-7E6F-43BB-88B6-BAFFCE6CC107}"/>
              </a:ext>
            </a:extLst>
          </p:cNvPr>
          <p:cNvSpPr>
            <a:spLocks xmlns:a="http://schemas.openxmlformats.org/drawingml/2006/main" noGrp="1"/>
          </p:cNvSpPr>
          <p:nvPr/>
        </p:nvSpPr>
        <p:spPr>
          <a:xfrm xmlns:a="http://schemas.openxmlformats.org/drawingml/2006/main">
            <a:off x="4362450" y="1581150"/>
            <a:ext cx="31623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Adjunctive role</a:t>
            </a:r>
          </a:p>
        </p:txBody>
      </p:sp>
      <p:sp>
        <p:nvSpPr>
          <p:cNvPr id="13" name="">
            <a:extLst xmlns:a="http://schemas.openxmlformats.org/drawingml/2006/main">
              <a:ext uri="{FF2B5EF4-FFF2-40B4-BE49-F238E27FC236}">
                <a16:creationId xmlns:a16="http://schemas.microsoft.com/office/drawing/2014/main" id="{D7CBC042-D859-45AA-85CB-F06C07DF85BD}"/>
              </a:ext>
            </a:extLst>
          </p:cNvPr>
          <p:cNvSpPr>
            <a:spLocks xmlns:a="http://schemas.openxmlformats.org/drawingml/2006/main" noGrp="1"/>
          </p:cNvSpPr>
          <p:nvPr/>
        </p:nvSpPr>
        <p:spPr>
          <a:xfrm xmlns:a="http://schemas.openxmlformats.org/drawingml/2006/main">
            <a:off x="4362450" y="1866900"/>
            <a:ext cx="3162300" cy="12763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Can sit alongside non-pharmacologic measures and other approved interventions.</a:t>
            </a:r>
          </a:p>
        </p:txBody>
      </p:sp>
      <p:sp>
        <p:nvSpPr>
          <p:cNvPr id="14" name="">
            <a:extLst xmlns:a="http://schemas.openxmlformats.org/drawingml/2006/main">
              <a:ext uri="{FF2B5EF4-FFF2-40B4-BE49-F238E27FC236}">
                <a16:creationId xmlns:a16="http://schemas.microsoft.com/office/drawing/2014/main" id="{6C679574-E544-4989-ADFD-2757D1D6527A}"/>
              </a:ext>
            </a:extLst>
          </p:cNvPr>
          <p:cNvSpPr>
            <a:spLocks xmlns:a="http://schemas.openxmlformats.org/drawingml/2006/main" noGrp="1"/>
          </p:cNvSpPr>
          <p:nvPr/>
        </p:nvSpPr>
        <p:spPr>
          <a:xfrm xmlns:a="http://schemas.openxmlformats.org/drawingml/2006/main">
            <a:off x="7848600" y="1466850"/>
            <a:ext cx="3733800" cy="1771650"/>
          </a:xfrm>
          <a:prstGeom xmlns:a="http://schemas.openxmlformats.org/drawingml/2006/main" prst="roundRect">
            <a:avLst>
              <a:gd name="adj" fmla="val 4301"/>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79DEF0B2-40D5-41FB-A769-DAB80D85D221}"/>
              </a:ext>
            </a:extLst>
          </p:cNvPr>
          <p:cNvSpPr>
            <a:spLocks xmlns:a="http://schemas.openxmlformats.org/drawingml/2006/main" noGrp="1"/>
          </p:cNvSpPr>
          <p:nvPr/>
        </p:nvSpPr>
        <p:spPr>
          <a:xfrm xmlns:a="http://schemas.openxmlformats.org/drawingml/2006/main">
            <a:off x="7981950" y="1581150"/>
            <a:ext cx="34671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Not the role</a:t>
            </a:r>
          </a:p>
        </p:txBody>
      </p:sp>
      <p:sp>
        <p:nvSpPr>
          <p:cNvPr id="16" name="">
            <a:extLst xmlns:a="http://schemas.openxmlformats.org/drawingml/2006/main">
              <a:ext uri="{FF2B5EF4-FFF2-40B4-BE49-F238E27FC236}">
                <a16:creationId xmlns:a16="http://schemas.microsoft.com/office/drawing/2014/main" id="{C62CC3F5-869C-4572-B88C-C074E3B4DD7F}"/>
              </a:ext>
            </a:extLst>
          </p:cNvPr>
          <p:cNvSpPr>
            <a:spLocks xmlns:a="http://schemas.openxmlformats.org/drawingml/2006/main" noGrp="1"/>
          </p:cNvSpPr>
          <p:nvPr/>
        </p:nvSpPr>
        <p:spPr>
          <a:xfrm xmlns:a="http://schemas.openxmlformats.org/drawingml/2006/main">
            <a:off x="7981950" y="1866900"/>
            <a:ext cx="3467100" cy="127635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Not a disease-modifying therapy and not a universal option for every pain syndrome.</a:t>
            </a:r>
          </a:p>
        </p:txBody>
      </p:sp>
      <p:sp>
        <p:nvSpPr>
          <p:cNvPr id="17" name="">
            <a:extLst xmlns:a="http://schemas.openxmlformats.org/drawingml/2006/main">
              <a:ext uri="{FF2B5EF4-FFF2-40B4-BE49-F238E27FC236}">
                <a16:creationId xmlns:a16="http://schemas.microsoft.com/office/drawing/2014/main" id="{B9F74794-DC4E-4EAA-BC8A-9100347C75DC}"/>
              </a:ext>
            </a:extLst>
          </p:cNvPr>
          <p:cNvSpPr>
            <a:spLocks xmlns:a="http://schemas.openxmlformats.org/drawingml/2006/main" noGrp="1"/>
          </p:cNvSpPr>
          <p:nvPr/>
        </p:nvSpPr>
        <p:spPr>
          <a:xfrm xmlns:a="http://schemas.openxmlformats.org/drawingml/2006/main">
            <a:off x="990600" y="3657600"/>
            <a:ext cx="102108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4454DD1A-9D26-4244-B38D-C8B4043659B6}"/>
              </a:ext>
            </a:extLst>
          </p:cNvPr>
          <p:cNvSpPr>
            <a:spLocks xmlns:a="http://schemas.openxmlformats.org/drawingml/2006/main" noGrp="1"/>
          </p:cNvSpPr>
          <p:nvPr/>
        </p:nvSpPr>
        <p:spPr>
          <a:xfrm xmlns:a="http://schemas.openxmlformats.org/drawingml/2006/main">
            <a:off x="1123950" y="37719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Balanced framing</a:t>
            </a:r>
          </a:p>
        </p:txBody>
      </p:sp>
      <p:sp>
        <p:nvSpPr>
          <p:cNvPr id="19" name="">
            <a:extLst xmlns:a="http://schemas.openxmlformats.org/drawingml/2006/main">
              <a:ext uri="{FF2B5EF4-FFF2-40B4-BE49-F238E27FC236}">
                <a16:creationId xmlns:a16="http://schemas.microsoft.com/office/drawing/2014/main" id="{658C7D1B-5839-48CF-9304-27593BECCBE0}"/>
              </a:ext>
            </a:extLst>
          </p:cNvPr>
          <p:cNvSpPr>
            <a:spLocks xmlns:a="http://schemas.openxmlformats.org/drawingml/2006/main" noGrp="1"/>
          </p:cNvSpPr>
          <p:nvPr/>
        </p:nvSpPr>
        <p:spPr>
          <a:xfrm xmlns:a="http://schemas.openxmlformats.org/drawingml/2006/main">
            <a:off x="1123950" y="4057650"/>
            <a:ext cx="99441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35" b="0">
                <a:solidFill>
                  <a:srgbClr val="24313A"/>
                </a:solidFill>
                <a:latin typeface="Aptos"/>
                <a:ea typeface="Aptos"/>
                <a:cs typeface="Aptos"/>
              </a:defRPr>
            </a:pPr>
            <a:r>
              <a:rPr sz="1035" b="0">
                <a:solidFill>
                  <a:srgbClr val="24313A"/>
                </a:solidFill>
                <a:latin typeface="Aptos"/>
                <a:ea typeface="Aptos"/>
                <a:cs typeface="Aptos"/>
              </a:rPr>
              <a:t>The slide should help the audience decide when aceclofenac is sensible, when another analgesic strategy may be better, and when disease-specific therapy or referral should take priority.</a:t>
            </a:r>
          </a:p>
        </p:txBody>
      </p:sp>
    </p:spTree>
    <p:extLst>
      <p:ext uri="{BB962C8B-B14F-4D97-AF65-F5344CB8AC3E}">
        <p14:creationId xmlns:p14="http://schemas.microsoft.com/office/powerpoint/2010/main" val="1836764066"/>
      </p:ext>
    </p:extLst>
  </p:cSld>
</p:sld>
</file>

<file path=ppt/slides/slide19.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37D4D0-E76E-4675-9D38-9599F13ECA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 name="">
            <a:extLst xmlns:a="http://schemas.openxmlformats.org/drawingml/2006/main">
              <a:ext uri="{FF2B5EF4-FFF2-40B4-BE49-F238E27FC236}">
                <a16:creationId xmlns:a16="http://schemas.microsoft.com/office/drawing/2014/main" id="{0F092A5E-E4A9-4BDF-AEB4-0F2030C8F52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E2538"/>
          </a:solidFill>
          <a:ln xmlns:a="http://schemas.openxmlformats.org/drawingml/2006/main" w="0">
            <a:solidFill>
              <a:srgbClr val="0E2538"/>
            </a:solidFill>
            <a:prstDash val="solid"/>
          </a:ln>
        </p:spPr>
      </p:sp>
      <p:sp>
        <p:nvSpPr>
          <p:cNvPr id="3" name="">
            <a:extLst xmlns:a="http://schemas.openxmlformats.org/drawingml/2006/main">
              <a:ext uri="{FF2B5EF4-FFF2-40B4-BE49-F238E27FC236}">
                <a16:creationId xmlns:a16="http://schemas.microsoft.com/office/drawing/2014/main" id="{33CFF48A-5943-45C0-9BA4-E911044582C0}"/>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ptos"/>
                <a:ea typeface="Aptos"/>
                <a:cs typeface="Aptos"/>
              </a:defRPr>
            </a:pPr>
            <a:r>
              <a:rPr sz="1800" b="1">
                <a:solidFill>
                  <a:srgbClr val="FFFFFF"/>
                </a:solidFill>
                <a:latin typeface="Aptos"/>
                <a:ea typeface="Aptos"/>
                <a:cs typeface="Aptos"/>
              </a:rPr>
              <a:t>Non-pharmacologic context and combination care</a:t>
            </a:r>
          </a:p>
        </p:txBody>
      </p:sp>
      <p:sp>
        <p:nvSpPr>
          <p:cNvPr id="4" name="">
            <a:extLst xmlns:a="http://schemas.openxmlformats.org/drawingml/2006/main">
              <a:ext uri="{FF2B5EF4-FFF2-40B4-BE49-F238E27FC236}">
                <a16:creationId xmlns:a16="http://schemas.microsoft.com/office/drawing/2014/main" id="{8EE09191-DA12-40D1-953D-70325AA78311}"/>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D6E3EA"/>
                </a:solidFill>
                <a:latin typeface="Aptos"/>
                <a:ea typeface="Aptos"/>
                <a:cs typeface="Aptos"/>
              </a:defRPr>
            </a:pPr>
            <a:r>
              <a:rPr sz="863" b="0">
                <a:solidFill>
                  <a:srgbClr val="D6E3EA"/>
                </a:solidFill>
                <a:latin typeface="Aptos"/>
                <a:ea typeface="Aptos"/>
                <a:cs typeface="Aptos"/>
              </a:rPr>
              <a:t>A good deck reminds the audience that medicines are only one part of musculoskeletal care.</a:t>
            </a:r>
          </a:p>
        </p:txBody>
      </p:sp>
      <p:sp>
        <p:nvSpPr>
          <p:cNvPr id="5" name="">
            <a:extLst xmlns:a="http://schemas.openxmlformats.org/drawingml/2006/main">
              <a:ext uri="{FF2B5EF4-FFF2-40B4-BE49-F238E27FC236}">
                <a16:creationId xmlns:a16="http://schemas.microsoft.com/office/drawing/2014/main" id="{25F566C8-1348-4F4D-8860-F5398B397B30}"/>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31536A"/>
          </a:solidFill>
          <a:ln xmlns:a="http://schemas.openxmlformats.org/drawingml/2006/main" w="0">
            <a:solidFill>
              <a:srgbClr val="31536A"/>
            </a:solidFill>
            <a:prstDash val="solid"/>
          </a:ln>
        </p:spPr>
      </p:sp>
      <p:sp>
        <p:nvSpPr>
          <p:cNvPr id="6" name="">
            <a:extLst xmlns:a="http://schemas.openxmlformats.org/drawingml/2006/main">
              <a:ext uri="{FF2B5EF4-FFF2-40B4-BE49-F238E27FC236}">
                <a16:creationId xmlns:a16="http://schemas.microsoft.com/office/drawing/2014/main" id="{4F03AC72-02E8-4800-8BEB-19951D3C7777}"/>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D6E3EA"/>
                </a:solidFill>
                <a:latin typeface="Aptos"/>
                <a:ea typeface="Aptos"/>
                <a:cs typeface="Aptos"/>
              </a:defRPr>
            </a:pPr>
            <a:r>
              <a:rPr sz="570" b="0">
                <a:solidFill>
                  <a:srgbClr val="D6E3EA"/>
                </a:solidFill>
                <a:latin typeface="Aptos"/>
                <a:ea typeface="Aptos"/>
                <a:cs typeface="Aptos"/>
              </a:rPr>
              <a:t>Refs: PubMed 26186173; PubMed 34719940</a:t>
            </a:r>
          </a:p>
        </p:txBody>
      </p:sp>
      <p:sp>
        <p:nvSpPr>
          <p:cNvPr id="7" name="">
            <a:extLst xmlns:a="http://schemas.openxmlformats.org/drawingml/2006/main">
              <a:ext uri="{FF2B5EF4-FFF2-40B4-BE49-F238E27FC236}">
                <a16:creationId xmlns:a16="http://schemas.microsoft.com/office/drawing/2014/main" id="{FC3061FA-263E-447B-B56B-7960E4415B6E}"/>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D6E3EA"/>
                </a:solidFill>
                <a:latin typeface="Aptos"/>
                <a:ea typeface="Aptos"/>
                <a:cs typeface="Aptos"/>
              </a:defRPr>
            </a:pPr>
            <a:r>
              <a:rPr sz="570" b="0">
                <a:solidFill>
                  <a:srgbClr val="D6E3EA"/>
                </a:solidFill>
                <a:latin typeface="Aptos"/>
                <a:ea typeface="Aptos"/>
                <a:cs typeface="Aptos"/>
              </a:rPr>
              <a:t>Slide 19/25</a:t>
            </a:r>
          </a:p>
        </p:txBody>
      </p:sp>
      <p:sp>
        <p:nvSpPr>
          <p:cNvPr id="8" name="">
            <a:extLst xmlns:a="http://schemas.openxmlformats.org/drawingml/2006/main">
              <a:ext uri="{FF2B5EF4-FFF2-40B4-BE49-F238E27FC236}">
                <a16:creationId xmlns:a16="http://schemas.microsoft.com/office/drawing/2014/main" id="{5278684B-27E5-4ADD-A5D2-EC6F1B792433}"/>
              </a:ext>
            </a:extLst>
          </p:cNvPr>
          <p:cNvSpPr>
            <a:spLocks xmlns:a="http://schemas.openxmlformats.org/drawingml/2006/main" noGrp="1"/>
          </p:cNvSpPr>
          <p:nvPr/>
        </p:nvSpPr>
        <p:spPr>
          <a:xfrm xmlns:a="http://schemas.openxmlformats.org/drawingml/2006/main">
            <a:off x="685800" y="1504950"/>
            <a:ext cx="6096000" cy="29146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Exercise, weight management, physiotherapy, and ergonomic advice remain important where appropriate.</a:t>
            </a:r>
          </a:p>
          <a:p xmlns:a="http://schemas.openxmlformats.org/drawingml/2006/main">
            <a:r>
              <a:t/>
            </a:r>
          </a:p>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Analgesic therapy should be combined with lifestyle and mechanical management when indicated.</a:t>
            </a:r>
          </a:p>
          <a:p xmlns:a="http://schemas.openxmlformats.org/drawingml/2006/main">
            <a:r>
              <a:t/>
            </a:r>
          </a:p>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Medication can help symptoms, but the care plan should still address the underlying functional problem.</a:t>
            </a:r>
          </a:p>
        </p:txBody>
      </p:sp>
      <p:sp>
        <p:nvSpPr>
          <p:cNvPr id="9" name="">
            <a:extLst xmlns:a="http://schemas.openxmlformats.org/drawingml/2006/main">
              <a:ext uri="{FF2B5EF4-FFF2-40B4-BE49-F238E27FC236}">
                <a16:creationId xmlns:a16="http://schemas.microsoft.com/office/drawing/2014/main" id="{C7923D81-817F-40A6-9ED7-B8D2FAFA6A93}"/>
              </a:ext>
            </a:extLst>
          </p:cNvPr>
          <p:cNvSpPr>
            <a:spLocks xmlns:a="http://schemas.openxmlformats.org/drawingml/2006/main" noGrp="1"/>
          </p:cNvSpPr>
          <p:nvPr/>
        </p:nvSpPr>
        <p:spPr>
          <a:xfrm xmlns:a="http://schemas.openxmlformats.org/drawingml/2006/main">
            <a:off x="7239000" y="1657350"/>
            <a:ext cx="3848100" cy="1771650"/>
          </a:xfrm>
          <a:prstGeom xmlns:a="http://schemas.openxmlformats.org/drawingml/2006/main" prst="roundRect">
            <a:avLst>
              <a:gd name="adj" fmla="val 4301"/>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B9950F2B-9FB9-45DA-93A5-DB9AD7F7832D}"/>
              </a:ext>
            </a:extLst>
          </p:cNvPr>
          <p:cNvSpPr>
            <a:spLocks xmlns:a="http://schemas.openxmlformats.org/drawingml/2006/main" noGrp="1"/>
          </p:cNvSpPr>
          <p:nvPr/>
        </p:nvSpPr>
        <p:spPr>
          <a:xfrm xmlns:a="http://schemas.openxmlformats.org/drawingml/2006/main">
            <a:off x="7372350" y="1771650"/>
            <a:ext cx="35814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Why this matters</a:t>
            </a:r>
          </a:p>
        </p:txBody>
      </p:sp>
      <p:sp>
        <p:nvSpPr>
          <p:cNvPr id="11" name="">
            <a:extLst xmlns:a="http://schemas.openxmlformats.org/drawingml/2006/main">
              <a:ext uri="{FF2B5EF4-FFF2-40B4-BE49-F238E27FC236}">
                <a16:creationId xmlns:a16="http://schemas.microsoft.com/office/drawing/2014/main" id="{FFE2AB8F-2A12-47C1-B403-C59FC56B15A6}"/>
              </a:ext>
            </a:extLst>
          </p:cNvPr>
          <p:cNvSpPr>
            <a:spLocks xmlns:a="http://schemas.openxmlformats.org/drawingml/2006/main" noGrp="1"/>
          </p:cNvSpPr>
          <p:nvPr/>
        </p:nvSpPr>
        <p:spPr>
          <a:xfrm xmlns:a="http://schemas.openxmlformats.org/drawingml/2006/main">
            <a:off x="7372350" y="2057400"/>
            <a:ext cx="3581400" cy="12763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The slide prevents the deck from sounding as if medication alone solves OA or axial pain.</a:t>
            </a:r>
          </a:p>
        </p:txBody>
      </p:sp>
      <p:sp>
        <p:nvSpPr>
          <p:cNvPr id="12" name="">
            <a:extLst xmlns:a="http://schemas.openxmlformats.org/drawingml/2006/main">
              <a:ext uri="{FF2B5EF4-FFF2-40B4-BE49-F238E27FC236}">
                <a16:creationId xmlns:a16="http://schemas.microsoft.com/office/drawing/2014/main" id="{DB837611-31B1-4F6D-94A9-2FFDA756BCEF}"/>
              </a:ext>
            </a:extLst>
          </p:cNvPr>
          <p:cNvSpPr>
            <a:spLocks xmlns:a="http://schemas.openxmlformats.org/drawingml/2006/main" noGrp="1"/>
          </p:cNvSpPr>
          <p:nvPr/>
        </p:nvSpPr>
        <p:spPr>
          <a:xfrm xmlns:a="http://schemas.openxmlformats.org/drawingml/2006/main">
            <a:off x="7239000" y="3638550"/>
            <a:ext cx="3848100" cy="1047750"/>
          </a:xfrm>
          <a:prstGeom xmlns:a="http://schemas.openxmlformats.org/drawingml/2006/main" prst="roundRect">
            <a:avLst>
              <a:gd name="adj" fmla="val 7273"/>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A8D79749-16AA-4B43-8031-1AF53F6BCFCA}"/>
              </a:ext>
            </a:extLst>
          </p:cNvPr>
          <p:cNvSpPr>
            <a:spLocks xmlns:a="http://schemas.openxmlformats.org/drawingml/2006/main" noGrp="1"/>
          </p:cNvSpPr>
          <p:nvPr/>
        </p:nvSpPr>
        <p:spPr>
          <a:xfrm xmlns:a="http://schemas.openxmlformats.org/drawingml/2006/main">
            <a:off x="7372350" y="3752850"/>
            <a:ext cx="35814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Takeaway</a:t>
            </a:r>
          </a:p>
        </p:txBody>
      </p:sp>
      <p:sp>
        <p:nvSpPr>
          <p:cNvPr id="14" name="">
            <a:extLst xmlns:a="http://schemas.openxmlformats.org/drawingml/2006/main">
              <a:ext uri="{FF2B5EF4-FFF2-40B4-BE49-F238E27FC236}">
                <a16:creationId xmlns:a16="http://schemas.microsoft.com/office/drawing/2014/main" id="{52154BA0-4F10-4DDE-B948-10AFD62707F3}"/>
              </a:ext>
            </a:extLst>
          </p:cNvPr>
          <p:cNvSpPr>
            <a:spLocks xmlns:a="http://schemas.openxmlformats.org/drawingml/2006/main" noGrp="1"/>
          </p:cNvSpPr>
          <p:nvPr/>
        </p:nvSpPr>
        <p:spPr>
          <a:xfrm xmlns:a="http://schemas.openxmlformats.org/drawingml/2006/main">
            <a:off x="7372350" y="4038600"/>
            <a:ext cx="3581400" cy="55245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A scientific deck should reinforce multimodal care and realistic expectations.</a:t>
            </a:r>
          </a:p>
        </p:txBody>
      </p:sp>
    </p:spTree>
    <p:extLst>
      <p:ext uri="{BB962C8B-B14F-4D97-AF65-F5344CB8AC3E}">
        <p14:creationId xmlns:p14="http://schemas.microsoft.com/office/powerpoint/2010/main" val="186027896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2073129-690A-4782-94DB-8664A5D6E33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3B171514-27F0-4C50-BE1D-FE58C37D7BD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0076FE60-FF7E-4290-B18D-A3B3C7F1907A}"/>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Counselling points for clinical discussion</a:t>
            </a:r>
          </a:p>
        </p:txBody>
      </p:sp>
      <p:sp>
        <p:nvSpPr>
          <p:cNvPr id="4" name="">
            <a:extLst xmlns:a="http://schemas.openxmlformats.org/drawingml/2006/main">
              <a:ext uri="{FF2B5EF4-FFF2-40B4-BE49-F238E27FC236}">
                <a16:creationId xmlns:a16="http://schemas.microsoft.com/office/drawing/2014/main" id="{B1104D17-CD3D-4755-AFA2-1D9573063A6A}"/>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These are the practical messages a clinician can use when deciding whether to use an NSAID.</a:t>
            </a:r>
          </a:p>
        </p:txBody>
      </p:sp>
      <p:sp>
        <p:nvSpPr>
          <p:cNvPr id="5" name="">
            <a:extLst xmlns:a="http://schemas.openxmlformats.org/drawingml/2006/main">
              <a:ext uri="{FF2B5EF4-FFF2-40B4-BE49-F238E27FC236}">
                <a16:creationId xmlns:a16="http://schemas.microsoft.com/office/drawing/2014/main" id="{C0D29BFB-A4BF-4665-BC82-CFB498059E69}"/>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B0E3C39A-87E9-4161-94C6-C4F8D935D035}"/>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34876850; PubMed 33238721</a:t>
            </a:r>
          </a:p>
        </p:txBody>
      </p:sp>
      <p:sp>
        <p:nvSpPr>
          <p:cNvPr id="7" name="">
            <a:extLst xmlns:a="http://schemas.openxmlformats.org/drawingml/2006/main">
              <a:ext uri="{FF2B5EF4-FFF2-40B4-BE49-F238E27FC236}">
                <a16:creationId xmlns:a16="http://schemas.microsoft.com/office/drawing/2014/main" id="{2AB0B00A-0B03-4A05-A6E0-D8CCA5A59CE7}"/>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20/25</a:t>
            </a:r>
          </a:p>
        </p:txBody>
      </p:sp>
      <p:sp>
        <p:nvSpPr>
          <p:cNvPr id="8" name="">
            <a:extLst xmlns:a="http://schemas.openxmlformats.org/drawingml/2006/main">
              <a:ext uri="{FF2B5EF4-FFF2-40B4-BE49-F238E27FC236}">
                <a16:creationId xmlns:a16="http://schemas.microsoft.com/office/drawing/2014/main" id="{DF15E861-A8CA-499C-9040-BABB648F77F7}"/>
              </a:ext>
            </a:extLst>
          </p:cNvPr>
          <p:cNvSpPr>
            <a:spLocks xmlns:a="http://schemas.openxmlformats.org/drawingml/2006/main" noGrp="1"/>
          </p:cNvSpPr>
          <p:nvPr/>
        </p:nvSpPr>
        <p:spPr>
          <a:xfrm xmlns:a="http://schemas.openxmlformats.org/drawingml/2006/main">
            <a:off x="609600" y="1524000"/>
            <a:ext cx="4762500" cy="1752600"/>
          </a:xfrm>
          <a:prstGeom xmlns:a="http://schemas.openxmlformats.org/drawingml/2006/main" prst="roundRect">
            <a:avLst>
              <a:gd name="adj" fmla="val 4348"/>
            </a:avLst>
          </a:prstGeom>
          <a:solidFill xmlns:a="http://schemas.openxmlformats.org/drawingml/2006/main">
            <a:srgbClr val="F4F8FA"/>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B7DB57AE-B624-42F0-B09B-FE4E930C7CA3}"/>
              </a:ext>
            </a:extLst>
          </p:cNvPr>
          <p:cNvSpPr>
            <a:spLocks xmlns:a="http://schemas.openxmlformats.org/drawingml/2006/main" noGrp="1"/>
          </p:cNvSpPr>
          <p:nvPr/>
        </p:nvSpPr>
        <p:spPr>
          <a:xfrm xmlns:a="http://schemas.openxmlformats.org/drawingml/2006/main">
            <a:off x="742950" y="1638300"/>
            <a:ext cx="44958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Discuss benefit</a:t>
            </a:r>
          </a:p>
        </p:txBody>
      </p:sp>
      <p:sp>
        <p:nvSpPr>
          <p:cNvPr id="10" name="">
            <a:extLst xmlns:a="http://schemas.openxmlformats.org/drawingml/2006/main">
              <a:ext uri="{FF2B5EF4-FFF2-40B4-BE49-F238E27FC236}">
                <a16:creationId xmlns:a16="http://schemas.microsoft.com/office/drawing/2014/main" id="{85036FD8-BD74-47B5-A3FE-E6FD26E8D2C6}"/>
              </a:ext>
            </a:extLst>
          </p:cNvPr>
          <p:cNvSpPr>
            <a:spLocks xmlns:a="http://schemas.openxmlformats.org/drawingml/2006/main" noGrp="1"/>
          </p:cNvSpPr>
          <p:nvPr/>
        </p:nvSpPr>
        <p:spPr>
          <a:xfrm xmlns:a="http://schemas.openxmlformats.org/drawingml/2006/main">
            <a:off x="742950" y="1924050"/>
            <a:ext cx="4495800" cy="12573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915" b="0">
                <a:solidFill>
                  <a:srgbClr val="24313A"/>
                </a:solidFill>
                <a:latin typeface="Aptos"/>
                <a:ea typeface="Aptos"/>
                <a:cs typeface="Aptos"/>
              </a:defRPr>
            </a:pPr>
            <a:r>
              <a:rPr sz="915" b="0">
                <a:solidFill>
                  <a:srgbClr val="24313A"/>
                </a:solidFill>
                <a:latin typeface="Aptos"/>
                <a:ea typeface="Aptos"/>
                <a:cs typeface="Aptos"/>
              </a:rPr>
              <a:t>Expected symptom relief, function goals, and time-limited use.</a:t>
            </a:r>
          </a:p>
        </p:txBody>
      </p:sp>
      <p:sp>
        <p:nvSpPr>
          <p:cNvPr id="11" name="">
            <a:extLst xmlns:a="http://schemas.openxmlformats.org/drawingml/2006/main">
              <a:ext uri="{FF2B5EF4-FFF2-40B4-BE49-F238E27FC236}">
                <a16:creationId xmlns:a16="http://schemas.microsoft.com/office/drawing/2014/main" id="{FB82EDBE-8FFE-48CB-891E-B6F25BE3E196}"/>
              </a:ext>
            </a:extLst>
          </p:cNvPr>
          <p:cNvSpPr>
            <a:spLocks xmlns:a="http://schemas.openxmlformats.org/drawingml/2006/main" noGrp="1"/>
          </p:cNvSpPr>
          <p:nvPr/>
        </p:nvSpPr>
        <p:spPr>
          <a:xfrm xmlns:a="http://schemas.openxmlformats.org/drawingml/2006/main">
            <a:off x="5772150" y="1524000"/>
            <a:ext cx="5810250" cy="1752600"/>
          </a:xfrm>
          <a:prstGeom xmlns:a="http://schemas.openxmlformats.org/drawingml/2006/main" prst="roundRect">
            <a:avLst>
              <a:gd name="adj" fmla="val 4348"/>
            </a:avLst>
          </a:prstGeom>
          <a:solidFill xmlns:a="http://schemas.openxmlformats.org/drawingml/2006/main">
            <a:srgbClr val="EAF4F7"/>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BE80330A-2F37-42C9-AAF0-34AAE7755DC7}"/>
              </a:ext>
            </a:extLst>
          </p:cNvPr>
          <p:cNvSpPr>
            <a:spLocks xmlns:a="http://schemas.openxmlformats.org/drawingml/2006/main" noGrp="1"/>
          </p:cNvSpPr>
          <p:nvPr/>
        </p:nvSpPr>
        <p:spPr>
          <a:xfrm xmlns:a="http://schemas.openxmlformats.org/drawingml/2006/main">
            <a:off x="5905500" y="1638300"/>
            <a:ext cx="554355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Discuss risk</a:t>
            </a:r>
          </a:p>
        </p:txBody>
      </p:sp>
      <p:sp>
        <p:nvSpPr>
          <p:cNvPr id="13" name="">
            <a:extLst xmlns:a="http://schemas.openxmlformats.org/drawingml/2006/main">
              <a:ext uri="{FF2B5EF4-FFF2-40B4-BE49-F238E27FC236}">
                <a16:creationId xmlns:a16="http://schemas.microsoft.com/office/drawing/2014/main" id="{3410EDDD-9FD3-4F24-8693-39C8511EFEDE}"/>
              </a:ext>
            </a:extLst>
          </p:cNvPr>
          <p:cNvSpPr>
            <a:spLocks xmlns:a="http://schemas.openxmlformats.org/drawingml/2006/main" noGrp="1"/>
          </p:cNvSpPr>
          <p:nvPr/>
        </p:nvSpPr>
        <p:spPr>
          <a:xfrm xmlns:a="http://schemas.openxmlformats.org/drawingml/2006/main">
            <a:off x="5905500" y="1924050"/>
            <a:ext cx="5543550" cy="12573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915" b="0">
                <a:solidFill>
                  <a:srgbClr val="24313A"/>
                </a:solidFill>
                <a:latin typeface="Aptos"/>
                <a:ea typeface="Aptos"/>
                <a:cs typeface="Aptos"/>
              </a:defRPr>
            </a:pPr>
            <a:r>
              <a:rPr sz="915" b="0">
                <a:solidFill>
                  <a:srgbClr val="24313A"/>
                </a:solidFill>
                <a:latin typeface="Aptos"/>
                <a:ea typeface="Aptos"/>
                <a:cs typeface="Aptos"/>
              </a:rPr>
              <a:t>GI, renal, cardiovascular, and hepatic warning signs plus concomitant therapy checks.</a:t>
            </a:r>
          </a:p>
        </p:txBody>
      </p:sp>
      <p:sp>
        <p:nvSpPr>
          <p:cNvPr id="14" name="">
            <a:extLst xmlns:a="http://schemas.openxmlformats.org/drawingml/2006/main">
              <a:ext uri="{FF2B5EF4-FFF2-40B4-BE49-F238E27FC236}">
                <a16:creationId xmlns:a16="http://schemas.microsoft.com/office/drawing/2014/main" id="{1B7C9620-9311-4B0D-A134-531DE67726AF}"/>
              </a:ext>
            </a:extLst>
          </p:cNvPr>
          <p:cNvSpPr>
            <a:spLocks xmlns:a="http://schemas.openxmlformats.org/drawingml/2006/main" noGrp="1"/>
          </p:cNvSpPr>
          <p:nvPr/>
        </p:nvSpPr>
        <p:spPr>
          <a:xfrm xmlns:a="http://schemas.openxmlformats.org/drawingml/2006/main">
            <a:off x="990600" y="3714750"/>
            <a:ext cx="1021080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BBC9B3F0-265A-4A89-A028-9841BC45C75E}"/>
              </a:ext>
            </a:extLst>
          </p:cNvPr>
          <p:cNvSpPr>
            <a:spLocks xmlns:a="http://schemas.openxmlformats.org/drawingml/2006/main" noGrp="1"/>
          </p:cNvSpPr>
          <p:nvPr/>
        </p:nvSpPr>
        <p:spPr>
          <a:xfrm xmlns:a="http://schemas.openxmlformats.org/drawingml/2006/main">
            <a:off x="1123950" y="382905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Counselling style</a:t>
            </a:r>
          </a:p>
        </p:txBody>
      </p:sp>
      <p:sp>
        <p:nvSpPr>
          <p:cNvPr id="16" name="">
            <a:extLst xmlns:a="http://schemas.openxmlformats.org/drawingml/2006/main">
              <a:ext uri="{FF2B5EF4-FFF2-40B4-BE49-F238E27FC236}">
                <a16:creationId xmlns:a16="http://schemas.microsoft.com/office/drawing/2014/main" id="{1C3342FC-EFA2-4897-8630-6844DFCDF372}"/>
              </a:ext>
            </a:extLst>
          </p:cNvPr>
          <p:cNvSpPr>
            <a:spLocks xmlns:a="http://schemas.openxmlformats.org/drawingml/2006/main" noGrp="1"/>
          </p:cNvSpPr>
          <p:nvPr/>
        </p:nvSpPr>
        <p:spPr>
          <a:xfrm xmlns:a="http://schemas.openxmlformats.org/drawingml/2006/main">
            <a:off x="1123950" y="4114800"/>
            <a:ext cx="99441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24313A"/>
                </a:solidFill>
                <a:latin typeface="Aptos"/>
                <a:ea typeface="Aptos"/>
                <a:cs typeface="Aptos"/>
              </a:defRPr>
            </a:pPr>
            <a:r>
              <a:rPr sz="1050" b="0">
                <a:solidFill>
                  <a:srgbClr val="24313A"/>
                </a:solidFill>
                <a:latin typeface="Aptos"/>
                <a:ea typeface="Aptos"/>
                <a:cs typeface="Aptos"/>
              </a:rPr>
              <a:t>The clinician should leave with a quick, repeatable safety script that supports the patient without overpromising the drug.</a:t>
            </a:r>
          </a:p>
        </p:txBody>
      </p:sp>
    </p:spTree>
    <p:extLst>
      <p:ext uri="{BB962C8B-B14F-4D97-AF65-F5344CB8AC3E}">
        <p14:creationId xmlns:p14="http://schemas.microsoft.com/office/powerpoint/2010/main" val="108580671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09BD4BB-EC98-40A2-AE77-1B40D3BE96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53096FF2-DB6C-4AF1-BC24-7CF7F6FB100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C5D198FA-0919-42FB-A251-4FD9DC4DB6DF}"/>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Frequently asked clinical questions</a:t>
            </a:r>
          </a:p>
        </p:txBody>
      </p:sp>
      <p:sp>
        <p:nvSpPr>
          <p:cNvPr id="4" name="">
            <a:extLst xmlns:a="http://schemas.openxmlformats.org/drawingml/2006/main">
              <a:ext uri="{FF2B5EF4-FFF2-40B4-BE49-F238E27FC236}">
                <a16:creationId xmlns:a16="http://schemas.microsoft.com/office/drawing/2014/main" id="{95E82CFC-4E24-4ED0-A42C-A3F9547F2CE4}"/>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 good deck anticipates the questions that usually come up in discussion.</a:t>
            </a:r>
          </a:p>
        </p:txBody>
      </p:sp>
      <p:sp>
        <p:nvSpPr>
          <p:cNvPr id="5" name="">
            <a:extLst xmlns:a="http://schemas.openxmlformats.org/drawingml/2006/main">
              <a:ext uri="{FF2B5EF4-FFF2-40B4-BE49-F238E27FC236}">
                <a16:creationId xmlns:a16="http://schemas.microsoft.com/office/drawing/2014/main" id="{6264AE44-AC69-4C7B-B926-46E453A46C85}"/>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21405049-82C4-416B-A78F-E70AD7CCF127}"/>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8853164; PubMed 34876850; PubMed 31908149</a:t>
            </a:r>
          </a:p>
        </p:txBody>
      </p:sp>
      <p:sp>
        <p:nvSpPr>
          <p:cNvPr id="7" name="">
            <a:extLst xmlns:a="http://schemas.openxmlformats.org/drawingml/2006/main">
              <a:ext uri="{FF2B5EF4-FFF2-40B4-BE49-F238E27FC236}">
                <a16:creationId xmlns:a16="http://schemas.microsoft.com/office/drawing/2014/main" id="{0B569DFD-6330-4590-84C1-A3D6BF7160C5}"/>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21/25</a:t>
            </a:r>
          </a:p>
        </p:txBody>
      </p:sp>
      <p:graphicFrame>
        <p:nvGraphicFramePr>
          <p:cNvPr id="8" name=""/>
          <p:cNvGraphicFramePr/>
          <p:nvPr/>
        </p:nvGraphicFramePr>
        <p:xfrm>
          <a:off xmlns:a="http://schemas.openxmlformats.org/drawingml/2006/main" x="609600" y="1485900"/>
          <a:ext xmlns:a="http://schemas.openxmlformats.org/drawingml/2006/main" cx="10972800" cy="2895600"/>
        </p:xfrm>
        <a:graphic xmlns:a="http://schemas.openxmlformats.org/drawingml/2006/main">
          <a:graphicData uri="http://schemas.openxmlformats.org/drawingml/2006/table">
            <a:tbl>
              <a:tblPr/>
              <a:tblGrid>
                <a:gridCol w="3182112"/>
                <a:gridCol w="7790688"/>
              </a:tblGrid>
              <a:tr h="579120">
                <a:tc>
                  <a:txBody>
                    <a:bodyPr/>
                    <a:lstStyle/>
                    <a:p>
                      <a:r>
                        <a:rPr sz="750" b="1">
                          <a:solidFill>
                            <a:srgbClr val="FFFFFF"/>
                          </a:solidFill>
                          <a:latin typeface="Aptos"/>
                          <a:ea typeface="Aptos"/>
                          <a:cs typeface="Aptos"/>
                        </a:rPr>
                        <a:t>Question</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Controlled answer</a:t>
                      </a:r>
                    </a:p>
                  </a:txBody>
                  <a:tcPr marL="91440" marR="91440" marT="45720" marB="45720">
                    <a:lnB w="9525">
                      <a:solidFill>
                        <a:srgbClr val="FFFFFF"/>
                      </a:solidFill>
                    </a:lnB>
                    <a:solidFill>
                      <a:srgbClr val="16324F"/>
                    </a:solidFill>
                  </a:tcPr>
                </a:tc>
              </a:tr>
              <a:tr h="579120">
                <a:tc>
                  <a:txBody>
                    <a:bodyPr/>
                    <a:lstStyle/>
                    <a:p>
                      <a:r>
                        <a:t>Q1. Is aceclofenac just another NSAID?</a:t>
                      </a:r>
                    </a:p>
                  </a:txBody>
                  <a:tcPr marL="91440" marR="91440" marT="45720" marB="45720"/>
                </a:tc>
                <a:tc>
                  <a:txBody>
                    <a:bodyPr/>
                    <a:lstStyle/>
                    <a:p>
                      <a:r>
                        <a:t>It is an NSAID with a defined chemical identity, PK profile, and a body of OA / inflammatory-arthritis evidence.</a:t>
                      </a:r>
                    </a:p>
                  </a:txBody>
                  <a:tcPr marL="91440" marR="91440" marT="45720" marB="45720"/>
                </a:tc>
              </a:tr>
              <a:tr h="579120">
                <a:tc>
                  <a:txBody>
                    <a:bodyPr/>
                    <a:lstStyle/>
                    <a:p>
                      <a:r>
                        <a:t>Q2. Can it replace all pain therapies?</a:t>
                      </a:r>
                    </a:p>
                  </a:txBody>
                  <a:tcPr marL="91440" marR="91440" marT="45720" marB="45720"/>
                </a:tc>
                <a:tc>
                  <a:txBody>
                    <a:bodyPr/>
                    <a:lstStyle/>
                    <a:p>
                      <a:r>
                        <a:t>No. It fits only where NSAID therapy is appropriate and risk is acceptable.</a:t>
                      </a:r>
                    </a:p>
                  </a:txBody>
                  <a:tcPr marL="91440" marR="91440" marT="45720" marB="45720"/>
                </a:tc>
              </a:tr>
              <a:tr h="579120">
                <a:tc>
                  <a:txBody>
                    <a:bodyPr/>
                    <a:lstStyle/>
                    <a:p>
                      <a:r>
                        <a:t>Q3. Is it safe in every patient?</a:t>
                      </a:r>
                    </a:p>
                  </a:txBody>
                  <a:tcPr marL="91440" marR="91440" marT="45720" marB="45720"/>
                </a:tc>
                <a:tc>
                  <a:txBody>
                    <a:bodyPr/>
                    <a:lstStyle/>
                    <a:p>
                      <a:r>
                        <a:t>No. GI, renal, cardiovascular, hepatic, pregnancy, and interaction risks still matter.</a:t>
                      </a:r>
                    </a:p>
                  </a:txBody>
                  <a:tcPr marL="91440" marR="91440" marT="45720" marB="45720"/>
                </a:tc>
              </a:tr>
              <a:tr h="579120">
                <a:tc>
                  <a:txBody>
                    <a:bodyPr/>
                    <a:lstStyle/>
                    <a:p>
                      <a:r>
                        <a:t>Q4. What should I verify first?</a:t>
                      </a:r>
                    </a:p>
                  </a:txBody>
                  <a:tcPr marL="91440" marR="91440" marT="45720" marB="45720"/>
                </a:tc>
                <a:tc>
                  <a:txBody>
                    <a:bodyPr/>
                    <a:lstStyle/>
                    <a:p>
                      <a:r>
                        <a:t>The evidence base, special-population limits, concomitant medicines, and the patient’s risk profile.</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43D60A7C-ACF4-49FC-8E60-8A75FD1759F0}"/>
              </a:ext>
            </a:extLst>
          </p:cNvPr>
          <p:cNvSpPr>
            <a:spLocks xmlns:a="http://schemas.openxmlformats.org/drawingml/2006/main" noGrp="1"/>
          </p:cNvSpPr>
          <p:nvPr/>
        </p:nvSpPr>
        <p:spPr>
          <a:xfrm xmlns:a="http://schemas.openxmlformats.org/drawingml/2006/main">
            <a:off x="609600" y="6343650"/>
            <a:ext cx="110490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FAQ slides are useful only when they stay aligned to label and safety evidence.</a:t>
            </a:r>
          </a:p>
        </p:txBody>
      </p:sp>
    </p:spTree>
    <p:extLst>
      <p:ext uri="{BB962C8B-B14F-4D97-AF65-F5344CB8AC3E}">
        <p14:creationId xmlns:p14="http://schemas.microsoft.com/office/powerpoint/2010/main" val="75890874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6867AE5-D8FA-477C-AF68-01A1888CA5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59D3E710-6A06-4B5E-9019-75EB12B4EDE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71F451F2-4466-45A2-81D0-E3FBB8A8BD5A}"/>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Balanced claims: what not to say</a:t>
            </a:r>
          </a:p>
        </p:txBody>
      </p:sp>
      <p:sp>
        <p:nvSpPr>
          <p:cNvPr id="4" name="">
            <a:extLst xmlns:a="http://schemas.openxmlformats.org/drawingml/2006/main">
              <a:ext uri="{FF2B5EF4-FFF2-40B4-BE49-F238E27FC236}">
                <a16:creationId xmlns:a16="http://schemas.microsoft.com/office/drawing/2014/main" id="{9E6CCB79-B9D8-44AD-9208-16EEA5652437}"/>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 scientific deck stays honest about what the evidence can and cannot support.</a:t>
            </a:r>
          </a:p>
        </p:txBody>
      </p:sp>
      <p:sp>
        <p:nvSpPr>
          <p:cNvPr id="5" name="">
            <a:extLst xmlns:a="http://schemas.openxmlformats.org/drawingml/2006/main">
              <a:ext uri="{FF2B5EF4-FFF2-40B4-BE49-F238E27FC236}">
                <a16:creationId xmlns:a16="http://schemas.microsoft.com/office/drawing/2014/main" id="{4BC6F513-683C-4C7E-A631-5C612C4B1E4C}"/>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929CA56E-892B-46C8-B7DA-033B2CDF0430}"/>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5335881; PubMed 8853164; PubMed 34876850</a:t>
            </a:r>
          </a:p>
        </p:txBody>
      </p:sp>
      <p:sp>
        <p:nvSpPr>
          <p:cNvPr id="7" name="">
            <a:extLst xmlns:a="http://schemas.openxmlformats.org/drawingml/2006/main">
              <a:ext uri="{FF2B5EF4-FFF2-40B4-BE49-F238E27FC236}">
                <a16:creationId xmlns:a16="http://schemas.microsoft.com/office/drawing/2014/main" id="{9EAE6704-6459-47AD-ADBE-2D4C7C2D1280}"/>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22/25</a:t>
            </a:r>
          </a:p>
        </p:txBody>
      </p:sp>
      <p:sp>
        <p:nvSpPr>
          <p:cNvPr id="8" name="">
            <a:extLst xmlns:a="http://schemas.openxmlformats.org/drawingml/2006/main">
              <a:ext uri="{FF2B5EF4-FFF2-40B4-BE49-F238E27FC236}">
                <a16:creationId xmlns:a16="http://schemas.microsoft.com/office/drawing/2014/main" id="{09694DEE-6BBF-4C06-886B-F0D20EFA3BEF}"/>
              </a:ext>
            </a:extLst>
          </p:cNvPr>
          <p:cNvSpPr>
            <a:spLocks xmlns:a="http://schemas.openxmlformats.org/drawingml/2006/main" noGrp="1"/>
          </p:cNvSpPr>
          <p:nvPr/>
        </p:nvSpPr>
        <p:spPr>
          <a:xfrm xmlns:a="http://schemas.openxmlformats.org/drawingml/2006/main">
            <a:off x="609600" y="1524000"/>
            <a:ext cx="3390900" cy="1714500"/>
          </a:xfrm>
          <a:prstGeom xmlns:a="http://schemas.openxmlformats.org/drawingml/2006/main" prst="roundRect">
            <a:avLst>
              <a:gd name="adj" fmla="val 4444"/>
            </a:avLst>
          </a:prstGeom>
          <a:solidFill xmlns:a="http://schemas.openxmlformats.org/drawingml/2006/main">
            <a:srgbClr val="FCE4D6"/>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AC15C233-4D1A-49CB-B70A-5C21A6884A4F}"/>
              </a:ext>
            </a:extLst>
          </p:cNvPr>
          <p:cNvSpPr>
            <a:spLocks xmlns:a="http://schemas.openxmlformats.org/drawingml/2006/main" noGrp="1"/>
          </p:cNvSpPr>
          <p:nvPr/>
        </p:nvSpPr>
        <p:spPr>
          <a:xfrm xmlns:a="http://schemas.openxmlformats.org/drawingml/2006/main">
            <a:off x="742950" y="1638300"/>
            <a:ext cx="3124200" cy="2667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Avoid</a:t>
            </a:r>
          </a:p>
        </p:txBody>
      </p:sp>
      <p:sp>
        <p:nvSpPr>
          <p:cNvPr id="10" name="">
            <a:extLst xmlns:a="http://schemas.openxmlformats.org/drawingml/2006/main">
              <a:ext uri="{FF2B5EF4-FFF2-40B4-BE49-F238E27FC236}">
                <a16:creationId xmlns:a16="http://schemas.microsoft.com/office/drawing/2014/main" id="{C55A46EF-3CFA-4819-972A-3D2CD5E08C8E}"/>
              </a:ext>
            </a:extLst>
          </p:cNvPr>
          <p:cNvSpPr>
            <a:spLocks xmlns:a="http://schemas.openxmlformats.org/drawingml/2006/main" noGrp="1"/>
          </p:cNvSpPr>
          <p:nvPr/>
        </p:nvSpPr>
        <p:spPr>
          <a:xfrm xmlns:a="http://schemas.openxmlformats.org/drawingml/2006/main">
            <a:off x="742950" y="1924050"/>
            <a:ext cx="3124200" cy="12192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ctr"/>
          <a:lstStyle xmlns:a="http://schemas.openxmlformats.org/drawingml/2006/main"/>
          <a:p xmlns:a="http://schemas.openxmlformats.org/drawingml/2006/main">
            <a:pPr algn="ctr">
              <a:defRPr sz="930" b="0">
                <a:solidFill>
                  <a:srgbClr val="24313A"/>
                </a:solidFill>
                <a:latin typeface="Aptos"/>
                <a:ea typeface="Aptos"/>
                <a:cs typeface="Aptos"/>
              </a:defRPr>
            </a:pPr>
            <a:r>
              <a:rPr sz="930" b="0">
                <a:solidFill>
                  <a:srgbClr val="24313A"/>
                </a:solidFill>
                <a:latin typeface="Aptos"/>
                <a:ea typeface="Aptos"/>
                <a:cs typeface="Aptos"/>
              </a:rPr>
              <a:t>Completely safe or no side effects.</a:t>
            </a:r>
          </a:p>
        </p:txBody>
      </p:sp>
      <p:sp>
        <p:nvSpPr>
          <p:cNvPr id="11" name="">
            <a:extLst xmlns:a="http://schemas.openxmlformats.org/drawingml/2006/main">
              <a:ext uri="{FF2B5EF4-FFF2-40B4-BE49-F238E27FC236}">
                <a16:creationId xmlns:a16="http://schemas.microsoft.com/office/drawing/2014/main" id="{D485DD0B-F546-4798-9E4D-E083957CCB4D}"/>
              </a:ext>
            </a:extLst>
          </p:cNvPr>
          <p:cNvSpPr>
            <a:spLocks xmlns:a="http://schemas.openxmlformats.org/drawingml/2006/main" noGrp="1"/>
          </p:cNvSpPr>
          <p:nvPr/>
        </p:nvSpPr>
        <p:spPr>
          <a:xfrm xmlns:a="http://schemas.openxmlformats.org/drawingml/2006/main">
            <a:off x="4400550" y="1524000"/>
            <a:ext cx="3390900" cy="1714500"/>
          </a:xfrm>
          <a:prstGeom xmlns:a="http://schemas.openxmlformats.org/drawingml/2006/main" prst="roundRect">
            <a:avLst>
              <a:gd name="adj" fmla="val 4444"/>
            </a:avLst>
          </a:prstGeom>
          <a:solidFill xmlns:a="http://schemas.openxmlformats.org/drawingml/2006/main">
            <a:srgbClr val="FCE4D6"/>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008C23E3-6E6A-421E-978C-BC234F0884C1}"/>
              </a:ext>
            </a:extLst>
          </p:cNvPr>
          <p:cNvSpPr>
            <a:spLocks xmlns:a="http://schemas.openxmlformats.org/drawingml/2006/main" noGrp="1"/>
          </p:cNvSpPr>
          <p:nvPr/>
        </p:nvSpPr>
        <p:spPr>
          <a:xfrm xmlns:a="http://schemas.openxmlformats.org/drawingml/2006/main">
            <a:off x="4533900" y="1638300"/>
            <a:ext cx="3124200" cy="2667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Avoid</a:t>
            </a:r>
          </a:p>
        </p:txBody>
      </p:sp>
      <p:sp>
        <p:nvSpPr>
          <p:cNvPr id="13" name="">
            <a:extLst xmlns:a="http://schemas.openxmlformats.org/drawingml/2006/main">
              <a:ext uri="{FF2B5EF4-FFF2-40B4-BE49-F238E27FC236}">
                <a16:creationId xmlns:a16="http://schemas.microsoft.com/office/drawing/2014/main" id="{20CCE4CF-0189-428B-9A9E-34C612D4FC51}"/>
              </a:ext>
            </a:extLst>
          </p:cNvPr>
          <p:cNvSpPr>
            <a:spLocks xmlns:a="http://schemas.openxmlformats.org/drawingml/2006/main" noGrp="1"/>
          </p:cNvSpPr>
          <p:nvPr/>
        </p:nvSpPr>
        <p:spPr>
          <a:xfrm xmlns:a="http://schemas.openxmlformats.org/drawingml/2006/main">
            <a:off x="4533900" y="1924050"/>
            <a:ext cx="3124200" cy="12192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ctr"/>
          <a:lstStyle xmlns:a="http://schemas.openxmlformats.org/drawingml/2006/main"/>
          <a:p xmlns:a="http://schemas.openxmlformats.org/drawingml/2006/main">
            <a:pPr algn="ctr">
              <a:defRPr sz="930" b="0">
                <a:solidFill>
                  <a:srgbClr val="24313A"/>
                </a:solidFill>
                <a:latin typeface="Aptos"/>
                <a:ea typeface="Aptos"/>
                <a:cs typeface="Aptos"/>
              </a:defRPr>
            </a:pPr>
            <a:r>
              <a:rPr sz="930" b="0">
                <a:solidFill>
                  <a:srgbClr val="24313A"/>
                </a:solidFill>
                <a:latin typeface="Aptos"/>
                <a:ea typeface="Aptos"/>
                <a:cs typeface="Aptos"/>
              </a:rPr>
              <a:t>Best in class unless the evidence and approval support it.</a:t>
            </a:r>
          </a:p>
        </p:txBody>
      </p:sp>
      <p:sp>
        <p:nvSpPr>
          <p:cNvPr id="14" name="">
            <a:extLst xmlns:a="http://schemas.openxmlformats.org/drawingml/2006/main">
              <a:ext uri="{FF2B5EF4-FFF2-40B4-BE49-F238E27FC236}">
                <a16:creationId xmlns:a16="http://schemas.microsoft.com/office/drawing/2014/main" id="{9E42AD36-319B-43F7-93C8-114DE42EF34D}"/>
              </a:ext>
            </a:extLst>
          </p:cNvPr>
          <p:cNvSpPr>
            <a:spLocks xmlns:a="http://schemas.openxmlformats.org/drawingml/2006/main" noGrp="1"/>
          </p:cNvSpPr>
          <p:nvPr/>
        </p:nvSpPr>
        <p:spPr>
          <a:xfrm xmlns:a="http://schemas.openxmlformats.org/drawingml/2006/main">
            <a:off x="8191500" y="1524000"/>
            <a:ext cx="3390900" cy="1714500"/>
          </a:xfrm>
          <a:prstGeom xmlns:a="http://schemas.openxmlformats.org/drawingml/2006/main" prst="roundRect">
            <a:avLst>
              <a:gd name="adj" fmla="val 4444"/>
            </a:avLst>
          </a:prstGeom>
          <a:solidFill xmlns:a="http://schemas.openxmlformats.org/drawingml/2006/main">
            <a:srgbClr val="FCE4D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A4095193-F8A3-44A7-A25C-620FCAF89EED}"/>
              </a:ext>
            </a:extLst>
          </p:cNvPr>
          <p:cNvSpPr>
            <a:spLocks xmlns:a="http://schemas.openxmlformats.org/drawingml/2006/main" noGrp="1"/>
          </p:cNvSpPr>
          <p:nvPr/>
        </p:nvSpPr>
        <p:spPr>
          <a:xfrm xmlns:a="http://schemas.openxmlformats.org/drawingml/2006/main">
            <a:off x="8324850" y="1638300"/>
            <a:ext cx="3124200" cy="2667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Avoid</a:t>
            </a:r>
          </a:p>
        </p:txBody>
      </p:sp>
      <p:sp>
        <p:nvSpPr>
          <p:cNvPr id="16" name="">
            <a:extLst xmlns:a="http://schemas.openxmlformats.org/drawingml/2006/main">
              <a:ext uri="{FF2B5EF4-FFF2-40B4-BE49-F238E27FC236}">
                <a16:creationId xmlns:a16="http://schemas.microsoft.com/office/drawing/2014/main" id="{F40995EA-9807-48FB-8567-6C637B659E7D}"/>
              </a:ext>
            </a:extLst>
          </p:cNvPr>
          <p:cNvSpPr>
            <a:spLocks xmlns:a="http://schemas.openxmlformats.org/drawingml/2006/main" noGrp="1"/>
          </p:cNvSpPr>
          <p:nvPr/>
        </p:nvSpPr>
        <p:spPr>
          <a:xfrm xmlns:a="http://schemas.openxmlformats.org/drawingml/2006/main">
            <a:off x="8324850" y="1924050"/>
            <a:ext cx="3124200" cy="12192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ctr"/>
          <a:lstStyle xmlns:a="http://schemas.openxmlformats.org/drawingml/2006/main"/>
          <a:p xmlns:a="http://schemas.openxmlformats.org/drawingml/2006/main">
            <a:pPr algn="ctr">
              <a:defRPr sz="930" b="0">
                <a:solidFill>
                  <a:srgbClr val="24313A"/>
                </a:solidFill>
                <a:latin typeface="Aptos"/>
                <a:ea typeface="Aptos"/>
                <a:cs typeface="Aptos"/>
              </a:defRPr>
            </a:pPr>
            <a:r>
              <a:rPr sz="930" b="0">
                <a:solidFill>
                  <a:srgbClr val="24313A"/>
                </a:solidFill>
                <a:latin typeface="Aptos"/>
                <a:ea typeface="Aptos"/>
                <a:cs typeface="Aptos"/>
              </a:rPr>
              <a:t>Unsupported superiority or interchangeability claims.</a:t>
            </a:r>
          </a:p>
        </p:txBody>
      </p:sp>
      <p:sp>
        <p:nvSpPr>
          <p:cNvPr id="17" name="">
            <a:extLst xmlns:a="http://schemas.openxmlformats.org/drawingml/2006/main">
              <a:ext uri="{FF2B5EF4-FFF2-40B4-BE49-F238E27FC236}">
                <a16:creationId xmlns:a16="http://schemas.microsoft.com/office/drawing/2014/main" id="{6B58F2A0-F58E-4BD8-87BC-F8919C85E68E}"/>
              </a:ext>
            </a:extLst>
          </p:cNvPr>
          <p:cNvSpPr>
            <a:spLocks xmlns:a="http://schemas.openxmlformats.org/drawingml/2006/main" noGrp="1"/>
          </p:cNvSpPr>
          <p:nvPr/>
        </p:nvSpPr>
        <p:spPr>
          <a:xfrm xmlns:a="http://schemas.openxmlformats.org/drawingml/2006/main">
            <a:off x="990600" y="3676650"/>
            <a:ext cx="1021080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E3C4B028-D6F1-4EDB-867F-3CAA4CFB5E06}"/>
              </a:ext>
            </a:extLst>
          </p:cNvPr>
          <p:cNvSpPr>
            <a:spLocks xmlns:a="http://schemas.openxmlformats.org/drawingml/2006/main" noGrp="1"/>
          </p:cNvSpPr>
          <p:nvPr/>
        </p:nvSpPr>
        <p:spPr>
          <a:xfrm xmlns:a="http://schemas.openxmlformats.org/drawingml/2006/main">
            <a:off x="1123950" y="379095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Preferred language</a:t>
            </a:r>
          </a:p>
        </p:txBody>
      </p:sp>
      <p:sp>
        <p:nvSpPr>
          <p:cNvPr id="19" name="">
            <a:extLst xmlns:a="http://schemas.openxmlformats.org/drawingml/2006/main">
              <a:ext uri="{FF2B5EF4-FFF2-40B4-BE49-F238E27FC236}">
                <a16:creationId xmlns:a16="http://schemas.microsoft.com/office/drawing/2014/main" id="{E4B82069-374B-4D61-8616-2F72B89E3CD0}"/>
              </a:ext>
            </a:extLst>
          </p:cNvPr>
          <p:cNvSpPr>
            <a:spLocks xmlns:a="http://schemas.openxmlformats.org/drawingml/2006/main" noGrp="1"/>
          </p:cNvSpPr>
          <p:nvPr/>
        </p:nvSpPr>
        <p:spPr>
          <a:xfrm xmlns:a="http://schemas.openxmlformats.org/drawingml/2006/main">
            <a:off x="1123950" y="4076700"/>
            <a:ext cx="99441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24313A"/>
                </a:solidFill>
                <a:latin typeface="Aptos"/>
                <a:ea typeface="Aptos"/>
                <a:cs typeface="Aptos"/>
              </a:defRPr>
            </a:pPr>
            <a:r>
              <a:rPr sz="1050" b="0">
                <a:solidFill>
                  <a:srgbClr val="24313A"/>
                </a:solidFill>
                <a:latin typeface="Aptos"/>
                <a:ea typeface="Aptos"/>
                <a:cs typeface="Aptos"/>
              </a:rPr>
              <a:t>Use disciplined wording such as 'symptom-focused NSAID option where appropriate' and 'the evidence and label determine final use'.</a:t>
            </a:r>
          </a:p>
        </p:txBody>
      </p:sp>
    </p:spTree>
    <p:extLst>
      <p:ext uri="{BB962C8B-B14F-4D97-AF65-F5344CB8AC3E}">
        <p14:creationId xmlns:p14="http://schemas.microsoft.com/office/powerpoint/2010/main" val="118956360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558B4A9-E9E8-474C-9E75-F2CC45357A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E6E54A1D-90B8-499B-83C5-046C4002B60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788A08E6-2FA1-4B70-913D-08948CC23A27}"/>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Evidence and reference map</a:t>
            </a:r>
          </a:p>
        </p:txBody>
      </p:sp>
      <p:sp>
        <p:nvSpPr>
          <p:cNvPr id="4" name="">
            <a:extLst xmlns:a="http://schemas.openxmlformats.org/drawingml/2006/main">
              <a:ext uri="{FF2B5EF4-FFF2-40B4-BE49-F238E27FC236}">
                <a16:creationId xmlns:a16="http://schemas.microsoft.com/office/drawing/2014/main" id="{75A2DEE0-36B5-42B9-BD20-DF7C2EF57649}"/>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 source base should be visible so the deck stays auditable.</a:t>
            </a:r>
          </a:p>
        </p:txBody>
      </p:sp>
      <p:sp>
        <p:nvSpPr>
          <p:cNvPr id="5" name="">
            <a:extLst xmlns:a="http://schemas.openxmlformats.org/drawingml/2006/main">
              <a:ext uri="{FF2B5EF4-FFF2-40B4-BE49-F238E27FC236}">
                <a16:creationId xmlns:a16="http://schemas.microsoft.com/office/drawing/2014/main" id="{352AA912-0063-481F-85AD-E4A65F919E06}"/>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1A222F93-1DAF-4779-A874-81B2785C4EC3}"/>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34876850; PMC8643213; PMC5335881; PubMed 8853164; PubMed 12740678; PubMed 36647880</a:t>
            </a:r>
          </a:p>
        </p:txBody>
      </p:sp>
      <p:sp>
        <p:nvSpPr>
          <p:cNvPr id="7" name="">
            <a:extLst xmlns:a="http://schemas.openxmlformats.org/drawingml/2006/main">
              <a:ext uri="{FF2B5EF4-FFF2-40B4-BE49-F238E27FC236}">
                <a16:creationId xmlns:a16="http://schemas.microsoft.com/office/drawing/2014/main" id="{88BBEF7D-7B6A-40EA-81CD-267F6EF86688}"/>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23/25</a:t>
            </a:r>
          </a:p>
        </p:txBody>
      </p:sp>
      <p:graphicFrame>
        <p:nvGraphicFramePr>
          <p:cNvPr id="8" name=""/>
          <p:cNvGraphicFramePr/>
          <p:nvPr/>
        </p:nvGraphicFramePr>
        <p:xfrm>
          <a:off xmlns:a="http://schemas.openxmlformats.org/drawingml/2006/main" x="609600" y="1485900"/>
          <a:ext xmlns:a="http://schemas.openxmlformats.org/drawingml/2006/main" cx="10972800" cy="2857500"/>
        </p:xfrm>
        <a:graphic xmlns:a="http://schemas.openxmlformats.org/drawingml/2006/main">
          <a:graphicData uri="http://schemas.openxmlformats.org/drawingml/2006/table">
            <a:tbl>
              <a:tblPr/>
              <a:tblGrid>
                <a:gridCol w="658368"/>
                <a:gridCol w="6364224"/>
                <a:gridCol w="3950208"/>
              </a:tblGrid>
              <a:tr h="476250">
                <a:tc>
                  <a:txBody>
                    <a:bodyPr/>
                    <a:lstStyle/>
                    <a:p>
                      <a:r>
                        <a:rPr sz="750" b="1">
                          <a:solidFill>
                            <a:srgbClr val="FFFFFF"/>
                          </a:solidFill>
                          <a:latin typeface="Aptos"/>
                          <a:ea typeface="Aptos"/>
                          <a:cs typeface="Aptos"/>
                        </a:rPr>
                        <a:t>#</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Reference</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Use in deck</a:t>
                      </a:r>
                    </a:p>
                  </a:txBody>
                  <a:tcPr marL="91440" marR="91440" marT="45720" marB="45720">
                    <a:lnB w="9525">
                      <a:solidFill>
                        <a:srgbClr val="FFFFFF"/>
                      </a:solidFill>
                    </a:lnB>
                    <a:solidFill>
                      <a:srgbClr val="16324F"/>
                    </a:solidFill>
                  </a:tcPr>
                </a:tc>
              </a:tr>
              <a:tr h="476250">
                <a:tc>
                  <a:txBody>
                    <a:bodyPr/>
                    <a:lstStyle/>
                    <a:p>
                      <a:r>
                        <a:t>1</a:t>
                      </a:r>
                    </a:p>
                  </a:txBody>
                  <a:tcPr marL="91440" marR="91440" marT="45720" marB="45720"/>
                </a:tc>
                <a:tc>
                  <a:txBody>
                    <a:bodyPr/>
                    <a:lstStyle/>
                    <a:p>
                      <a:r>
                        <a:t>Review of aceclofenac in musculoskeletal disorders</a:t>
                      </a:r>
                    </a:p>
                  </a:txBody>
                  <a:tcPr marL="91440" marR="91440" marT="45720" marB="45720"/>
                </a:tc>
                <a:tc>
                  <a:txBody>
                    <a:bodyPr/>
                    <a:lstStyle/>
                    <a:p>
                      <a:r>
                        <a:t>Mechanism, efficacy, tolerability</a:t>
                      </a:r>
                    </a:p>
                  </a:txBody>
                  <a:tcPr marL="91440" marR="91440" marT="45720" marB="45720"/>
                </a:tc>
              </a:tr>
              <a:tr h="476250">
                <a:tc>
                  <a:txBody>
                    <a:bodyPr/>
                    <a:lstStyle/>
                    <a:p>
                      <a:r>
                        <a:t>2</a:t>
                      </a:r>
                    </a:p>
                  </a:txBody>
                  <a:tcPr marL="91440" marR="91440" marT="45720" marB="45720"/>
                </a:tc>
                <a:tc>
                  <a:txBody>
                    <a:bodyPr/>
                    <a:lstStyle/>
                    <a:p>
                      <a:r>
                        <a:t>OA meta-analysis of randomized controlled trials</a:t>
                      </a:r>
                    </a:p>
                  </a:txBody>
                  <a:tcPr marL="91440" marR="91440" marT="45720" marB="45720"/>
                </a:tc>
                <a:tc>
                  <a:txBody>
                    <a:bodyPr/>
                    <a:lstStyle/>
                    <a:p>
                      <a:r>
                        <a:t>Pain and function summary</a:t>
                      </a:r>
                    </a:p>
                  </a:txBody>
                  <a:tcPr marL="91440" marR="91440" marT="45720" marB="45720"/>
                </a:tc>
              </a:tr>
              <a:tr h="476250">
                <a:tc>
                  <a:txBody>
                    <a:bodyPr/>
                    <a:lstStyle/>
                    <a:p>
                      <a:r>
                        <a:t>3</a:t>
                      </a:r>
                    </a:p>
                  </a:txBody>
                  <a:tcPr marL="91440" marR="91440" marT="45720" marB="45720"/>
                </a:tc>
                <a:tc>
                  <a:txBody>
                    <a:bodyPr/>
                    <a:lstStyle/>
                    <a:p>
                      <a:r>
                        <a:t>RA placebo-controlled study</a:t>
                      </a:r>
                    </a:p>
                  </a:txBody>
                  <a:tcPr marL="91440" marR="91440" marT="45720" marB="45720"/>
                </a:tc>
                <a:tc>
                  <a:txBody>
                    <a:bodyPr/>
                    <a:lstStyle/>
                    <a:p>
                      <a:r>
                        <a:t>Inflammatory arthritis symptom relief</a:t>
                      </a:r>
                    </a:p>
                  </a:txBody>
                  <a:tcPr marL="91440" marR="91440" marT="45720" marB="45720"/>
                </a:tc>
              </a:tr>
              <a:tr h="476250">
                <a:tc>
                  <a:txBody>
                    <a:bodyPr/>
                    <a:lstStyle/>
                    <a:p>
                      <a:r>
                        <a:t>4</a:t>
                      </a:r>
                    </a:p>
                  </a:txBody>
                  <a:tcPr marL="91440" marR="91440" marT="45720" marB="45720"/>
                </a:tc>
                <a:tc>
                  <a:txBody>
                    <a:bodyPr/>
                    <a:lstStyle/>
                    <a:p>
                      <a:r>
                        <a:t>Acute low back pain comparative trial</a:t>
                      </a:r>
                    </a:p>
                  </a:txBody>
                  <a:tcPr marL="91440" marR="91440" marT="45720" marB="45720"/>
                </a:tc>
                <a:tc>
                  <a:txBody>
                    <a:bodyPr/>
                    <a:lstStyle/>
                    <a:p>
                      <a:r>
                        <a:t>Short-term efficacy and tolerability</a:t>
                      </a:r>
                    </a:p>
                  </a:txBody>
                  <a:tcPr marL="91440" marR="91440" marT="45720" marB="45720"/>
                </a:tc>
              </a:tr>
              <a:tr h="476250">
                <a:tc>
                  <a:txBody>
                    <a:bodyPr/>
                    <a:lstStyle/>
                    <a:p>
                      <a:r>
                        <a:t>5</a:t>
                      </a:r>
                    </a:p>
                  </a:txBody>
                  <a:tcPr marL="91440" marR="91440" marT="45720" marB="45720"/>
                </a:tc>
                <a:tc>
                  <a:txBody>
                    <a:bodyPr/>
                    <a:lstStyle/>
                    <a:p>
                      <a:r>
                        <a:t>2023 phase 3 acute LBP comparator study</a:t>
                      </a:r>
                    </a:p>
                  </a:txBody>
                  <a:tcPr marL="91440" marR="91440" marT="45720" marB="45720"/>
                </a:tc>
                <a:tc>
                  <a:txBody>
                    <a:bodyPr/>
                    <a:lstStyle/>
                    <a:p>
                      <a:r>
                        <a:t>Modern comparative relevance</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64AC7206-4A5F-4018-A305-F5D2EF5FEE0E}"/>
              </a:ext>
            </a:extLst>
          </p:cNvPr>
          <p:cNvSpPr>
            <a:spLocks xmlns:a="http://schemas.openxmlformats.org/drawingml/2006/main" noGrp="1"/>
          </p:cNvSpPr>
          <p:nvPr/>
        </p:nvSpPr>
        <p:spPr>
          <a:xfrm xmlns:a="http://schemas.openxmlformats.org/drawingml/2006/main">
            <a:off x="990600" y="4610100"/>
            <a:ext cx="102108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3AC13A92-9DFF-4159-AC20-69E3308367AB}"/>
              </a:ext>
            </a:extLst>
          </p:cNvPr>
          <p:cNvSpPr>
            <a:spLocks xmlns:a="http://schemas.openxmlformats.org/drawingml/2006/main" noGrp="1"/>
          </p:cNvSpPr>
          <p:nvPr/>
        </p:nvSpPr>
        <p:spPr>
          <a:xfrm xmlns:a="http://schemas.openxmlformats.org/drawingml/2006/main">
            <a:off x="1123950" y="47244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How to use the references</a:t>
            </a:r>
          </a:p>
        </p:txBody>
      </p:sp>
      <p:sp>
        <p:nvSpPr>
          <p:cNvPr id="11" name="">
            <a:extLst xmlns:a="http://schemas.openxmlformats.org/drawingml/2006/main">
              <a:ext uri="{FF2B5EF4-FFF2-40B4-BE49-F238E27FC236}">
                <a16:creationId xmlns:a16="http://schemas.microsoft.com/office/drawing/2014/main" id="{E1D621F0-EA4E-41B4-8A31-879FD0FE97C7}"/>
              </a:ext>
            </a:extLst>
          </p:cNvPr>
          <p:cNvSpPr>
            <a:spLocks xmlns:a="http://schemas.openxmlformats.org/drawingml/2006/main" noGrp="1"/>
          </p:cNvSpPr>
          <p:nvPr/>
        </p:nvSpPr>
        <p:spPr>
          <a:xfrm xmlns:a="http://schemas.openxmlformats.org/drawingml/2006/main">
            <a:off x="1123950" y="5010150"/>
            <a:ext cx="99441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13" b="0">
                <a:solidFill>
                  <a:srgbClr val="24313A"/>
                </a:solidFill>
                <a:latin typeface="Aptos"/>
                <a:ea typeface="Aptos"/>
                <a:cs typeface="Aptos"/>
              </a:defRPr>
            </a:pPr>
            <a:r>
              <a:rPr sz="1013" b="0">
                <a:solidFill>
                  <a:srgbClr val="24313A"/>
                </a:solidFill>
                <a:latin typeface="Aptos"/>
                <a:ea typeface="Aptos"/>
                <a:cs typeface="Aptos"/>
              </a:rPr>
              <a:t>Keep the full citation list in the notes or appendix and keep the visible slide text concise. This preserves readability while keeping the audit trail intact.</a:t>
            </a:r>
          </a:p>
        </p:txBody>
      </p:sp>
    </p:spTree>
    <p:extLst>
      <p:ext uri="{BB962C8B-B14F-4D97-AF65-F5344CB8AC3E}">
        <p14:creationId xmlns:p14="http://schemas.microsoft.com/office/powerpoint/2010/main" val="28578878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D1747E-F879-46FA-8F6C-8D5C472EB6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4FD734BB-5CF9-4C17-9ACC-27C0FBCE913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1EB7B15A-FBD8-43AC-906C-1284B554C886}"/>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How to refresh the deck on the next cycle</a:t>
            </a:r>
          </a:p>
        </p:txBody>
      </p:sp>
      <p:sp>
        <p:nvSpPr>
          <p:cNvPr id="4" name="">
            <a:extLst xmlns:a="http://schemas.openxmlformats.org/drawingml/2006/main">
              <a:ext uri="{FF2B5EF4-FFF2-40B4-BE49-F238E27FC236}">
                <a16:creationId xmlns:a16="http://schemas.microsoft.com/office/drawing/2014/main" id="{925806C7-15CD-456F-AF75-7246BDBA947B}"/>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 scientific deck should have a revision logic, not just a final page.</a:t>
            </a:r>
          </a:p>
        </p:txBody>
      </p:sp>
      <p:sp>
        <p:nvSpPr>
          <p:cNvPr id="5" name="">
            <a:extLst xmlns:a="http://schemas.openxmlformats.org/drawingml/2006/main">
              <a:ext uri="{FF2B5EF4-FFF2-40B4-BE49-F238E27FC236}">
                <a16:creationId xmlns:a16="http://schemas.microsoft.com/office/drawing/2014/main" id="{483E87D1-39C0-4D9D-B659-3ACB6EDC002F}"/>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955E0ADD-69F6-4875-BD29-71DCD96F0231}"/>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new literature; sponsor update policy</a:t>
            </a:r>
          </a:p>
        </p:txBody>
      </p:sp>
      <p:sp>
        <p:nvSpPr>
          <p:cNvPr id="7" name="">
            <a:extLst xmlns:a="http://schemas.openxmlformats.org/drawingml/2006/main">
              <a:ext uri="{FF2B5EF4-FFF2-40B4-BE49-F238E27FC236}">
                <a16:creationId xmlns:a16="http://schemas.microsoft.com/office/drawing/2014/main" id="{B2241B17-5DE1-4331-9FCD-1E9B856597CA}"/>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24/25</a:t>
            </a:r>
          </a:p>
        </p:txBody>
      </p:sp>
      <p:sp>
        <p:nvSpPr>
          <p:cNvPr id="8" name="">
            <a:extLst xmlns:a="http://schemas.openxmlformats.org/drawingml/2006/main">
              <a:ext uri="{FF2B5EF4-FFF2-40B4-BE49-F238E27FC236}">
                <a16:creationId xmlns:a16="http://schemas.microsoft.com/office/drawing/2014/main" id="{443FB7B3-5D8A-47FB-AF78-88FBA39BE7EB}"/>
              </a:ext>
            </a:extLst>
          </p:cNvPr>
          <p:cNvSpPr>
            <a:spLocks xmlns:a="http://schemas.openxmlformats.org/drawingml/2006/main" noGrp="1"/>
          </p:cNvSpPr>
          <p:nvPr/>
        </p:nvSpPr>
        <p:spPr>
          <a:xfrm xmlns:a="http://schemas.openxmlformats.org/drawingml/2006/main">
            <a:off x="609600" y="1485900"/>
            <a:ext cx="3409950" cy="1752600"/>
          </a:xfrm>
          <a:prstGeom xmlns:a="http://schemas.openxmlformats.org/drawingml/2006/main" prst="roundRect">
            <a:avLst>
              <a:gd name="adj" fmla="val 4348"/>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6D16139B-5332-41BC-96A0-74BFD31307F1}"/>
              </a:ext>
            </a:extLst>
          </p:cNvPr>
          <p:cNvSpPr>
            <a:spLocks xmlns:a="http://schemas.openxmlformats.org/drawingml/2006/main" noGrp="1"/>
          </p:cNvSpPr>
          <p:nvPr/>
        </p:nvSpPr>
        <p:spPr>
          <a:xfrm xmlns:a="http://schemas.openxmlformats.org/drawingml/2006/main">
            <a:off x="742950" y="1600200"/>
            <a:ext cx="314325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Trigger 1</a:t>
            </a:r>
          </a:p>
        </p:txBody>
      </p:sp>
      <p:sp>
        <p:nvSpPr>
          <p:cNvPr id="10" name="">
            <a:extLst xmlns:a="http://schemas.openxmlformats.org/drawingml/2006/main">
              <a:ext uri="{FF2B5EF4-FFF2-40B4-BE49-F238E27FC236}">
                <a16:creationId xmlns:a16="http://schemas.microsoft.com/office/drawing/2014/main" id="{AE0E9444-C7D1-46F1-909C-F22FF6001C23}"/>
              </a:ext>
            </a:extLst>
          </p:cNvPr>
          <p:cNvSpPr>
            <a:spLocks xmlns:a="http://schemas.openxmlformats.org/drawingml/2006/main" noGrp="1"/>
          </p:cNvSpPr>
          <p:nvPr/>
        </p:nvSpPr>
        <p:spPr>
          <a:xfrm xmlns:a="http://schemas.openxmlformats.org/drawingml/2006/main">
            <a:off x="742950" y="1885950"/>
            <a:ext cx="3143250" cy="12573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New safety information, especially warnings, precautions, adverse reactions, or administration changes.</a:t>
            </a:r>
          </a:p>
        </p:txBody>
      </p:sp>
      <p:sp>
        <p:nvSpPr>
          <p:cNvPr id="11" name="">
            <a:extLst xmlns:a="http://schemas.openxmlformats.org/drawingml/2006/main">
              <a:ext uri="{FF2B5EF4-FFF2-40B4-BE49-F238E27FC236}">
                <a16:creationId xmlns:a16="http://schemas.microsoft.com/office/drawing/2014/main" id="{5ADDAE9F-0C97-439F-B22A-4A8732C6B9CE}"/>
              </a:ext>
            </a:extLst>
          </p:cNvPr>
          <p:cNvSpPr>
            <a:spLocks xmlns:a="http://schemas.openxmlformats.org/drawingml/2006/main" noGrp="1"/>
          </p:cNvSpPr>
          <p:nvPr/>
        </p:nvSpPr>
        <p:spPr>
          <a:xfrm xmlns:a="http://schemas.openxmlformats.org/drawingml/2006/main">
            <a:off x="4391025" y="1485900"/>
            <a:ext cx="3409950" cy="1752600"/>
          </a:xfrm>
          <a:prstGeom xmlns:a="http://schemas.openxmlformats.org/drawingml/2006/main" prst="roundRect">
            <a:avLst>
              <a:gd name="adj" fmla="val 4348"/>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15ADC3F9-8F76-4FF0-AF63-4D2CB6DB1F13}"/>
              </a:ext>
            </a:extLst>
          </p:cNvPr>
          <p:cNvSpPr>
            <a:spLocks xmlns:a="http://schemas.openxmlformats.org/drawingml/2006/main" noGrp="1"/>
          </p:cNvSpPr>
          <p:nvPr/>
        </p:nvSpPr>
        <p:spPr>
          <a:xfrm xmlns:a="http://schemas.openxmlformats.org/drawingml/2006/main">
            <a:off x="4524375" y="1600200"/>
            <a:ext cx="314325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Trigger 2</a:t>
            </a:r>
          </a:p>
        </p:txBody>
      </p:sp>
      <p:sp>
        <p:nvSpPr>
          <p:cNvPr id="13" name="">
            <a:extLst xmlns:a="http://schemas.openxmlformats.org/drawingml/2006/main">
              <a:ext uri="{FF2B5EF4-FFF2-40B4-BE49-F238E27FC236}">
                <a16:creationId xmlns:a16="http://schemas.microsoft.com/office/drawing/2014/main" id="{3858EAE1-0D2F-4EDE-9558-B670F4AFA98A}"/>
              </a:ext>
            </a:extLst>
          </p:cNvPr>
          <p:cNvSpPr>
            <a:spLocks xmlns:a="http://schemas.openxmlformats.org/drawingml/2006/main" noGrp="1"/>
          </p:cNvSpPr>
          <p:nvPr/>
        </p:nvSpPr>
        <p:spPr>
          <a:xfrm xmlns:a="http://schemas.openxmlformats.org/drawingml/2006/main">
            <a:off x="4524375" y="1885950"/>
            <a:ext cx="3143250" cy="12573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New evidence that materially changes efficacy interpretation or place in therapy.</a:t>
            </a:r>
          </a:p>
        </p:txBody>
      </p:sp>
      <p:sp>
        <p:nvSpPr>
          <p:cNvPr id="14" name="">
            <a:extLst xmlns:a="http://schemas.openxmlformats.org/drawingml/2006/main">
              <a:ext uri="{FF2B5EF4-FFF2-40B4-BE49-F238E27FC236}">
                <a16:creationId xmlns:a16="http://schemas.microsoft.com/office/drawing/2014/main" id="{BDFAA423-37EB-474B-A472-46C54F121748}"/>
              </a:ext>
            </a:extLst>
          </p:cNvPr>
          <p:cNvSpPr>
            <a:spLocks xmlns:a="http://schemas.openxmlformats.org/drawingml/2006/main" noGrp="1"/>
          </p:cNvSpPr>
          <p:nvPr/>
        </p:nvSpPr>
        <p:spPr>
          <a:xfrm xmlns:a="http://schemas.openxmlformats.org/drawingml/2006/main">
            <a:off x="8172450" y="1485900"/>
            <a:ext cx="3409950" cy="1752600"/>
          </a:xfrm>
          <a:prstGeom xmlns:a="http://schemas.openxmlformats.org/drawingml/2006/main" prst="roundRect">
            <a:avLst>
              <a:gd name="adj" fmla="val 4348"/>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D0022FCC-05BA-4F8D-B685-B84FFDB970B6}"/>
              </a:ext>
            </a:extLst>
          </p:cNvPr>
          <p:cNvSpPr>
            <a:spLocks xmlns:a="http://schemas.openxmlformats.org/drawingml/2006/main" noGrp="1"/>
          </p:cNvSpPr>
          <p:nvPr/>
        </p:nvSpPr>
        <p:spPr>
          <a:xfrm xmlns:a="http://schemas.openxmlformats.org/drawingml/2006/main">
            <a:off x="8305800" y="1600200"/>
            <a:ext cx="314325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Trigger 3</a:t>
            </a:r>
          </a:p>
        </p:txBody>
      </p:sp>
      <p:sp>
        <p:nvSpPr>
          <p:cNvPr id="16" name="">
            <a:extLst xmlns:a="http://schemas.openxmlformats.org/drawingml/2006/main">
              <a:ext uri="{FF2B5EF4-FFF2-40B4-BE49-F238E27FC236}">
                <a16:creationId xmlns:a16="http://schemas.microsoft.com/office/drawing/2014/main" id="{F91F4541-6A44-4D88-96B0-381B6F8E45B8}"/>
              </a:ext>
            </a:extLst>
          </p:cNvPr>
          <p:cNvSpPr>
            <a:spLocks xmlns:a="http://schemas.openxmlformats.org/drawingml/2006/main" noGrp="1"/>
          </p:cNvSpPr>
          <p:nvPr/>
        </p:nvSpPr>
        <p:spPr>
          <a:xfrm xmlns:a="http://schemas.openxmlformats.org/drawingml/2006/main">
            <a:off x="8305800" y="1885950"/>
            <a:ext cx="3143250" cy="12573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A new label update or product-information change in the target market.</a:t>
            </a:r>
          </a:p>
        </p:txBody>
      </p:sp>
      <p:sp>
        <p:nvSpPr>
          <p:cNvPr id="17" name="">
            <a:extLst xmlns:a="http://schemas.openxmlformats.org/drawingml/2006/main">
              <a:ext uri="{FF2B5EF4-FFF2-40B4-BE49-F238E27FC236}">
                <a16:creationId xmlns:a16="http://schemas.microsoft.com/office/drawing/2014/main" id="{467D4ACD-096D-496A-91A4-AE0D5E70B65F}"/>
              </a:ext>
            </a:extLst>
          </p:cNvPr>
          <p:cNvSpPr>
            <a:spLocks xmlns:a="http://schemas.openxmlformats.org/drawingml/2006/main" noGrp="1"/>
          </p:cNvSpPr>
          <p:nvPr/>
        </p:nvSpPr>
        <p:spPr>
          <a:xfrm xmlns:a="http://schemas.openxmlformats.org/drawingml/2006/main">
            <a:off x="990600" y="3657600"/>
            <a:ext cx="1021080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5CBD6ABE-C809-45D7-AC7A-51C8054D3943}"/>
              </a:ext>
            </a:extLst>
          </p:cNvPr>
          <p:cNvSpPr>
            <a:spLocks xmlns:a="http://schemas.openxmlformats.org/drawingml/2006/main" noGrp="1"/>
          </p:cNvSpPr>
          <p:nvPr/>
        </p:nvSpPr>
        <p:spPr>
          <a:xfrm xmlns:a="http://schemas.openxmlformats.org/drawingml/2006/main">
            <a:off x="1123950" y="37719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Operating rule</a:t>
            </a:r>
          </a:p>
        </p:txBody>
      </p:sp>
      <p:sp>
        <p:nvSpPr>
          <p:cNvPr id="19" name="">
            <a:extLst xmlns:a="http://schemas.openxmlformats.org/drawingml/2006/main">
              <a:ext uri="{FF2B5EF4-FFF2-40B4-BE49-F238E27FC236}">
                <a16:creationId xmlns:a16="http://schemas.microsoft.com/office/drawing/2014/main" id="{AC2DD6BF-FDC1-44F8-9450-26D7D40F9FFB}"/>
              </a:ext>
            </a:extLst>
          </p:cNvPr>
          <p:cNvSpPr>
            <a:spLocks xmlns:a="http://schemas.openxmlformats.org/drawingml/2006/main" noGrp="1"/>
          </p:cNvSpPr>
          <p:nvPr/>
        </p:nvSpPr>
        <p:spPr>
          <a:xfrm xmlns:a="http://schemas.openxmlformats.org/drawingml/2006/main">
            <a:off x="1123950" y="4057650"/>
            <a:ext cx="99441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24313A"/>
                </a:solidFill>
                <a:latin typeface="Aptos"/>
                <a:ea typeface="Aptos"/>
                <a:cs typeface="Aptos"/>
              </a:defRPr>
            </a:pPr>
            <a:r>
              <a:rPr sz="1050" b="0">
                <a:solidFill>
                  <a:srgbClr val="24313A"/>
                </a:solidFill>
                <a:latin typeface="Aptos"/>
                <a:ea typeface="Aptos"/>
                <a:cs typeface="Aptos"/>
              </a:rPr>
              <a:t>This deck should be refreshed whenever the evidence base changes enough to matter to the audience.</a:t>
            </a:r>
          </a:p>
        </p:txBody>
      </p:sp>
    </p:spTree>
    <p:extLst>
      <p:ext uri="{BB962C8B-B14F-4D97-AF65-F5344CB8AC3E}">
        <p14:creationId xmlns:p14="http://schemas.microsoft.com/office/powerpoint/2010/main" val="1311675431"/>
      </p:ext>
    </p:extLst>
  </p:cSld>
</p:sld>
</file>

<file path=ppt/slides/slide25.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B4B3936-11A2-42DE-B98B-96C94D8B731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 name="">
            <a:extLst xmlns:a="http://schemas.openxmlformats.org/drawingml/2006/main">
              <a:ext uri="{FF2B5EF4-FFF2-40B4-BE49-F238E27FC236}">
                <a16:creationId xmlns:a16="http://schemas.microsoft.com/office/drawing/2014/main" id="{75935059-639C-476D-A475-8DE368D4B8B6}"/>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0E2538"/>
          </a:solidFill>
          <a:ln xmlns:a="http://schemas.openxmlformats.org/drawingml/2006/main" w="0">
            <a:solidFill>
              <a:srgbClr val="0E2538"/>
            </a:solidFill>
            <a:prstDash val="solid"/>
          </a:ln>
        </p:spPr>
      </p:sp>
      <p:sp>
        <p:nvSpPr>
          <p:cNvPr id="3" name="">
            <a:extLst xmlns:a="http://schemas.openxmlformats.org/drawingml/2006/main">
              <a:ext uri="{FF2B5EF4-FFF2-40B4-BE49-F238E27FC236}">
                <a16:creationId xmlns:a16="http://schemas.microsoft.com/office/drawing/2014/main" id="{6DDF8E24-7AF3-40D2-96A2-38B9A6BBCABE}"/>
              </a:ext>
            </a:extLst>
          </p:cNvPr>
          <p:cNvSpPr>
            <a:spLocks xmlns:a="http://schemas.openxmlformats.org/drawingml/2006/main" noGrp="1"/>
          </p:cNvSpPr>
          <p:nvPr/>
        </p:nvSpPr>
        <p:spPr>
          <a:xfrm xmlns:a="http://schemas.openxmlformats.org/drawingml/2006/main">
            <a:off x="685800" y="1390650"/>
            <a:ext cx="7239000" cy="533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2100" b="1">
                <a:solidFill>
                  <a:srgbClr val="FFFFFF"/>
                </a:solidFill>
                <a:latin typeface="Aptos"/>
                <a:ea typeface="Aptos"/>
                <a:cs typeface="Aptos"/>
              </a:defRPr>
            </a:pPr>
            <a:r>
              <a:rPr sz="2100" b="1">
                <a:solidFill>
                  <a:srgbClr val="FFFFFF"/>
                </a:solidFill>
                <a:latin typeface="Aptos"/>
                <a:ea typeface="Aptos"/>
                <a:cs typeface="Aptos"/>
              </a:rPr>
              <a:t>Aceclofenac: the practical NSAID story</a:t>
            </a:r>
          </a:p>
        </p:txBody>
      </p:sp>
      <p:sp>
        <p:nvSpPr>
          <p:cNvPr id="4" name="">
            <a:extLst xmlns:a="http://schemas.openxmlformats.org/drawingml/2006/main">
              <a:ext uri="{FF2B5EF4-FFF2-40B4-BE49-F238E27FC236}">
                <a16:creationId xmlns:a16="http://schemas.microsoft.com/office/drawing/2014/main" id="{86314FA4-1F6B-4938-8961-C50FAEB797CC}"/>
              </a:ext>
            </a:extLst>
          </p:cNvPr>
          <p:cNvSpPr>
            <a:spLocks xmlns:a="http://schemas.openxmlformats.org/drawingml/2006/main" noGrp="1"/>
          </p:cNvSpPr>
          <p:nvPr/>
        </p:nvSpPr>
        <p:spPr>
          <a:xfrm xmlns:a="http://schemas.openxmlformats.org/drawingml/2006/main">
            <a:off x="685800" y="2000250"/>
            <a:ext cx="5334000" cy="2667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8F2F1"/>
                </a:solidFill>
                <a:latin typeface="Aptos"/>
                <a:ea typeface="Aptos"/>
                <a:cs typeface="Aptos"/>
              </a:defRPr>
            </a:pPr>
            <a:r>
              <a:rPr sz="1200" b="1">
                <a:solidFill>
                  <a:srgbClr val="E8F2F1"/>
                </a:solidFill>
                <a:latin typeface="Aptos"/>
                <a:ea typeface="Aptos"/>
                <a:cs typeface="Aptos"/>
              </a:rPr>
              <a:t>Key takeaways</a:t>
            </a:r>
          </a:p>
        </p:txBody>
      </p:sp>
      <p:sp>
        <p:nvSpPr>
          <p:cNvPr id="5" name="">
            <a:extLst xmlns:a="http://schemas.openxmlformats.org/drawingml/2006/main">
              <a:ext uri="{FF2B5EF4-FFF2-40B4-BE49-F238E27FC236}">
                <a16:creationId xmlns:a16="http://schemas.microsoft.com/office/drawing/2014/main" id="{22CCF6AC-EBC6-4312-8C19-B6BC1C42BE19}"/>
              </a:ext>
            </a:extLst>
          </p:cNvPr>
          <p:cNvSpPr>
            <a:spLocks xmlns:a="http://schemas.openxmlformats.org/drawingml/2006/main" noGrp="1"/>
          </p:cNvSpPr>
          <p:nvPr/>
        </p:nvSpPr>
        <p:spPr>
          <a:xfrm xmlns:a="http://schemas.openxmlformats.org/drawingml/2006/main">
            <a:off x="685800" y="2400300"/>
            <a:ext cx="7239000" cy="22479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Aceclofenac is best presented as a balanced NSAID option for symptom relief where label use allows.</a:t>
            </a:r>
          </a:p>
          <a:p xmlns:a="http://schemas.openxmlformats.org/drawingml/2006/main">
            <a:r>
              <a:t/>
            </a:r>
          </a:p>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Efficacy slides should stay tied to pain and function, not disease-modifying claims.</a:t>
            </a:r>
          </a:p>
          <a:p xmlns:a="http://schemas.openxmlformats.org/drawingml/2006/main">
            <a:r>
              <a:t/>
            </a:r>
          </a:p>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Safety must stay visible: GI, renal, cardiovascular, and hepatic cautions belong in the main deck.</a:t>
            </a:r>
          </a:p>
          <a:p xmlns:a="http://schemas.openxmlformats.org/drawingml/2006/main">
            <a:r>
              <a:t/>
            </a:r>
          </a:p>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The evidence base should control final dosing and special-population wording.</a:t>
            </a:r>
          </a:p>
          <a:p xmlns:a="http://schemas.openxmlformats.org/drawingml/2006/main">
            <a:r>
              <a:t/>
            </a:r>
          </a:p>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Speaker notes should be tailored to the presenter and audience.</a:t>
            </a:r>
          </a:p>
        </p:txBody>
      </p:sp>
      <p:sp>
        <p:nvSpPr>
          <p:cNvPr id="6" name="">
            <a:extLst xmlns:a="http://schemas.openxmlformats.org/drawingml/2006/main">
              <a:ext uri="{FF2B5EF4-FFF2-40B4-BE49-F238E27FC236}">
                <a16:creationId xmlns:a16="http://schemas.microsoft.com/office/drawing/2014/main" id="{34948E37-D88B-4CC8-9593-085F73B11FEA}"/>
              </a:ext>
            </a:extLst>
          </p:cNvPr>
          <p:cNvSpPr>
            <a:spLocks xmlns:a="http://schemas.openxmlformats.org/drawingml/2006/main" noGrp="1"/>
          </p:cNvSpPr>
          <p:nvPr/>
        </p:nvSpPr>
        <p:spPr>
          <a:xfrm xmlns:a="http://schemas.openxmlformats.org/drawingml/2006/main">
            <a:off x="8724900" y="1485900"/>
            <a:ext cx="2400300" cy="1314450"/>
          </a:xfrm>
          <a:prstGeom xmlns:a="http://schemas.openxmlformats.org/drawingml/2006/main" prst="roundRect">
            <a:avLst>
              <a:gd name="adj" fmla="val 5797"/>
            </a:avLst>
          </a:prstGeom>
          <a:solidFill xmlns:a="http://schemas.openxmlformats.org/drawingml/2006/main">
            <a:srgbClr val="173D56"/>
          </a:solidFill>
          <a:ln xmlns:a="http://schemas.openxmlformats.org/drawingml/2006/main" w="9525">
            <a:solidFill>
              <a:srgbClr val="2B5A76"/>
            </a:solidFill>
            <a:prstDash val="solid"/>
          </a:ln>
        </p:spPr>
      </p:sp>
      <p:sp>
        <p:nvSpPr>
          <p:cNvPr id="7" name="">
            <a:extLst xmlns:a="http://schemas.openxmlformats.org/drawingml/2006/main">
              <a:ext uri="{FF2B5EF4-FFF2-40B4-BE49-F238E27FC236}">
                <a16:creationId xmlns:a16="http://schemas.microsoft.com/office/drawing/2014/main" id="{F47D8AE8-9491-4E67-BFAF-2097A062C484}"/>
              </a:ext>
            </a:extLst>
          </p:cNvPr>
          <p:cNvSpPr>
            <a:spLocks xmlns:a="http://schemas.openxmlformats.org/drawingml/2006/main" noGrp="1"/>
          </p:cNvSpPr>
          <p:nvPr/>
        </p:nvSpPr>
        <p:spPr>
          <a:xfrm xmlns:a="http://schemas.openxmlformats.org/drawingml/2006/main">
            <a:off x="8858250" y="1600200"/>
            <a:ext cx="2133600" cy="266700"/>
          </a:xfrm>
          <a:prstGeom xmlns:a="http://schemas.openxmlformats.org/drawingml/2006/main" prst="rect">
            <a:avLst/>
          </a:prstGeom>
          <a:solidFill xmlns:a="http://schemas.openxmlformats.org/drawingml/2006/main">
            <a:srgbClr val="173D56"/>
          </a:solidFill>
          <a:ln xmlns:a="http://schemas.openxmlformats.org/drawingml/2006/main" w="9525">
            <a:solidFill>
              <a:srgbClr val="173D5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Deck status</a:t>
            </a:r>
          </a:p>
        </p:txBody>
      </p:sp>
      <p:sp>
        <p:nvSpPr>
          <p:cNvPr id="8" name="">
            <a:extLst xmlns:a="http://schemas.openxmlformats.org/drawingml/2006/main">
              <a:ext uri="{FF2B5EF4-FFF2-40B4-BE49-F238E27FC236}">
                <a16:creationId xmlns:a16="http://schemas.microsoft.com/office/drawing/2014/main" id="{E5CC06A7-01E0-4B56-B5C4-B0BF77D5DE70}"/>
              </a:ext>
            </a:extLst>
          </p:cNvPr>
          <p:cNvSpPr>
            <a:spLocks xmlns:a="http://schemas.openxmlformats.org/drawingml/2006/main" noGrp="1"/>
          </p:cNvSpPr>
          <p:nvPr/>
        </p:nvSpPr>
        <p:spPr>
          <a:xfrm xmlns:a="http://schemas.openxmlformats.org/drawingml/2006/main">
            <a:off x="8858250" y="1885950"/>
            <a:ext cx="2133600" cy="819150"/>
          </a:xfrm>
          <a:prstGeom xmlns:a="http://schemas.openxmlformats.org/drawingml/2006/main" prst="rect">
            <a:avLst/>
          </a:prstGeom>
          <a:solidFill xmlns:a="http://schemas.openxmlformats.org/drawingml/2006/main">
            <a:srgbClr val="173D56"/>
          </a:solidFill>
          <a:ln xmlns:a="http://schemas.openxmlformats.org/drawingml/2006/main" w="9525">
            <a:solidFill>
              <a:srgbClr val="173D56"/>
            </a:solidFill>
            <a:prstDash val="solid"/>
          </a:ln>
        </p:spPr>
        <p:txBody>
          <a:bodyPr xmlns:a="http://schemas.openxmlformats.org/drawingml/2006/main" anchor="t"/>
          <a:lstStyle xmlns:a="http://schemas.openxmlformats.org/drawingml/2006/main"/>
          <a:p xmlns:a="http://schemas.openxmlformats.org/drawingml/2006/main">
            <a:pPr algn="l">
              <a:defRPr sz="855" b="0">
                <a:solidFill>
                  <a:srgbClr val="EAF2F6"/>
                </a:solidFill>
                <a:latin typeface="Aptos"/>
                <a:ea typeface="Aptos"/>
                <a:cs typeface="Aptos"/>
              </a:defRPr>
            </a:pPr>
            <a:r>
              <a:rPr sz="855" b="0">
                <a:solidFill>
                  <a:srgbClr val="EAF2F6"/>
                </a:solidFill>
                <a:latin typeface="Aptos"/>
                <a:ea typeface="Aptos"/>
                <a:cs typeface="Aptos"/>
              </a:rPr>
              <a:t>Demonstration only</a:t>
            </a:r>
          </a:p>
        </p:txBody>
      </p:sp>
      <p:sp>
        <p:nvSpPr>
          <p:cNvPr id="9" name="">
            <a:extLst xmlns:a="http://schemas.openxmlformats.org/drawingml/2006/main">
              <a:ext uri="{FF2B5EF4-FFF2-40B4-BE49-F238E27FC236}">
                <a16:creationId xmlns:a16="http://schemas.microsoft.com/office/drawing/2014/main" id="{30F45B03-6726-4760-8646-2D56A8238213}"/>
              </a:ext>
            </a:extLst>
          </p:cNvPr>
          <p:cNvSpPr>
            <a:spLocks xmlns:a="http://schemas.openxmlformats.org/drawingml/2006/main" noGrp="1"/>
          </p:cNvSpPr>
          <p:nvPr/>
        </p:nvSpPr>
        <p:spPr>
          <a:xfrm xmlns:a="http://schemas.openxmlformats.org/drawingml/2006/main">
            <a:off x="8724900" y="3048000"/>
            <a:ext cx="2400300" cy="1314450"/>
          </a:xfrm>
          <a:prstGeom xmlns:a="http://schemas.openxmlformats.org/drawingml/2006/main" prst="roundRect">
            <a:avLst>
              <a:gd name="adj" fmla="val 5797"/>
            </a:avLst>
          </a:prstGeom>
          <a:solidFill xmlns:a="http://schemas.openxmlformats.org/drawingml/2006/main">
            <a:srgbClr val="0F3146"/>
          </a:solidFill>
          <a:ln xmlns:a="http://schemas.openxmlformats.org/drawingml/2006/main" w="9525">
            <a:solidFill>
              <a:srgbClr val="2B5A76"/>
            </a:solidFill>
            <a:prstDash val="solid"/>
          </a:ln>
        </p:spPr>
      </p:sp>
      <p:sp>
        <p:nvSpPr>
          <p:cNvPr id="10" name="">
            <a:extLst xmlns:a="http://schemas.openxmlformats.org/drawingml/2006/main">
              <a:ext uri="{FF2B5EF4-FFF2-40B4-BE49-F238E27FC236}">
                <a16:creationId xmlns:a16="http://schemas.microsoft.com/office/drawing/2014/main" id="{A379F129-4F89-49AE-A9E3-752B7473270E}"/>
              </a:ext>
            </a:extLst>
          </p:cNvPr>
          <p:cNvSpPr>
            <a:spLocks xmlns:a="http://schemas.openxmlformats.org/drawingml/2006/main" noGrp="1"/>
          </p:cNvSpPr>
          <p:nvPr/>
        </p:nvSpPr>
        <p:spPr>
          <a:xfrm xmlns:a="http://schemas.openxmlformats.org/drawingml/2006/main">
            <a:off x="8858250" y="3162300"/>
            <a:ext cx="2133600" cy="266700"/>
          </a:xfrm>
          <a:prstGeom xmlns:a="http://schemas.openxmlformats.org/drawingml/2006/main" prst="rect">
            <a:avLst/>
          </a:prstGeom>
          <a:solidFill xmlns:a="http://schemas.openxmlformats.org/drawingml/2006/main">
            <a:srgbClr val="0F3146"/>
          </a:solidFill>
          <a:ln xmlns:a="http://schemas.openxmlformats.org/drawingml/2006/main" w="9525">
            <a:solidFill>
              <a:srgbClr val="0F314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Next step</a:t>
            </a:r>
          </a:p>
        </p:txBody>
      </p:sp>
      <p:sp>
        <p:nvSpPr>
          <p:cNvPr id="11" name="">
            <a:extLst xmlns:a="http://schemas.openxmlformats.org/drawingml/2006/main">
              <a:ext uri="{FF2B5EF4-FFF2-40B4-BE49-F238E27FC236}">
                <a16:creationId xmlns:a16="http://schemas.microsoft.com/office/drawing/2014/main" id="{C0683417-7304-41D3-8191-913425702E12}"/>
              </a:ext>
            </a:extLst>
          </p:cNvPr>
          <p:cNvSpPr>
            <a:spLocks xmlns:a="http://schemas.openxmlformats.org/drawingml/2006/main" noGrp="1"/>
          </p:cNvSpPr>
          <p:nvPr/>
        </p:nvSpPr>
        <p:spPr>
          <a:xfrm xmlns:a="http://schemas.openxmlformats.org/drawingml/2006/main">
            <a:off x="8858250" y="3448050"/>
            <a:ext cx="2133600" cy="819150"/>
          </a:xfrm>
          <a:prstGeom xmlns:a="http://schemas.openxmlformats.org/drawingml/2006/main" prst="rect">
            <a:avLst/>
          </a:prstGeom>
          <a:solidFill xmlns:a="http://schemas.openxmlformats.org/drawingml/2006/main">
            <a:srgbClr val="0F3146"/>
          </a:solidFill>
          <a:ln xmlns:a="http://schemas.openxmlformats.org/drawingml/2006/main" w="9525">
            <a:solidFill>
              <a:srgbClr val="0F3146"/>
            </a:solidFill>
            <a:prstDash val="solid"/>
          </a:ln>
        </p:spPr>
        <p:txBody>
          <a:bodyPr xmlns:a="http://schemas.openxmlformats.org/drawingml/2006/main" anchor="t"/>
          <a:lstStyle xmlns:a="http://schemas.openxmlformats.org/drawingml/2006/main"/>
          <a:p xmlns:a="http://schemas.openxmlformats.org/drawingml/2006/main">
            <a:pPr algn="l">
              <a:defRPr sz="855" b="0">
                <a:solidFill>
                  <a:srgbClr val="EAF2F6"/>
                </a:solidFill>
                <a:latin typeface="Aptos"/>
                <a:ea typeface="Aptos"/>
                <a:cs typeface="Aptos"/>
              </a:defRPr>
            </a:pPr>
            <a:r>
              <a:rPr sz="855" b="0">
                <a:solidFill>
                  <a:srgbClr val="EAF2F6"/>
                </a:solidFill>
                <a:latin typeface="Aptos"/>
                <a:ea typeface="Aptos"/>
                <a:cs typeface="Aptos"/>
              </a:rPr>
              <a:t>Adapt to the audience</a:t>
            </a:r>
          </a:p>
        </p:txBody>
      </p:sp>
      <p:sp>
        <p:nvSpPr>
          <p:cNvPr id="12" name="">
            <a:extLst xmlns:a="http://schemas.openxmlformats.org/drawingml/2006/main">
              <a:ext uri="{FF2B5EF4-FFF2-40B4-BE49-F238E27FC236}">
                <a16:creationId xmlns:a16="http://schemas.microsoft.com/office/drawing/2014/main" id="{A1223707-CA73-40EC-A949-13690C87A714}"/>
              </a:ext>
            </a:extLst>
          </p:cNvPr>
          <p:cNvSpPr>
            <a:spLocks xmlns:a="http://schemas.openxmlformats.org/drawingml/2006/main" noGrp="1"/>
          </p:cNvSpPr>
          <p:nvPr/>
        </p:nvSpPr>
        <p:spPr>
          <a:xfrm xmlns:a="http://schemas.openxmlformats.org/drawingml/2006/main">
            <a:off x="685800" y="6038850"/>
            <a:ext cx="2476500" cy="2286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ClinCommand OS</a:t>
            </a:r>
          </a:p>
        </p:txBody>
      </p:sp>
      <p:sp>
        <p:nvSpPr>
          <p:cNvPr id="13" name="">
            <a:extLst xmlns:a="http://schemas.openxmlformats.org/drawingml/2006/main">
              <a:ext uri="{FF2B5EF4-FFF2-40B4-BE49-F238E27FC236}">
                <a16:creationId xmlns:a16="http://schemas.microsoft.com/office/drawing/2014/main" id="{587E4387-8391-423F-8FD7-1DFCE60566BF}"/>
              </a:ext>
            </a:extLst>
          </p:cNvPr>
          <p:cNvSpPr>
            <a:spLocks xmlns:a="http://schemas.openxmlformats.org/drawingml/2006/main" noGrp="1"/>
          </p:cNvSpPr>
          <p:nvPr/>
        </p:nvSpPr>
        <p:spPr>
          <a:xfrm xmlns:a="http://schemas.openxmlformats.org/drawingml/2006/main">
            <a:off x="10325100" y="6038850"/>
            <a:ext cx="1143000" cy="2286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r">
              <a:defRPr sz="1200" b="1">
                <a:solidFill>
                  <a:srgbClr val="FFFFFF"/>
                </a:solidFill>
                <a:latin typeface="Aptos"/>
                <a:ea typeface="Aptos"/>
                <a:cs typeface="Aptos"/>
              </a:defRPr>
            </a:pPr>
            <a:r>
              <a:rPr sz="1200" b="1">
                <a:solidFill>
                  <a:srgbClr val="FFFFFF"/>
                </a:solidFill>
                <a:latin typeface="Aptos"/>
                <a:ea typeface="Aptos"/>
                <a:cs typeface="Aptos"/>
              </a:rPr>
              <a:t>thank you</a:t>
            </a:r>
          </a:p>
        </p:txBody>
      </p:sp>
    </p:spTree>
    <p:extLst>
      <p:ext uri="{BB962C8B-B14F-4D97-AF65-F5344CB8AC3E}">
        <p14:creationId xmlns:p14="http://schemas.microsoft.com/office/powerpoint/2010/main" val="11577185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2026-06-06T17:38:19.0660000Z</dcterms:created>
  <dcterms:modified xsi:type="dcterms:W3CDTF">2026-06-06T17:38:19.0660000Z</dcterms:modified>
</coreProperties>
</file>