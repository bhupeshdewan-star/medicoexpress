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8e8d146d684149" /><Relationship Type="http://schemas.openxmlformats.org/officeDocument/2006/relationships/extended-properties" Target="/docProps/app.xml" Id="R6e34b51338534489" /><Relationship Type="http://schemas.openxmlformats.org/officeDocument/2006/relationships/officeDocument" Target="/ppt/presentation.xml" Id="R92ca13dc8b7c4d97" /></Relationships>
</file>

<file path=ppt/presentation.xml><?xml version="1.0" encoding="utf-8"?>
<p:presentation xmlns:p="http://schemas.openxmlformats.org/presentationml/2006/main">
  <p:sldMasterIdLst>
    <p:sldMasterId xmlns:r="http://schemas.openxmlformats.org/officeDocument/2006/relationships" id="2147483648" r:id="Rfde5599d686f4d65"/>
  </p:sldMasterIdLst>
  <p:notesMasterIdLst>
    <p:notesMasterId xmlns:r="http://schemas.openxmlformats.org/officeDocument/2006/relationships" r:id="Rb2cecb7ee9c24d9f"/>
  </p:notesMasterIdLst>
  <p:sldIdLst>
    <p:sldId xmlns:r="http://schemas.openxmlformats.org/officeDocument/2006/relationships" id="256" r:id="Rbe00d8bb8e764d2e"/>
    <p:sldId xmlns:r="http://schemas.openxmlformats.org/officeDocument/2006/relationships" id="257" r:id="Re9e9c1cb32f64036"/>
    <p:sldId xmlns:r="http://schemas.openxmlformats.org/officeDocument/2006/relationships" id="258" r:id="Rb66fe2f4421a4c8c"/>
    <p:sldId xmlns:r="http://schemas.openxmlformats.org/officeDocument/2006/relationships" id="259" r:id="Re82f310fd37048e0"/>
    <p:sldId xmlns:r="http://schemas.openxmlformats.org/officeDocument/2006/relationships" id="260" r:id="R3cd0013caef14b32"/>
    <p:sldId xmlns:r="http://schemas.openxmlformats.org/officeDocument/2006/relationships" id="261" r:id="Rd55cc8cce5394b90"/>
    <p:sldId xmlns:r="http://schemas.openxmlformats.org/officeDocument/2006/relationships" id="262" r:id="R429a2166a19e4224"/>
    <p:sldId xmlns:r="http://schemas.openxmlformats.org/officeDocument/2006/relationships" id="263" r:id="R4e11ec1db7f04185"/>
    <p:sldId xmlns:r="http://schemas.openxmlformats.org/officeDocument/2006/relationships" id="264" r:id="R114a079bda1244dc"/>
    <p:sldId xmlns:r="http://schemas.openxmlformats.org/officeDocument/2006/relationships" id="265" r:id="R944b016e868042d3"/>
    <p:sldId xmlns:r="http://schemas.openxmlformats.org/officeDocument/2006/relationships" id="266" r:id="Rb1af61e5abaa4aec"/>
    <p:sldId xmlns:r="http://schemas.openxmlformats.org/officeDocument/2006/relationships" id="267" r:id="R61f948e5d0e8412d"/>
    <p:sldId xmlns:r="http://schemas.openxmlformats.org/officeDocument/2006/relationships" id="268" r:id="R2787fa316730403c"/>
    <p:sldId xmlns:r="http://schemas.openxmlformats.org/officeDocument/2006/relationships" id="269" r:id="Rb08afde5a15e4d51"/>
    <p:sldId xmlns:r="http://schemas.openxmlformats.org/officeDocument/2006/relationships" id="270" r:id="Rcba4b14b6c564fcf"/>
    <p:sldId xmlns:r="http://schemas.openxmlformats.org/officeDocument/2006/relationships" id="271" r:id="Ra3c802bd8ec641ee"/>
    <p:sldId xmlns:r="http://schemas.openxmlformats.org/officeDocument/2006/relationships" id="272" r:id="Rd9f61c9a0cb84606"/>
    <p:sldId xmlns:r="http://schemas.openxmlformats.org/officeDocument/2006/relationships" id="273" r:id="R4464bc4051aa49d8"/>
    <p:sldId xmlns:r="http://schemas.openxmlformats.org/officeDocument/2006/relationships" id="274" r:id="R8758c911717546df"/>
    <p:sldId xmlns:r="http://schemas.openxmlformats.org/officeDocument/2006/relationships" id="275" r:id="Ra93de2eb9c5944ec"/>
    <p:sldId xmlns:r="http://schemas.openxmlformats.org/officeDocument/2006/relationships" id="276" r:id="Rf368be6b60244403"/>
    <p:sldId xmlns:r="http://schemas.openxmlformats.org/officeDocument/2006/relationships" id="277" r:id="R5b9053db43e042dc"/>
    <p:sldId xmlns:r="http://schemas.openxmlformats.org/officeDocument/2006/relationships" id="278" r:id="R4d4c7eb26181432b"/>
    <p:sldId xmlns:r="http://schemas.openxmlformats.org/officeDocument/2006/relationships" id="279" r:id="Ra4874f84ecc94b3e"/>
    <p:sldId xmlns:r="http://schemas.openxmlformats.org/officeDocument/2006/relationships" id="280" r:id="R6a24a0588460447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c94227ae5624b90" /><Relationship Type="http://schemas.openxmlformats.org/officeDocument/2006/relationships/slideMaster" Target="/ppt/slideMasters/slideMaster1.xml" Id="Rfde5599d686f4d65" /><Relationship Type="http://schemas.openxmlformats.org/officeDocument/2006/relationships/notesMaster" Target="/ppt/notesMasters/notesMaster1.xml" Id="Rb2cecb7ee9c24d9f" /><Relationship Type="http://schemas.openxmlformats.org/officeDocument/2006/relationships/presProps" Target="/ppt/presProps.xml" Id="R5e3daba372724edd" /><Relationship Type="http://schemas.openxmlformats.org/officeDocument/2006/relationships/viewProps" Target="/ppt/viewProps.xml" Id="R2a5f5528139a44cc" /><Relationship Type="http://schemas.openxmlformats.org/officeDocument/2006/relationships/tableStyles" Target="/ppt/tableStyles.xml" Id="R2b3bda4b5f3740ea" /><Relationship Type="http://schemas.openxmlformats.org/officeDocument/2006/relationships/slide" Target="/ppt/slides/slide1.xml" Id="Rbe00d8bb8e764d2e" /><Relationship Type="http://schemas.openxmlformats.org/officeDocument/2006/relationships/slide" Target="/ppt/slides/slide2.xml" Id="Re9e9c1cb32f64036" /><Relationship Type="http://schemas.openxmlformats.org/officeDocument/2006/relationships/slide" Target="/ppt/slides/slide3.xml" Id="Rb66fe2f4421a4c8c" /><Relationship Type="http://schemas.openxmlformats.org/officeDocument/2006/relationships/slide" Target="/ppt/slides/slide4.xml" Id="Re82f310fd37048e0" /><Relationship Type="http://schemas.openxmlformats.org/officeDocument/2006/relationships/slide" Target="/ppt/slides/slide5.xml" Id="R3cd0013caef14b32" /><Relationship Type="http://schemas.openxmlformats.org/officeDocument/2006/relationships/slide" Target="/ppt/slides/slide6.xml" Id="Rd55cc8cce5394b90" /><Relationship Type="http://schemas.openxmlformats.org/officeDocument/2006/relationships/slide" Target="/ppt/slides/slide7.xml" Id="R429a2166a19e4224" /><Relationship Type="http://schemas.openxmlformats.org/officeDocument/2006/relationships/slide" Target="/ppt/slides/slide8.xml" Id="R4e11ec1db7f04185" /><Relationship Type="http://schemas.openxmlformats.org/officeDocument/2006/relationships/slide" Target="/ppt/slides/slide9.xml" Id="R114a079bda1244dc" /><Relationship Type="http://schemas.openxmlformats.org/officeDocument/2006/relationships/slide" Target="/ppt/slides/slide10.xml" Id="R944b016e868042d3" /><Relationship Type="http://schemas.openxmlformats.org/officeDocument/2006/relationships/slide" Target="/ppt/slides/slide11.xml" Id="Rb1af61e5abaa4aec" /><Relationship Type="http://schemas.openxmlformats.org/officeDocument/2006/relationships/slide" Target="/ppt/slides/slide12.xml" Id="R61f948e5d0e8412d" /><Relationship Type="http://schemas.openxmlformats.org/officeDocument/2006/relationships/slide" Target="/ppt/slides/slide13.xml" Id="R2787fa316730403c" /><Relationship Type="http://schemas.openxmlformats.org/officeDocument/2006/relationships/slide" Target="/ppt/slides/slide14.xml" Id="Rb08afde5a15e4d51" /><Relationship Type="http://schemas.openxmlformats.org/officeDocument/2006/relationships/slide" Target="/ppt/slides/slide15.xml" Id="Rcba4b14b6c564fcf" /><Relationship Type="http://schemas.openxmlformats.org/officeDocument/2006/relationships/slide" Target="/ppt/slides/slide16.xml" Id="Ra3c802bd8ec641ee" /><Relationship Type="http://schemas.openxmlformats.org/officeDocument/2006/relationships/slide" Target="/ppt/slides/slide17.xml" Id="Rd9f61c9a0cb84606" /><Relationship Type="http://schemas.openxmlformats.org/officeDocument/2006/relationships/slide" Target="/ppt/slides/slide18.xml" Id="R4464bc4051aa49d8" /><Relationship Type="http://schemas.openxmlformats.org/officeDocument/2006/relationships/slide" Target="/ppt/slides/slide19.xml" Id="R8758c911717546df" /><Relationship Type="http://schemas.openxmlformats.org/officeDocument/2006/relationships/slide" Target="/ppt/slides/slide20.xml" Id="Ra93de2eb9c5944ec" /><Relationship Type="http://schemas.openxmlformats.org/officeDocument/2006/relationships/slide" Target="/ppt/slides/slide21.xml" Id="Rf368be6b60244403" /><Relationship Type="http://schemas.openxmlformats.org/officeDocument/2006/relationships/slide" Target="/ppt/slides/slide22.xml" Id="R5b9053db43e042dc" /><Relationship Type="http://schemas.openxmlformats.org/officeDocument/2006/relationships/slide" Target="/ppt/slides/slide23.xml" Id="R4d4c7eb26181432b" /><Relationship Type="http://schemas.openxmlformats.org/officeDocument/2006/relationships/slide" Target="/ppt/slides/slide24.xml" Id="Ra4874f84ecc94b3e" /><Relationship Type="http://schemas.openxmlformats.org/officeDocument/2006/relationships/slide" Target="/ppt/slides/slide25.xml" Id="R6a24a058846044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81e7f7877d4a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e0500bae784690" /><Relationship Type="http://schemas.openxmlformats.org/officeDocument/2006/relationships/notesMaster" Target="/ppt/notesMasters/notesMaster1.xml" Id="Rf156c5d3358d4f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f17b56b8d34069" /><Relationship Type="http://schemas.openxmlformats.org/officeDocument/2006/relationships/notesMaster" Target="/ppt/notesMasters/notesMaster1.xml" Id="R8f5c14b47d9a41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92964cac234dc6" /><Relationship Type="http://schemas.openxmlformats.org/officeDocument/2006/relationships/notesMaster" Target="/ppt/notesMasters/notesMaster1.xml" Id="R6b6190148d2740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e823d0a3304f8c" /><Relationship Type="http://schemas.openxmlformats.org/officeDocument/2006/relationships/notesMaster" Target="/ppt/notesMasters/notesMaster1.xml" Id="R83bf41609e0143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3d8395dd3440f5" /><Relationship Type="http://schemas.openxmlformats.org/officeDocument/2006/relationships/notesMaster" Target="/ppt/notesMasters/notesMaster1.xml" Id="Rcd6151bb616041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6dc3692a55480e" /><Relationship Type="http://schemas.openxmlformats.org/officeDocument/2006/relationships/notesMaster" Target="/ppt/notesMasters/notesMaster1.xml" Id="Rc38f42410c6947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34cbd63a48447e" /><Relationship Type="http://schemas.openxmlformats.org/officeDocument/2006/relationships/notesMaster" Target="/ppt/notesMasters/notesMaster1.xml" Id="Rf1bf8686c02342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fa13d577cb4ab2" /><Relationship Type="http://schemas.openxmlformats.org/officeDocument/2006/relationships/notesMaster" Target="/ppt/notesMasters/notesMaster1.xml" Id="Rf7ca0f6ea7e949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4bf84eded04584" /><Relationship Type="http://schemas.openxmlformats.org/officeDocument/2006/relationships/notesMaster" Target="/ppt/notesMasters/notesMaster1.xml" Id="R325520157dcc4b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47b8eced8d4f02" /><Relationship Type="http://schemas.openxmlformats.org/officeDocument/2006/relationships/notesMaster" Target="/ppt/notesMasters/notesMaster1.xml" Id="R04098956acbe46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cb89f27f854921" /><Relationship Type="http://schemas.openxmlformats.org/officeDocument/2006/relationships/notesMaster" Target="/ppt/notesMasters/notesMaster1.xml" Id="R5b9d4742538a47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d7d45c92704c37" /><Relationship Type="http://schemas.openxmlformats.org/officeDocument/2006/relationships/notesMaster" Target="/ppt/notesMasters/notesMaster1.xml" Id="Re528ea59420b4d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e6fcc16e594ef5" /><Relationship Type="http://schemas.openxmlformats.org/officeDocument/2006/relationships/notesMaster" Target="/ppt/notesMasters/notesMaster1.xml" Id="Rbbb73682e8ef4c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83978b918647fd" /><Relationship Type="http://schemas.openxmlformats.org/officeDocument/2006/relationships/notesMaster" Target="/ppt/notesMasters/notesMaster1.xml" Id="Read3009d741f48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c79c3a6ba14416" /><Relationship Type="http://schemas.openxmlformats.org/officeDocument/2006/relationships/notesMaster" Target="/ppt/notesMasters/notesMaster1.xml" Id="R4e27dbee800f46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70fd5e78334cce" /><Relationship Type="http://schemas.openxmlformats.org/officeDocument/2006/relationships/notesMaster" Target="/ppt/notesMasters/notesMaster1.xml" Id="R34aa18ca95f741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a256bb5625b401a" /><Relationship Type="http://schemas.openxmlformats.org/officeDocument/2006/relationships/notesMaster" Target="/ppt/notesMasters/notesMaster1.xml" Id="R4aae440c1cae409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7da6ccca164faa" /><Relationship Type="http://schemas.openxmlformats.org/officeDocument/2006/relationships/notesMaster" Target="/ppt/notesMasters/notesMaster1.xml" Id="R4618452dd7f34c0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7f4c709ead8443e" /><Relationship Type="http://schemas.openxmlformats.org/officeDocument/2006/relationships/notesMaster" Target="/ppt/notesMasters/notesMaster1.xml" Id="R45eb1c07b6d5497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31b3e842034c82" /><Relationship Type="http://schemas.openxmlformats.org/officeDocument/2006/relationships/notesMaster" Target="/ppt/notesMasters/notesMaster1.xml" Id="R500b84f5a4ab47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6ad49a9d3e48ed" /><Relationship Type="http://schemas.openxmlformats.org/officeDocument/2006/relationships/notesMaster" Target="/ppt/notesMasters/notesMaster1.xml" Id="R757384d60a54404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1184545151c4e66" /><Relationship Type="http://schemas.openxmlformats.org/officeDocument/2006/relationships/notesMaster" Target="/ppt/notesMasters/notesMaster1.xml" Id="R888eb62a64f1423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f66296d7bf4430" /><Relationship Type="http://schemas.openxmlformats.org/officeDocument/2006/relationships/notesMaster" Target="/ppt/notesMasters/notesMaster1.xml" Id="R5069667a81734b8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bb226ca53364373" /><Relationship Type="http://schemas.openxmlformats.org/officeDocument/2006/relationships/notesMaster" Target="/ppt/notesMasters/notesMaster1.xml" Id="R194e6cfd7b43405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ef07f0958394d8c" /><Relationship Type="http://schemas.openxmlformats.org/officeDocument/2006/relationships/notesMaster" Target="/ppt/notesMasters/notesMaster1.xml" Id="Rba7b93aa65a64f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stating this is a scientific HCP deck demo, not approved promotional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slide count, duration, notes requirement, audience, and deck purpose should be captured before drafting.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aceclofenac as a symptom-relief NSAID with clear label boundaries. Link every benefit statement to the clinical problem it addresses.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molecule facts to make the deck feel scientifically grounded: name, formula, solubility, and how those features relate to oral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 mechanism to patient benefit in one sentence and stop there. The slide should feel mechanistically precise, not marketing-heavy.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PK slide numeric and clinically useful. HCPs should leave with one or two concrete facts, not a vague impression.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hierarchy explicit: meta-analysis, RCTs, and approved PI together create the scientific backbone.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pain and function as the measurable endpoints. Make clear that the evidence is supportive rather than transformative.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rheumatoid arthritis slide clinically honest: symptom control plus separate disease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Ground the discussion in guideline-level pain relief and the limits of NSAIDs in axial disease.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safety the equal partner to efficacy. Use the PI frequencies rather than generic class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Translate GI risk into concrete actions: screen, protect, monitor, and escalate.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organ-risk slide practical and explicit: renal, hepatic, and cardiovascular concerns should be visible at prescribing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Help the audience think beyond the single drug. Encourage medication review, renal caution, and bleeding-risk screening.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dosing slide specific to the approved label and state clearly when the local PI must override the general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Reinforce that the approved label must govern special populations.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good patient selection improves symptom control without avoidable class harm.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bridges evidence to practice. Keep it practical: where it fits, where it doesn't, and why non-pharmacologic measures still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medication to the broader care plan: movement, support, weight, and 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deck is intended to support what the clinician says to the patient, especially around benefit expectations and warning 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short, controlled answers and bring the audience back to source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deliberate control slide. Replace promotional language with evidence-based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audience that the deck is grounded in the PI, review, meta-analysis, RCTs, and PK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audience that the deck will be revised when the label or the evidence base changes materially.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summarizing the central message: aceclofenac is a symptom-focused NSAID option, but it must always be discussed with class risk and local label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0b74f3581c41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35d99d35d84dc5" /><Relationship Type="http://schemas.openxmlformats.org/officeDocument/2006/relationships/slideLayout" Target="/ppt/slideLayouts/slideLayout1.xml" Id="R907dd0101aa143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7dd0101aa143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288ed8c0744672" /><Relationship Type="http://schemas.openxmlformats.org/officeDocument/2006/relationships/notesSlide" Target="/ppt/notesSlides/notesSlide1.xml" Id="Rb9d7a0cafc854d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f293f6ce194adb" /><Relationship Type="http://schemas.openxmlformats.org/officeDocument/2006/relationships/notesSlide" Target="/ppt/notesSlides/notesSlide2.xml" Id="Red06b69ab4b14a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32654187be46d8" /><Relationship Type="http://schemas.openxmlformats.org/officeDocument/2006/relationships/notesSlide" Target="/ppt/notesSlides/notesSlide3.xml" Id="R29f3271a83a34b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f9d97629004297" /><Relationship Type="http://schemas.openxmlformats.org/officeDocument/2006/relationships/notesSlide" Target="/ppt/notesSlides/notesSlide4.xml" Id="R3b9c209956c54d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47437e6e4c41b4" /><Relationship Type="http://schemas.openxmlformats.org/officeDocument/2006/relationships/notesSlide" Target="/ppt/notesSlides/notesSlide5.xml" Id="Rfaee81637c024c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264341b005420d" /><Relationship Type="http://schemas.openxmlformats.org/officeDocument/2006/relationships/notesSlide" Target="/ppt/notesSlides/notesSlide6.xml" Id="Reeae4591c7fb42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61e40f8da594082" /><Relationship Type="http://schemas.openxmlformats.org/officeDocument/2006/relationships/notesSlide" Target="/ppt/notesSlides/notesSlide7.xml" Id="R14ddc22324924e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fd55cc7a8a4eb9" /><Relationship Type="http://schemas.openxmlformats.org/officeDocument/2006/relationships/notesSlide" Target="/ppt/notesSlides/notesSlide8.xml" Id="R5c636966a49a44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2469f277d74790" /><Relationship Type="http://schemas.openxmlformats.org/officeDocument/2006/relationships/notesSlide" Target="/ppt/notesSlides/notesSlide9.xml" Id="Raa2d4675df0b48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28b5e84563a4b83" /><Relationship Type="http://schemas.openxmlformats.org/officeDocument/2006/relationships/notesSlide" Target="/ppt/notesSlides/notesSlide10.xml" Id="Rd239743fa94644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eaf91763b4a4133" /><Relationship Type="http://schemas.openxmlformats.org/officeDocument/2006/relationships/notesSlide" Target="/ppt/notesSlides/notesSlide11.xml" Id="R02147db67f6e43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8e145dd13b247a8" /><Relationship Type="http://schemas.openxmlformats.org/officeDocument/2006/relationships/notesSlide" Target="/ppt/notesSlides/notesSlide12.xml" Id="R368f1db3a1a54b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b1ffcab94624aad" /><Relationship Type="http://schemas.openxmlformats.org/officeDocument/2006/relationships/notesSlide" Target="/ppt/notesSlides/notesSlide13.xml" Id="Rb5f88f7a74e94c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0d6480c0b014b46" /><Relationship Type="http://schemas.openxmlformats.org/officeDocument/2006/relationships/notesSlide" Target="/ppt/notesSlides/notesSlide14.xml" Id="R7c011c31acf14a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426338cec3746eb" /><Relationship Type="http://schemas.openxmlformats.org/officeDocument/2006/relationships/notesSlide" Target="/ppt/notesSlides/notesSlide15.xml" Id="Rca5eb65f6d8d47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055379b18240dc" /><Relationship Type="http://schemas.openxmlformats.org/officeDocument/2006/relationships/notesSlide" Target="/ppt/notesSlides/notesSlide16.xml" Id="R498173e7b03641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93dc3d207bf4042" /><Relationship Type="http://schemas.openxmlformats.org/officeDocument/2006/relationships/notesSlide" Target="/ppt/notesSlides/notesSlide17.xml" Id="R0f42993aedea40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3451576de0a492f" /><Relationship Type="http://schemas.openxmlformats.org/officeDocument/2006/relationships/notesSlide" Target="/ppt/notesSlides/notesSlide18.xml" Id="Re471330dbae2478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5573c7ad84244a0" /><Relationship Type="http://schemas.openxmlformats.org/officeDocument/2006/relationships/notesSlide" Target="/ppt/notesSlides/notesSlide19.xml" Id="R36816a538ff34d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7aadfaace344e12" /><Relationship Type="http://schemas.openxmlformats.org/officeDocument/2006/relationships/notesSlide" Target="/ppt/notesSlides/notesSlide20.xml" Id="R1c8fe0a16e3f49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c89426cc329435f" /><Relationship Type="http://schemas.openxmlformats.org/officeDocument/2006/relationships/notesSlide" Target="/ppt/notesSlides/notesSlide21.xml" Id="R08f35f48bb6b41a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3615d8ed96c4d4d" /><Relationship Type="http://schemas.openxmlformats.org/officeDocument/2006/relationships/notesSlide" Target="/ppt/notesSlides/notesSlide22.xml" Id="R1c62bcc3e834401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b7284dd3c444313" /><Relationship Type="http://schemas.openxmlformats.org/officeDocument/2006/relationships/notesSlide" Target="/ppt/notesSlides/notesSlide23.xml" Id="Rd841f38a0121458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f0cce5bd9164caa" /><Relationship Type="http://schemas.openxmlformats.org/officeDocument/2006/relationships/notesSlide" Target="/ppt/notesSlides/notesSlide24.xml" Id="Ra0e294c51a2048a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6837a3904f64805" /><Relationship Type="http://schemas.openxmlformats.org/officeDocument/2006/relationships/notesSlide" Target="/ppt/notesSlides/notesSlide25.xml" Id="R8803e09328774a20"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C85E80-9227-4D79-998F-AE35C97C9A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D7DDA291-9813-4302-862F-6D7F1D2F957C}"/>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376A7313-0712-473A-AF13-BA548FA1087F}"/>
              </a:ext>
            </a:extLst>
          </p:cNvPr>
          <p:cNvSpPr>
            <a:spLocks xmlns:a="http://schemas.openxmlformats.org/drawingml/2006/main" noGrp="1"/>
          </p:cNvSpPr>
          <p:nvPr/>
        </p:nvSpPr>
        <p:spPr>
          <a:xfrm xmlns:a="http://schemas.openxmlformats.org/drawingml/2006/main">
            <a:off x="685800" y="1352550"/>
            <a:ext cx="5334000" cy="533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2250" b="1">
                <a:solidFill>
                  <a:srgbClr val="FFFFFF"/>
                </a:solidFill>
                <a:latin typeface="Aptos"/>
                <a:ea typeface="Aptos"/>
                <a:cs typeface="Aptos"/>
              </a:defRPr>
            </a:pPr>
            <a:r>
              <a:rPr sz="2250" b="1">
                <a:solidFill>
                  <a:srgbClr val="FFFFFF"/>
                </a:solidFill>
                <a:latin typeface="Aptos"/>
                <a:ea typeface="Aptos"/>
                <a:cs typeface="Aptos"/>
              </a:rPr>
              <a:t>Aceclofenac</a:t>
            </a:r>
          </a:p>
        </p:txBody>
      </p:sp>
      <p:sp>
        <p:nvSpPr>
          <p:cNvPr id="4" name="">
            <a:extLst xmlns:a="http://schemas.openxmlformats.org/drawingml/2006/main">
              <a:ext uri="{FF2B5EF4-FFF2-40B4-BE49-F238E27FC236}">
                <a16:creationId xmlns:a16="http://schemas.microsoft.com/office/drawing/2014/main" id="{A6760535-ACBC-4401-8B57-8E2D894FEC8C}"/>
              </a:ext>
            </a:extLst>
          </p:cNvPr>
          <p:cNvSpPr>
            <a:spLocks xmlns:a="http://schemas.openxmlformats.org/drawingml/2006/main" noGrp="1"/>
          </p:cNvSpPr>
          <p:nvPr/>
        </p:nvSpPr>
        <p:spPr>
          <a:xfrm xmlns:a="http://schemas.openxmlformats.org/drawingml/2006/main">
            <a:off x="685800" y="1924050"/>
            <a:ext cx="5334000" cy="28575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200" b="0">
                <a:solidFill>
                  <a:srgbClr val="D9E6EE"/>
                </a:solidFill>
                <a:latin typeface="Aptos"/>
                <a:ea typeface="Aptos"/>
                <a:cs typeface="Aptos"/>
              </a:defRPr>
            </a:pPr>
            <a:r>
              <a:rPr sz="1200" b="0">
                <a:solidFill>
                  <a:srgbClr val="D9E6EE"/>
                </a:solidFill>
                <a:latin typeface="Aptos"/>
                <a:ea typeface="Aptos"/>
                <a:cs typeface="Aptos"/>
              </a:rPr>
              <a:t>HCP scientific slide deck demo</a:t>
            </a:r>
          </a:p>
        </p:txBody>
      </p:sp>
      <p:sp>
        <p:nvSpPr>
          <p:cNvPr id="5" name="">
            <a:extLst xmlns:a="http://schemas.openxmlformats.org/drawingml/2006/main">
              <a:ext uri="{FF2B5EF4-FFF2-40B4-BE49-F238E27FC236}">
                <a16:creationId xmlns:a16="http://schemas.microsoft.com/office/drawing/2014/main" id="{474D0075-981F-4165-8F6B-0E51995902A7}"/>
              </a:ext>
            </a:extLst>
          </p:cNvPr>
          <p:cNvSpPr>
            <a:spLocks xmlns:a="http://schemas.openxmlformats.org/drawingml/2006/main" noGrp="1"/>
          </p:cNvSpPr>
          <p:nvPr/>
        </p:nvSpPr>
        <p:spPr>
          <a:xfrm xmlns:a="http://schemas.openxmlformats.org/drawingml/2006/main">
            <a:off x="685800" y="2286000"/>
            <a:ext cx="495300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788" b="0">
                <a:solidFill>
                  <a:srgbClr val="C8D4DC"/>
                </a:solidFill>
                <a:latin typeface="Aptos"/>
                <a:ea typeface="Aptos"/>
                <a:cs typeface="Aptos"/>
              </a:defRPr>
            </a:pPr>
            <a:r>
              <a:rPr sz="788" b="0">
                <a:solidFill>
                  <a:srgbClr val="C8D4DC"/>
                </a:solidFill>
                <a:latin typeface="Aptos"/>
                <a:ea typeface="Aptos"/>
                <a:cs typeface="Aptos"/>
              </a:rPr>
              <a:t>For demonstration purposes only | verify the local approved PI before use</a:t>
            </a:r>
          </a:p>
        </p:txBody>
      </p:sp>
      <p:sp>
        <p:nvSpPr>
          <p:cNvPr id="6" name="">
            <a:extLst xmlns:a="http://schemas.openxmlformats.org/drawingml/2006/main">
              <a:ext uri="{FF2B5EF4-FFF2-40B4-BE49-F238E27FC236}">
                <a16:creationId xmlns:a16="http://schemas.microsoft.com/office/drawing/2014/main" id="{A69F2A01-AAE5-4AB7-AF63-1F21695F8AB8}"/>
              </a:ext>
            </a:extLst>
          </p:cNvPr>
          <p:cNvSpPr>
            <a:spLocks xmlns:a="http://schemas.openxmlformats.org/drawingml/2006/main" noGrp="1"/>
          </p:cNvSpPr>
          <p:nvPr/>
        </p:nvSpPr>
        <p:spPr>
          <a:xfrm xmlns:a="http://schemas.openxmlformats.org/drawingml/2006/main">
            <a:off x="685800" y="3162300"/>
            <a:ext cx="4953000" cy="819150"/>
          </a:xfrm>
          <a:prstGeom xmlns:a="http://schemas.openxmlformats.org/drawingml/2006/main" prst="roundRect">
            <a:avLst>
              <a:gd name="adj" fmla="val 9302"/>
            </a:avLst>
          </a:prstGeom>
          <a:solidFill xmlns:a="http://schemas.openxmlformats.org/drawingml/2006/main">
            <a:srgbClr val="173D56"/>
          </a:solidFill>
          <a:ln xmlns:a="http://schemas.openxmlformats.org/drawingml/2006/main" w="9525">
            <a:solidFill>
              <a:srgbClr val="2B5A76"/>
            </a:solidFill>
            <a:prstDash val="solid"/>
          </a:ln>
        </p:spPr>
      </p:sp>
      <p:sp>
        <p:nvSpPr>
          <p:cNvPr id="7" name="">
            <a:extLst xmlns:a="http://schemas.openxmlformats.org/drawingml/2006/main">
              <a:ext uri="{FF2B5EF4-FFF2-40B4-BE49-F238E27FC236}">
                <a16:creationId xmlns:a16="http://schemas.microsoft.com/office/drawing/2014/main" id="{81FD066D-E876-437A-AAFE-231C818AE8B7}"/>
              </a:ext>
            </a:extLst>
          </p:cNvPr>
          <p:cNvSpPr>
            <a:spLocks xmlns:a="http://schemas.openxmlformats.org/drawingml/2006/main" noGrp="1"/>
          </p:cNvSpPr>
          <p:nvPr/>
        </p:nvSpPr>
        <p:spPr>
          <a:xfrm xmlns:a="http://schemas.openxmlformats.org/drawingml/2006/main">
            <a:off x="819150" y="3276600"/>
            <a:ext cx="4686300" cy="26670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Scientific role</a:t>
            </a:r>
          </a:p>
        </p:txBody>
      </p:sp>
      <p:sp>
        <p:nvSpPr>
          <p:cNvPr id="8" name="">
            <a:extLst xmlns:a="http://schemas.openxmlformats.org/drawingml/2006/main">
              <a:ext uri="{FF2B5EF4-FFF2-40B4-BE49-F238E27FC236}">
                <a16:creationId xmlns:a16="http://schemas.microsoft.com/office/drawing/2014/main" id="{5C87B148-8436-4DD6-A6F0-CD793A22A96A}"/>
              </a:ext>
            </a:extLst>
          </p:cNvPr>
          <p:cNvSpPr>
            <a:spLocks xmlns:a="http://schemas.openxmlformats.org/drawingml/2006/main" noGrp="1"/>
          </p:cNvSpPr>
          <p:nvPr/>
        </p:nvSpPr>
        <p:spPr>
          <a:xfrm xmlns:a="http://schemas.openxmlformats.org/drawingml/2006/main">
            <a:off x="819150" y="3562350"/>
            <a:ext cx="4686300" cy="32385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EAF2F6"/>
                </a:solidFill>
                <a:latin typeface="Aptos"/>
                <a:ea typeface="Aptos"/>
                <a:cs typeface="Aptos"/>
              </a:defRPr>
            </a:pPr>
            <a:r>
              <a:rPr sz="840" b="0">
                <a:solidFill>
                  <a:srgbClr val="EAF2F6"/>
                </a:solidFill>
                <a:latin typeface="Aptos"/>
                <a:ea typeface="Aptos"/>
                <a:cs typeface="Aptos"/>
              </a:rPr>
              <a:t>Balanced NSAID messaging focused on symptom relief and safety</a:t>
            </a:r>
          </a:p>
        </p:txBody>
      </p:sp>
      <p:sp>
        <p:nvSpPr>
          <p:cNvPr id="9" name="">
            <a:extLst xmlns:a="http://schemas.openxmlformats.org/drawingml/2006/main">
              <a:ext uri="{FF2B5EF4-FFF2-40B4-BE49-F238E27FC236}">
                <a16:creationId xmlns:a16="http://schemas.microsoft.com/office/drawing/2014/main" id="{849D0A57-2B9F-4877-8110-32EB2427C3C7}"/>
              </a:ext>
            </a:extLst>
          </p:cNvPr>
          <p:cNvSpPr>
            <a:spLocks xmlns:a="http://schemas.openxmlformats.org/drawingml/2006/main" noGrp="1"/>
          </p:cNvSpPr>
          <p:nvPr/>
        </p:nvSpPr>
        <p:spPr>
          <a:xfrm xmlns:a="http://schemas.openxmlformats.org/drawingml/2006/main">
            <a:off x="685800" y="4229100"/>
            <a:ext cx="4953000" cy="819150"/>
          </a:xfrm>
          <a:prstGeom xmlns:a="http://schemas.openxmlformats.org/drawingml/2006/main" prst="roundRect">
            <a:avLst>
              <a:gd name="adj" fmla="val 9302"/>
            </a:avLst>
          </a:prstGeom>
          <a:solidFill xmlns:a="http://schemas.openxmlformats.org/drawingml/2006/main">
            <a:srgbClr val="113247"/>
          </a:solidFill>
          <a:ln xmlns:a="http://schemas.openxmlformats.org/drawingml/2006/main" w="9525">
            <a:solidFill>
              <a:srgbClr val="2B5A76"/>
            </a:solidFill>
            <a:prstDash val="solid"/>
          </a:ln>
        </p:spPr>
      </p:sp>
      <p:sp>
        <p:nvSpPr>
          <p:cNvPr id="10" name="">
            <a:extLst xmlns:a="http://schemas.openxmlformats.org/drawingml/2006/main">
              <a:ext uri="{FF2B5EF4-FFF2-40B4-BE49-F238E27FC236}">
                <a16:creationId xmlns:a16="http://schemas.microsoft.com/office/drawing/2014/main" id="{BEB35EB9-221D-48A5-A07A-EB0FD5EE9BCC}"/>
              </a:ext>
            </a:extLst>
          </p:cNvPr>
          <p:cNvSpPr>
            <a:spLocks xmlns:a="http://schemas.openxmlformats.org/drawingml/2006/main" noGrp="1"/>
          </p:cNvSpPr>
          <p:nvPr/>
        </p:nvSpPr>
        <p:spPr>
          <a:xfrm xmlns:a="http://schemas.openxmlformats.org/drawingml/2006/main">
            <a:off x="819150" y="4343400"/>
            <a:ext cx="4686300" cy="266700"/>
          </a:xfrm>
          <a:prstGeom xmlns:a="http://schemas.openxmlformats.org/drawingml/2006/main" prst="rect">
            <a:avLst/>
          </a:prstGeom>
          <a:solidFill xmlns:a="http://schemas.openxmlformats.org/drawingml/2006/main">
            <a:srgbClr val="113247"/>
          </a:solidFill>
          <a:ln xmlns:a="http://schemas.openxmlformats.org/drawingml/2006/main" w="9525">
            <a:solidFill>
              <a:srgbClr val="11324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Evidence spine</a:t>
            </a:r>
          </a:p>
        </p:txBody>
      </p:sp>
      <p:sp>
        <p:nvSpPr>
          <p:cNvPr id="11" name="">
            <a:extLst xmlns:a="http://schemas.openxmlformats.org/drawingml/2006/main">
              <a:ext uri="{FF2B5EF4-FFF2-40B4-BE49-F238E27FC236}">
                <a16:creationId xmlns:a16="http://schemas.microsoft.com/office/drawing/2014/main" id="{76942D65-55C4-42C0-9375-AD837705D3E9}"/>
              </a:ext>
            </a:extLst>
          </p:cNvPr>
          <p:cNvSpPr>
            <a:spLocks xmlns:a="http://schemas.openxmlformats.org/drawingml/2006/main" noGrp="1"/>
          </p:cNvSpPr>
          <p:nvPr/>
        </p:nvSpPr>
        <p:spPr>
          <a:xfrm xmlns:a="http://schemas.openxmlformats.org/drawingml/2006/main">
            <a:off x="819150" y="4629150"/>
            <a:ext cx="4686300" cy="323850"/>
          </a:xfrm>
          <a:prstGeom xmlns:a="http://schemas.openxmlformats.org/drawingml/2006/main" prst="rect">
            <a:avLst/>
          </a:prstGeom>
          <a:solidFill xmlns:a="http://schemas.openxmlformats.org/drawingml/2006/main">
            <a:srgbClr val="113247"/>
          </a:solidFill>
          <a:ln xmlns:a="http://schemas.openxmlformats.org/drawingml/2006/main" w="9525">
            <a:solidFill>
              <a:srgbClr val="113247"/>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EAF2F6"/>
                </a:solidFill>
                <a:latin typeface="Aptos"/>
                <a:ea typeface="Aptos"/>
                <a:cs typeface="Aptos"/>
              </a:defRPr>
            </a:pPr>
            <a:r>
              <a:rPr sz="840" b="0">
                <a:solidFill>
                  <a:srgbClr val="EAF2F6"/>
                </a:solidFill>
                <a:latin typeface="Aptos"/>
                <a:ea typeface="Aptos"/>
                <a:cs typeface="Aptos"/>
              </a:rPr>
              <a:t>OA efficacy, acute pain studies, PK / BE, and class risk</a:t>
            </a:r>
          </a:p>
        </p:txBody>
      </p:sp>
      <p:sp>
        <p:nvSpPr>
          <p:cNvPr id="12" name="">
            <a:extLst xmlns:a="http://schemas.openxmlformats.org/drawingml/2006/main">
              <a:ext uri="{FF2B5EF4-FFF2-40B4-BE49-F238E27FC236}">
                <a16:creationId xmlns:a16="http://schemas.microsoft.com/office/drawing/2014/main" id="{D3C95689-19C9-40DF-85DA-6CDC7F1271E3}"/>
              </a:ext>
            </a:extLst>
          </p:cNvPr>
          <p:cNvSpPr>
            <a:spLocks xmlns:a="http://schemas.openxmlformats.org/drawingml/2006/main" noGrp="1"/>
          </p:cNvSpPr>
          <p:nvPr/>
        </p:nvSpPr>
        <p:spPr>
          <a:xfrm xmlns:a="http://schemas.openxmlformats.org/drawingml/2006/main">
            <a:off x="685800" y="5295900"/>
            <a:ext cx="4953000" cy="819150"/>
          </a:xfrm>
          <a:prstGeom xmlns:a="http://schemas.openxmlformats.org/drawingml/2006/main" prst="roundRect">
            <a:avLst>
              <a:gd name="adj" fmla="val 9302"/>
            </a:avLst>
          </a:prstGeom>
          <a:solidFill xmlns:a="http://schemas.openxmlformats.org/drawingml/2006/main">
            <a:srgbClr val="0F3146"/>
          </a:solidFill>
          <a:ln xmlns:a="http://schemas.openxmlformats.org/drawingml/2006/main" w="9525">
            <a:solidFill>
              <a:srgbClr val="3C5E74"/>
            </a:solidFill>
            <a:prstDash val="solid"/>
          </a:ln>
        </p:spPr>
      </p:sp>
      <p:sp>
        <p:nvSpPr>
          <p:cNvPr id="13" name="">
            <a:extLst xmlns:a="http://schemas.openxmlformats.org/drawingml/2006/main">
              <a:ext uri="{FF2B5EF4-FFF2-40B4-BE49-F238E27FC236}">
                <a16:creationId xmlns:a16="http://schemas.microsoft.com/office/drawing/2014/main" id="{719EE0D0-2EB6-45D7-B0BF-921431268D1B}"/>
              </a:ext>
            </a:extLst>
          </p:cNvPr>
          <p:cNvSpPr>
            <a:spLocks xmlns:a="http://schemas.openxmlformats.org/drawingml/2006/main" noGrp="1"/>
          </p:cNvSpPr>
          <p:nvPr/>
        </p:nvSpPr>
        <p:spPr>
          <a:xfrm xmlns:a="http://schemas.openxmlformats.org/drawingml/2006/main">
            <a:off x="819150" y="5410200"/>
            <a:ext cx="4686300" cy="26670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Use boundary</a:t>
            </a:r>
          </a:p>
        </p:txBody>
      </p:sp>
      <p:sp>
        <p:nvSpPr>
          <p:cNvPr id="14" name="">
            <a:extLst xmlns:a="http://schemas.openxmlformats.org/drawingml/2006/main">
              <a:ext uri="{FF2B5EF4-FFF2-40B4-BE49-F238E27FC236}">
                <a16:creationId xmlns:a16="http://schemas.microsoft.com/office/drawing/2014/main" id="{BA51985B-5E80-44D4-9B6A-6E8D5465956D}"/>
              </a:ext>
            </a:extLst>
          </p:cNvPr>
          <p:cNvSpPr>
            <a:spLocks xmlns:a="http://schemas.openxmlformats.org/drawingml/2006/main" noGrp="1"/>
          </p:cNvSpPr>
          <p:nvPr/>
        </p:nvSpPr>
        <p:spPr>
          <a:xfrm xmlns:a="http://schemas.openxmlformats.org/drawingml/2006/main">
            <a:off x="819150" y="5695950"/>
            <a:ext cx="4686300" cy="32385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EAF2F6"/>
                </a:solidFill>
                <a:latin typeface="Aptos"/>
                <a:ea typeface="Aptos"/>
                <a:cs typeface="Aptos"/>
              </a:defRPr>
            </a:pPr>
            <a:r>
              <a:rPr sz="840" b="0">
                <a:solidFill>
                  <a:srgbClr val="EAF2F6"/>
                </a:solidFill>
                <a:latin typeface="Aptos"/>
                <a:ea typeface="Aptos"/>
                <a:cs typeface="Aptos"/>
              </a:rPr>
              <a:t>Demonstration deck only; final claims must follow local label</a:t>
            </a:r>
          </a:p>
        </p:txBody>
      </p:sp>
      <p:sp>
        <p:nvSpPr>
          <p:cNvPr id="15" name="">
            <a:extLst xmlns:a="http://schemas.openxmlformats.org/drawingml/2006/main">
              <a:ext uri="{FF2B5EF4-FFF2-40B4-BE49-F238E27FC236}">
                <a16:creationId xmlns:a16="http://schemas.microsoft.com/office/drawing/2014/main" id="{3DA1DF81-7BB1-403C-91FB-9C5CC8F00007}"/>
              </a:ext>
            </a:extLst>
          </p:cNvPr>
          <p:cNvSpPr>
            <a:spLocks xmlns:a="http://schemas.openxmlformats.org/drawingml/2006/main" noGrp="1"/>
          </p:cNvSpPr>
          <p:nvPr/>
        </p:nvSpPr>
        <p:spPr>
          <a:xfrm xmlns:a="http://schemas.openxmlformats.org/drawingml/2006/main">
            <a:off x="7620000" y="1371600"/>
            <a:ext cx="3886200" cy="4267200"/>
          </a:xfrm>
          <a:prstGeom xmlns:a="http://schemas.openxmlformats.org/drawingml/2006/main" prst="roundRect">
            <a:avLst>
              <a:gd name="adj" fmla="val 1961"/>
            </a:avLst>
          </a:prstGeom>
          <a:solidFill xmlns:a="http://schemas.openxmlformats.org/drawingml/2006/main">
            <a:srgbClr val="173A53"/>
          </a:solidFill>
          <a:ln xmlns:a="http://schemas.openxmlformats.org/drawingml/2006/main" w="9525">
            <a:solidFill>
              <a:srgbClr val="2B5A76"/>
            </a:solid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AF2F6"/>
                </a:solidFill>
                <a:latin typeface="Aptos"/>
                <a:ea typeface="Aptos"/>
                <a:cs typeface="Aptos"/>
              </a:defRPr>
            </a:pPr>
            <a:r>
              <a:rPr sz="1350" b="0">
                <a:solidFill>
                  <a:srgbClr val="EAF2F6"/>
                </a:solidFill>
                <a:latin typeface="Aptos"/>
                <a:ea typeface="Aptos"/>
                <a:cs typeface="Aptos"/>
              </a:rPr>
              <a:t>This deck is designed as an HCP scientific narrative, not as a marketing piece.</a:t>
            </a:r>
          </a:p>
          <a:p xmlns:a="http://schemas.openxmlformats.org/drawingml/2006/main">
            <a:r>
              <a:t/>
            </a:r>
          </a:p>
          <a:p xmlns:a="http://schemas.openxmlformats.org/drawingml/2006/main">
            <a:pPr algn="l">
              <a:defRPr sz="1350" b="0">
                <a:solidFill>
                  <a:srgbClr val="EAF2F6"/>
                </a:solidFill>
                <a:latin typeface="Aptos"/>
                <a:ea typeface="Aptos"/>
                <a:cs typeface="Aptos"/>
              </a:defRPr>
            </a:pPr>
            <a:r>
              <a:rPr sz="1350" b="0">
                <a:solidFill>
                  <a:srgbClr val="EAF2F6"/>
                </a:solidFill>
                <a:latin typeface="Aptos"/>
                <a:ea typeface="Aptos"/>
                <a:cs typeface="Aptos"/>
              </a:rPr>
              <a:t>It should help the clinician think about where aceclofenac fits, what evidence supports that fit, and which class risks need to stay visible at the point of prescribing.</a:t>
            </a:r>
          </a:p>
        </p:txBody>
      </p:sp>
      <p:sp>
        <p:nvSpPr>
          <p:cNvPr id="16" name="">
            <a:extLst xmlns:a="http://schemas.openxmlformats.org/drawingml/2006/main">
              <a:ext uri="{FF2B5EF4-FFF2-40B4-BE49-F238E27FC236}">
                <a16:creationId xmlns:a16="http://schemas.microsoft.com/office/drawing/2014/main" id="{8DE431DA-30BA-4721-8A7F-62172A804ACE}"/>
              </a:ext>
            </a:extLst>
          </p:cNvPr>
          <p:cNvSpPr>
            <a:spLocks xmlns:a="http://schemas.openxmlformats.org/drawingml/2006/main" noGrp="1"/>
          </p:cNvSpPr>
          <p:nvPr/>
        </p:nvSpPr>
        <p:spPr>
          <a:xfrm xmlns:a="http://schemas.openxmlformats.org/drawingml/2006/main">
            <a:off x="685800" y="5829300"/>
            <a:ext cx="3524250" cy="2286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ClinCommand OS</a:t>
            </a:r>
          </a:p>
        </p:txBody>
      </p:sp>
      <p:sp>
        <p:nvSpPr>
          <p:cNvPr id="17" name="">
            <a:extLst xmlns:a="http://schemas.openxmlformats.org/drawingml/2006/main">
              <a:ext uri="{FF2B5EF4-FFF2-40B4-BE49-F238E27FC236}">
                <a16:creationId xmlns:a16="http://schemas.microsoft.com/office/drawing/2014/main" id="{7E7C6DD7-B578-4123-A6FF-D41D62E791BA}"/>
              </a:ext>
            </a:extLst>
          </p:cNvPr>
          <p:cNvSpPr>
            <a:spLocks xmlns:a="http://schemas.openxmlformats.org/drawingml/2006/main" noGrp="1"/>
          </p:cNvSpPr>
          <p:nvPr/>
        </p:nvSpPr>
        <p:spPr>
          <a:xfrm xmlns:a="http://schemas.openxmlformats.org/drawingml/2006/main">
            <a:off x="685800" y="6096000"/>
            <a:ext cx="4476750" cy="17145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645" b="0">
                <a:solidFill>
                  <a:srgbClr val="C8D4DC"/>
                </a:solidFill>
                <a:latin typeface="Aptos"/>
                <a:ea typeface="Aptos"/>
                <a:cs typeface="Aptos"/>
              </a:defRPr>
            </a:pPr>
            <a:r>
              <a:rPr sz="645" b="0">
                <a:solidFill>
                  <a:srgbClr val="C8D4DC"/>
                </a:solidFill>
                <a:latin typeface="Aptos"/>
                <a:ea typeface="Aptos"/>
                <a:cs typeface="Aptos"/>
              </a:rPr>
              <a:t>Scientific communication architecture</a:t>
            </a:r>
          </a:p>
        </p:txBody>
      </p:sp>
    </p:spTree>
    <p:extLst>
      <p:ext uri="{BB962C8B-B14F-4D97-AF65-F5344CB8AC3E}">
        <p14:creationId xmlns:p14="http://schemas.microsoft.com/office/powerpoint/2010/main" val="6825436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3D8D4E8-94BD-4063-B5B7-379E593DF4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1750D16-B825-4E86-BF7E-AA5516DE866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E55E8FD4-E02D-43C4-9B01-09E471269E20}"/>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Briefing inputs captured for the deck</a:t>
            </a:r>
          </a:p>
        </p:txBody>
      </p:sp>
      <p:sp>
        <p:nvSpPr>
          <p:cNvPr id="4" name="">
            <a:extLst xmlns:a="http://schemas.openxmlformats.org/drawingml/2006/main">
              <a:ext uri="{FF2B5EF4-FFF2-40B4-BE49-F238E27FC236}">
                <a16:creationId xmlns:a16="http://schemas.microsoft.com/office/drawing/2014/main" id="{15663928-3194-4D3E-9B5A-BCB4D3D2596F}"/>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workflow should always ask these questions before it starts drafting a live HCP presentation.</a:t>
            </a:r>
          </a:p>
        </p:txBody>
      </p:sp>
      <p:sp>
        <p:nvSpPr>
          <p:cNvPr id="5" name="">
            <a:extLst xmlns:a="http://schemas.openxmlformats.org/drawingml/2006/main">
              <a:ext uri="{FF2B5EF4-FFF2-40B4-BE49-F238E27FC236}">
                <a16:creationId xmlns:a16="http://schemas.microsoft.com/office/drawing/2014/main" id="{9F842A18-C874-48BA-9DFA-D0A5D4850521}"/>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71CDD87D-DDB3-43F2-897C-D2B8FF502538}"/>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ClinCommand OS HCP deck workflow; slide request intake standard</a:t>
            </a:r>
          </a:p>
        </p:txBody>
      </p:sp>
      <p:sp>
        <p:nvSpPr>
          <p:cNvPr id="7" name="">
            <a:extLst xmlns:a="http://schemas.openxmlformats.org/drawingml/2006/main">
              <a:ext uri="{FF2B5EF4-FFF2-40B4-BE49-F238E27FC236}">
                <a16:creationId xmlns:a16="http://schemas.microsoft.com/office/drawing/2014/main" id="{19AA3AC2-380A-4FD9-A664-88C0F83836FF}"/>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2/25</a:t>
            </a:r>
          </a:p>
        </p:txBody>
      </p:sp>
      <p:sp>
        <p:nvSpPr>
          <p:cNvPr id="8" name="">
            <a:extLst xmlns:a="http://schemas.openxmlformats.org/drawingml/2006/main">
              <a:ext uri="{FF2B5EF4-FFF2-40B4-BE49-F238E27FC236}">
                <a16:creationId xmlns:a16="http://schemas.microsoft.com/office/drawing/2014/main" id="{4F32364A-09B1-4A8D-B0DC-1F0AD15BB2FC}"/>
              </a:ext>
            </a:extLst>
          </p:cNvPr>
          <p:cNvSpPr>
            <a:spLocks xmlns:a="http://schemas.openxmlformats.org/drawingml/2006/main" noGrp="1"/>
          </p:cNvSpPr>
          <p:nvPr/>
        </p:nvSpPr>
        <p:spPr>
          <a:xfrm xmlns:a="http://schemas.openxmlformats.org/drawingml/2006/main">
            <a:off x="609600" y="1466850"/>
            <a:ext cx="2476500" cy="1447800"/>
          </a:xfrm>
          <a:prstGeom xmlns:a="http://schemas.openxmlformats.org/drawingml/2006/main" prst="roundRect">
            <a:avLst>
              <a:gd name="adj" fmla="val 5263"/>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BC68D696-3A03-4A08-9964-CA803B5E1186}"/>
              </a:ext>
            </a:extLst>
          </p:cNvPr>
          <p:cNvSpPr>
            <a:spLocks xmlns:a="http://schemas.openxmlformats.org/drawingml/2006/main" noGrp="1"/>
          </p:cNvSpPr>
          <p:nvPr/>
        </p:nvSpPr>
        <p:spPr>
          <a:xfrm xmlns:a="http://schemas.openxmlformats.org/drawingml/2006/main">
            <a:off x="742950" y="1581150"/>
            <a:ext cx="22098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How many slides?</a:t>
            </a:r>
          </a:p>
        </p:txBody>
      </p:sp>
      <p:sp>
        <p:nvSpPr>
          <p:cNvPr id="10" name="">
            <a:extLst xmlns:a="http://schemas.openxmlformats.org/drawingml/2006/main">
              <a:ext uri="{FF2B5EF4-FFF2-40B4-BE49-F238E27FC236}">
                <a16:creationId xmlns:a16="http://schemas.microsoft.com/office/drawing/2014/main" id="{22AC3B25-2109-49CC-8D95-F1466DF5D5A8}"/>
              </a:ext>
            </a:extLst>
          </p:cNvPr>
          <p:cNvSpPr>
            <a:spLocks xmlns:a="http://schemas.openxmlformats.org/drawingml/2006/main" noGrp="1"/>
          </p:cNvSpPr>
          <p:nvPr/>
        </p:nvSpPr>
        <p:spPr>
          <a:xfrm xmlns:a="http://schemas.openxmlformats.org/drawingml/2006/main">
            <a:off x="742950" y="1866900"/>
            <a:ext cx="2209800" cy="9525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The demo is 25 slides. In production, length should match the audience, depth, and speaker time.</a:t>
            </a:r>
          </a:p>
        </p:txBody>
      </p:sp>
      <p:sp>
        <p:nvSpPr>
          <p:cNvPr id="11" name="">
            <a:extLst xmlns:a="http://schemas.openxmlformats.org/drawingml/2006/main">
              <a:ext uri="{FF2B5EF4-FFF2-40B4-BE49-F238E27FC236}">
                <a16:creationId xmlns:a16="http://schemas.microsoft.com/office/drawing/2014/main" id="{168C2316-38C6-4A11-A88A-AF6A8B0BC7C0}"/>
              </a:ext>
            </a:extLst>
          </p:cNvPr>
          <p:cNvSpPr>
            <a:spLocks xmlns:a="http://schemas.openxmlformats.org/drawingml/2006/main" noGrp="1"/>
          </p:cNvSpPr>
          <p:nvPr/>
        </p:nvSpPr>
        <p:spPr>
          <a:xfrm xmlns:a="http://schemas.openxmlformats.org/drawingml/2006/main">
            <a:off x="3276600" y="1466850"/>
            <a:ext cx="2476500" cy="1447800"/>
          </a:xfrm>
          <a:prstGeom xmlns:a="http://schemas.openxmlformats.org/drawingml/2006/main" prst="roundRect">
            <a:avLst>
              <a:gd name="adj" fmla="val 5263"/>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AF46DD27-5F6F-42C5-B7AD-0F1B23F6F011}"/>
              </a:ext>
            </a:extLst>
          </p:cNvPr>
          <p:cNvSpPr>
            <a:spLocks xmlns:a="http://schemas.openxmlformats.org/drawingml/2006/main" noGrp="1"/>
          </p:cNvSpPr>
          <p:nvPr/>
        </p:nvSpPr>
        <p:spPr>
          <a:xfrm xmlns:a="http://schemas.openxmlformats.org/drawingml/2006/main">
            <a:off x="3409950" y="1581150"/>
            <a:ext cx="22098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How long is the talk?</a:t>
            </a:r>
          </a:p>
        </p:txBody>
      </p:sp>
      <p:sp>
        <p:nvSpPr>
          <p:cNvPr id="13" name="">
            <a:extLst xmlns:a="http://schemas.openxmlformats.org/drawingml/2006/main">
              <a:ext uri="{FF2B5EF4-FFF2-40B4-BE49-F238E27FC236}">
                <a16:creationId xmlns:a16="http://schemas.microsoft.com/office/drawing/2014/main" id="{0913DC0D-7470-4E9A-B94D-EB27A6C4C009}"/>
              </a:ext>
            </a:extLst>
          </p:cNvPr>
          <p:cNvSpPr>
            <a:spLocks xmlns:a="http://schemas.openxmlformats.org/drawingml/2006/main" noGrp="1"/>
          </p:cNvSpPr>
          <p:nvPr/>
        </p:nvSpPr>
        <p:spPr>
          <a:xfrm xmlns:a="http://schemas.openxmlformats.org/drawingml/2006/main">
            <a:off x="3409950" y="1866900"/>
            <a:ext cx="2209800" cy="9525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Slide density depends on whether the talk is a short briefing, a standard HCP session, or a deeper scientific review.</a:t>
            </a:r>
          </a:p>
        </p:txBody>
      </p:sp>
      <p:sp>
        <p:nvSpPr>
          <p:cNvPr id="14" name="">
            <a:extLst xmlns:a="http://schemas.openxmlformats.org/drawingml/2006/main">
              <a:ext uri="{FF2B5EF4-FFF2-40B4-BE49-F238E27FC236}">
                <a16:creationId xmlns:a16="http://schemas.microsoft.com/office/drawing/2014/main" id="{2282FC44-5681-4943-9913-D9D34D80D1DD}"/>
              </a:ext>
            </a:extLst>
          </p:cNvPr>
          <p:cNvSpPr>
            <a:spLocks xmlns:a="http://schemas.openxmlformats.org/drawingml/2006/main" noGrp="1"/>
          </p:cNvSpPr>
          <p:nvPr/>
        </p:nvSpPr>
        <p:spPr>
          <a:xfrm xmlns:a="http://schemas.openxmlformats.org/drawingml/2006/main">
            <a:off x="5943600" y="1466850"/>
            <a:ext cx="2476500" cy="1447800"/>
          </a:xfrm>
          <a:prstGeom xmlns:a="http://schemas.openxmlformats.org/drawingml/2006/main" prst="roundRect">
            <a:avLst>
              <a:gd name="adj" fmla="val 5263"/>
            </a:avLst>
          </a:prstGeom>
          <a:solidFill xmlns:a="http://schemas.openxmlformats.org/drawingml/2006/main">
            <a:srgbClr val="F7F2E4"/>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E3E0C70A-BD94-421A-9835-00CBB05C2A98}"/>
              </a:ext>
            </a:extLst>
          </p:cNvPr>
          <p:cNvSpPr>
            <a:spLocks xmlns:a="http://schemas.openxmlformats.org/drawingml/2006/main" noGrp="1"/>
          </p:cNvSpPr>
          <p:nvPr/>
        </p:nvSpPr>
        <p:spPr>
          <a:xfrm xmlns:a="http://schemas.openxmlformats.org/drawingml/2006/main">
            <a:off x="6076950" y="1581150"/>
            <a:ext cx="2209800" cy="266700"/>
          </a:xfrm>
          <a:prstGeom xmlns:a="http://schemas.openxmlformats.org/drawingml/2006/main" prst="rect">
            <a:avLst/>
          </a:prstGeom>
          <a:solidFill xmlns:a="http://schemas.openxmlformats.org/drawingml/2006/main">
            <a:srgbClr val="F7F2E4"/>
          </a:solidFill>
          <a:ln xmlns:a="http://schemas.openxmlformats.org/drawingml/2006/main" w="9525">
            <a:solidFill>
              <a:srgbClr val="F7F2E4"/>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Do you need notes?</a:t>
            </a:r>
          </a:p>
        </p:txBody>
      </p:sp>
      <p:sp>
        <p:nvSpPr>
          <p:cNvPr id="16" name="">
            <a:extLst xmlns:a="http://schemas.openxmlformats.org/drawingml/2006/main">
              <a:ext uri="{FF2B5EF4-FFF2-40B4-BE49-F238E27FC236}">
                <a16:creationId xmlns:a16="http://schemas.microsoft.com/office/drawing/2014/main" id="{874E3104-14BB-4D68-8DAF-4F978568D8B0}"/>
              </a:ext>
            </a:extLst>
          </p:cNvPr>
          <p:cNvSpPr>
            <a:spLocks xmlns:a="http://schemas.openxmlformats.org/drawingml/2006/main" noGrp="1"/>
          </p:cNvSpPr>
          <p:nvPr/>
        </p:nvSpPr>
        <p:spPr>
          <a:xfrm xmlns:a="http://schemas.openxmlformats.org/drawingml/2006/main">
            <a:off x="6076950" y="1866900"/>
            <a:ext cx="2209800" cy="952500"/>
          </a:xfrm>
          <a:prstGeom xmlns:a="http://schemas.openxmlformats.org/drawingml/2006/main" prst="rect">
            <a:avLst/>
          </a:prstGeom>
          <a:solidFill xmlns:a="http://schemas.openxmlformats.org/drawingml/2006/main">
            <a:srgbClr val="F7F2E4"/>
          </a:solidFill>
          <a:ln xmlns:a="http://schemas.openxmlformats.org/drawingml/2006/main" w="9525">
            <a:solidFill>
              <a:srgbClr val="F7F2E4"/>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Speaker notes should be confirmed up front because they affect how much text can stay visible on screen.</a:t>
            </a:r>
          </a:p>
        </p:txBody>
      </p:sp>
      <p:sp>
        <p:nvSpPr>
          <p:cNvPr id="17" name="">
            <a:extLst xmlns:a="http://schemas.openxmlformats.org/drawingml/2006/main">
              <a:ext uri="{FF2B5EF4-FFF2-40B4-BE49-F238E27FC236}">
                <a16:creationId xmlns:a16="http://schemas.microsoft.com/office/drawing/2014/main" id="{48F59B6A-DCF0-48B3-BFF8-8452B2B6A553}"/>
              </a:ext>
            </a:extLst>
          </p:cNvPr>
          <p:cNvSpPr>
            <a:spLocks xmlns:a="http://schemas.openxmlformats.org/drawingml/2006/main" noGrp="1"/>
          </p:cNvSpPr>
          <p:nvPr/>
        </p:nvSpPr>
        <p:spPr>
          <a:xfrm xmlns:a="http://schemas.openxmlformats.org/drawingml/2006/main">
            <a:off x="8610600" y="1466850"/>
            <a:ext cx="2971800" cy="1447800"/>
          </a:xfrm>
          <a:prstGeom xmlns:a="http://schemas.openxmlformats.org/drawingml/2006/main" prst="roundRect">
            <a:avLst>
              <a:gd name="adj" fmla="val 5263"/>
            </a:avLst>
          </a:prstGeom>
          <a:solidFill xmlns:a="http://schemas.openxmlformats.org/drawingml/2006/main">
            <a:srgbClr val="E6F4EA"/>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FD202D4A-14B9-40EE-A4A4-31C05167BDDE}"/>
              </a:ext>
            </a:extLst>
          </p:cNvPr>
          <p:cNvSpPr>
            <a:spLocks xmlns:a="http://schemas.openxmlformats.org/drawingml/2006/main" noGrp="1"/>
          </p:cNvSpPr>
          <p:nvPr/>
        </p:nvSpPr>
        <p:spPr>
          <a:xfrm xmlns:a="http://schemas.openxmlformats.org/drawingml/2006/main">
            <a:off x="8743950" y="1581150"/>
            <a:ext cx="27051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Audience</a:t>
            </a:r>
          </a:p>
        </p:txBody>
      </p:sp>
      <p:sp>
        <p:nvSpPr>
          <p:cNvPr id="19" name="">
            <a:extLst xmlns:a="http://schemas.openxmlformats.org/drawingml/2006/main">
              <a:ext uri="{FF2B5EF4-FFF2-40B4-BE49-F238E27FC236}">
                <a16:creationId xmlns:a16="http://schemas.microsoft.com/office/drawing/2014/main" id="{5EDFD6B4-DC85-49A5-80B9-50EC706BCECC}"/>
              </a:ext>
            </a:extLst>
          </p:cNvPr>
          <p:cNvSpPr>
            <a:spLocks xmlns:a="http://schemas.openxmlformats.org/drawingml/2006/main" noGrp="1"/>
          </p:cNvSpPr>
          <p:nvPr/>
        </p:nvSpPr>
        <p:spPr>
          <a:xfrm xmlns:a="http://schemas.openxmlformats.org/drawingml/2006/main">
            <a:off x="8743950" y="1866900"/>
            <a:ext cx="2705100" cy="9525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HCP scientific deck for demonstration.</a:t>
            </a:r>
          </a:p>
        </p:txBody>
      </p:sp>
      <p:sp>
        <p:nvSpPr>
          <p:cNvPr id="20" name="">
            <a:extLst xmlns:a="http://schemas.openxmlformats.org/drawingml/2006/main">
              <a:ext uri="{FF2B5EF4-FFF2-40B4-BE49-F238E27FC236}">
                <a16:creationId xmlns:a16="http://schemas.microsoft.com/office/drawing/2014/main" id="{E91DE7B8-A069-40D4-8261-60063337541B}"/>
              </a:ext>
            </a:extLst>
          </p:cNvPr>
          <p:cNvSpPr>
            <a:spLocks xmlns:a="http://schemas.openxmlformats.org/drawingml/2006/main" noGrp="1"/>
          </p:cNvSpPr>
          <p:nvPr/>
        </p:nvSpPr>
        <p:spPr>
          <a:xfrm xmlns:a="http://schemas.openxmlformats.org/drawingml/2006/main">
            <a:off x="609600" y="3219450"/>
            <a:ext cx="514350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9E2E8"/>
            </a:solidFill>
            <a:prstDash val="solid"/>
          </a:ln>
        </p:spPr>
      </p:sp>
      <p:sp>
        <p:nvSpPr>
          <p:cNvPr id="21" name="">
            <a:extLst xmlns:a="http://schemas.openxmlformats.org/drawingml/2006/main">
              <a:ext uri="{FF2B5EF4-FFF2-40B4-BE49-F238E27FC236}">
                <a16:creationId xmlns:a16="http://schemas.microsoft.com/office/drawing/2014/main" id="{9ABAFF7C-C09A-45D5-9E2F-9144E6C27F64}"/>
              </a:ext>
            </a:extLst>
          </p:cNvPr>
          <p:cNvSpPr>
            <a:spLocks xmlns:a="http://schemas.openxmlformats.org/drawingml/2006/main" noGrp="1"/>
          </p:cNvSpPr>
          <p:nvPr/>
        </p:nvSpPr>
        <p:spPr>
          <a:xfrm xmlns:a="http://schemas.openxmlformats.org/drawingml/2006/main">
            <a:off x="742950" y="3333750"/>
            <a:ext cx="48768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Deck assumptions</a:t>
            </a:r>
          </a:p>
        </p:txBody>
      </p:sp>
      <p:sp>
        <p:nvSpPr>
          <p:cNvPr id="22" name="">
            <a:extLst xmlns:a="http://schemas.openxmlformats.org/drawingml/2006/main">
              <a:ext uri="{FF2B5EF4-FFF2-40B4-BE49-F238E27FC236}">
                <a16:creationId xmlns:a16="http://schemas.microsoft.com/office/drawing/2014/main" id="{A16AAC77-13FF-4B58-9681-4BB1F45168EA}"/>
              </a:ext>
            </a:extLst>
          </p:cNvPr>
          <p:cNvSpPr>
            <a:spLocks xmlns:a="http://schemas.openxmlformats.org/drawingml/2006/main" noGrp="1"/>
          </p:cNvSpPr>
          <p:nvPr/>
        </p:nvSpPr>
        <p:spPr>
          <a:xfrm xmlns:a="http://schemas.openxmlformats.org/drawingml/2006/main">
            <a:off x="742950" y="3619500"/>
            <a:ext cx="48768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25 slides | scientific HCP audience | demonstration purpose | balanced evidence framing | speaker notes included | local PI verification required</a:t>
            </a:r>
          </a:p>
        </p:txBody>
      </p:sp>
      <p:sp>
        <p:nvSpPr>
          <p:cNvPr id="23" name="">
            <a:extLst xmlns:a="http://schemas.openxmlformats.org/drawingml/2006/main">
              <a:ext uri="{FF2B5EF4-FFF2-40B4-BE49-F238E27FC236}">
                <a16:creationId xmlns:a16="http://schemas.microsoft.com/office/drawing/2014/main" id="{053F130A-EA21-4939-989A-69AF45A215BF}"/>
              </a:ext>
            </a:extLst>
          </p:cNvPr>
          <p:cNvSpPr>
            <a:spLocks xmlns:a="http://schemas.openxmlformats.org/drawingml/2006/main" noGrp="1"/>
          </p:cNvSpPr>
          <p:nvPr/>
        </p:nvSpPr>
        <p:spPr>
          <a:xfrm xmlns:a="http://schemas.openxmlformats.org/drawingml/2006/main">
            <a:off x="5981700" y="3219450"/>
            <a:ext cx="560070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9E2E8"/>
            </a:solidFill>
            <a:prstDash val="solid"/>
          </a:ln>
        </p:spPr>
      </p:sp>
      <p:sp>
        <p:nvSpPr>
          <p:cNvPr id="24" name="">
            <a:extLst xmlns:a="http://schemas.openxmlformats.org/drawingml/2006/main">
              <a:ext uri="{FF2B5EF4-FFF2-40B4-BE49-F238E27FC236}">
                <a16:creationId xmlns:a16="http://schemas.microsoft.com/office/drawing/2014/main" id="{82CF04BD-47D9-468C-B32B-3F79224875AA}"/>
              </a:ext>
            </a:extLst>
          </p:cNvPr>
          <p:cNvSpPr>
            <a:spLocks xmlns:a="http://schemas.openxmlformats.org/drawingml/2006/main" noGrp="1"/>
          </p:cNvSpPr>
          <p:nvPr/>
        </p:nvSpPr>
        <p:spPr>
          <a:xfrm xmlns:a="http://schemas.openxmlformats.org/drawingml/2006/main">
            <a:off x="6115050" y="3333750"/>
            <a:ext cx="53340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the next request should capture</a:t>
            </a:r>
          </a:p>
        </p:txBody>
      </p:sp>
      <p:sp>
        <p:nvSpPr>
          <p:cNvPr id="25" name="">
            <a:extLst xmlns:a="http://schemas.openxmlformats.org/drawingml/2006/main">
              <a:ext uri="{FF2B5EF4-FFF2-40B4-BE49-F238E27FC236}">
                <a16:creationId xmlns:a16="http://schemas.microsoft.com/office/drawing/2014/main" id="{E7D745C3-3AAA-46E4-AA22-8E9DDDDBCA07}"/>
              </a:ext>
            </a:extLst>
          </p:cNvPr>
          <p:cNvSpPr>
            <a:spLocks xmlns:a="http://schemas.openxmlformats.org/drawingml/2006/main" noGrp="1"/>
          </p:cNvSpPr>
          <p:nvPr/>
        </p:nvSpPr>
        <p:spPr>
          <a:xfrm xmlns:a="http://schemas.openxmlformats.org/drawingml/2006/main">
            <a:off x="6115050" y="3619500"/>
            <a:ext cx="53340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1) Number of slides</a:t>
            </a:r>
          </a:p>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2) Talk duration</a:t>
            </a:r>
          </a:p>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3) Speaker notes required or not</a:t>
            </a:r>
          </a:p>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4) Audience type</a:t>
            </a:r>
          </a:p>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5) Scientific, CME, or training intent</a:t>
            </a:r>
          </a:p>
        </p:txBody>
      </p:sp>
      <p:sp>
        <p:nvSpPr>
          <p:cNvPr id="26" name="">
            <a:extLst xmlns:a="http://schemas.openxmlformats.org/drawingml/2006/main">
              <a:ext uri="{FF2B5EF4-FFF2-40B4-BE49-F238E27FC236}">
                <a16:creationId xmlns:a16="http://schemas.microsoft.com/office/drawing/2014/main" id="{A4FAF361-A9DA-4D3A-BD2B-A1D98275F392}"/>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The intake step prevents the deck from drifting into generic content.</a:t>
            </a:r>
          </a:p>
        </p:txBody>
      </p:sp>
    </p:spTree>
    <p:extLst>
      <p:ext uri="{BB962C8B-B14F-4D97-AF65-F5344CB8AC3E}">
        <p14:creationId xmlns:p14="http://schemas.microsoft.com/office/powerpoint/2010/main" val="20050280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DE179FA-852A-40AE-BF5B-4819373C1F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31E76F5-0480-4A51-A5F5-F502FD852C7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4D3A9436-0969-4466-BDD3-5ACDC58360C9}"/>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Clinical context: the symptom problem aceclofenac addresses</a:t>
            </a:r>
          </a:p>
        </p:txBody>
      </p:sp>
      <p:sp>
        <p:nvSpPr>
          <p:cNvPr id="4" name="">
            <a:extLst xmlns:a="http://schemas.openxmlformats.org/drawingml/2006/main">
              <a:ext uri="{FF2B5EF4-FFF2-40B4-BE49-F238E27FC236}">
                <a16:creationId xmlns:a16="http://schemas.microsoft.com/office/drawing/2014/main" id="{8AC2C90A-3174-46FB-B7B7-7D5EA7AB4E89}"/>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Aceclofenac is a symptom-focused NSAID for inflammatory pain states where the approved label allows use and class risk is acceptable.</a:t>
            </a:r>
          </a:p>
        </p:txBody>
      </p:sp>
      <p:sp>
        <p:nvSpPr>
          <p:cNvPr id="5" name="">
            <a:extLst xmlns:a="http://schemas.openxmlformats.org/drawingml/2006/main">
              <a:ext uri="{FF2B5EF4-FFF2-40B4-BE49-F238E27FC236}">
                <a16:creationId xmlns:a16="http://schemas.microsoft.com/office/drawing/2014/main" id="{C3CCABA3-E4E9-41CD-8EE3-E63C1F65CEC7}"/>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8DA2B713-ED94-4BD4-99DF-8DAF55FB88FF}"/>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PMC8643213; PubMed 31908149; PubMed 34719994</a:t>
            </a:r>
          </a:p>
        </p:txBody>
      </p:sp>
      <p:sp>
        <p:nvSpPr>
          <p:cNvPr id="7" name="">
            <a:extLst xmlns:a="http://schemas.openxmlformats.org/drawingml/2006/main">
              <a:ext uri="{FF2B5EF4-FFF2-40B4-BE49-F238E27FC236}">
                <a16:creationId xmlns:a16="http://schemas.microsoft.com/office/drawing/2014/main" id="{2482294A-499E-4B38-8CA8-0070E2FEE184}"/>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3/25</a:t>
            </a:r>
          </a:p>
        </p:txBody>
      </p:sp>
      <p:sp>
        <p:nvSpPr>
          <p:cNvPr id="8" name="">
            <a:extLst xmlns:a="http://schemas.openxmlformats.org/drawingml/2006/main">
              <a:ext uri="{FF2B5EF4-FFF2-40B4-BE49-F238E27FC236}">
                <a16:creationId xmlns:a16="http://schemas.microsoft.com/office/drawing/2014/main" id="{53F7005B-3DC5-497E-957C-1F942117D0DB}"/>
              </a:ext>
            </a:extLst>
          </p:cNvPr>
          <p:cNvSpPr>
            <a:spLocks xmlns:a="http://schemas.openxmlformats.org/drawingml/2006/main" noGrp="1"/>
          </p:cNvSpPr>
          <p:nvPr/>
        </p:nvSpPr>
        <p:spPr>
          <a:xfrm xmlns:a="http://schemas.openxmlformats.org/drawingml/2006/main">
            <a:off x="609600" y="1466850"/>
            <a:ext cx="3429000" cy="1619250"/>
          </a:xfrm>
          <a:prstGeom xmlns:a="http://schemas.openxmlformats.org/drawingml/2006/main" prst="roundRect">
            <a:avLst>
              <a:gd name="adj" fmla="val 4706"/>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7E8AF398-A857-464F-B9D3-1AA4CD06EC15}"/>
              </a:ext>
            </a:extLst>
          </p:cNvPr>
          <p:cNvSpPr>
            <a:spLocks xmlns:a="http://schemas.openxmlformats.org/drawingml/2006/main" noGrp="1"/>
          </p:cNvSpPr>
          <p:nvPr/>
        </p:nvSpPr>
        <p:spPr>
          <a:xfrm xmlns:a="http://schemas.openxmlformats.org/drawingml/2006/main">
            <a:off x="742950" y="1581150"/>
            <a:ext cx="31623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Osteoarthritis</a:t>
            </a:r>
          </a:p>
        </p:txBody>
      </p:sp>
      <p:sp>
        <p:nvSpPr>
          <p:cNvPr id="10" name="">
            <a:extLst xmlns:a="http://schemas.openxmlformats.org/drawingml/2006/main">
              <a:ext uri="{FF2B5EF4-FFF2-40B4-BE49-F238E27FC236}">
                <a16:creationId xmlns:a16="http://schemas.microsoft.com/office/drawing/2014/main" id="{7971E88E-D04F-408B-A89F-2A5A537139B9}"/>
              </a:ext>
            </a:extLst>
          </p:cNvPr>
          <p:cNvSpPr>
            <a:spLocks xmlns:a="http://schemas.openxmlformats.org/drawingml/2006/main" noGrp="1"/>
          </p:cNvSpPr>
          <p:nvPr/>
        </p:nvSpPr>
        <p:spPr>
          <a:xfrm xmlns:a="http://schemas.openxmlformats.org/drawingml/2006/main">
            <a:off x="742950" y="1866900"/>
            <a:ext cx="3162300" cy="11239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Pain, stiffness, and function loss are the practical endpoints. Guidelines still emphasise multimodal care and NSAIDs when appropriate.</a:t>
            </a:r>
          </a:p>
        </p:txBody>
      </p:sp>
      <p:sp>
        <p:nvSpPr>
          <p:cNvPr id="11" name="">
            <a:extLst xmlns:a="http://schemas.openxmlformats.org/drawingml/2006/main">
              <a:ext uri="{FF2B5EF4-FFF2-40B4-BE49-F238E27FC236}">
                <a16:creationId xmlns:a16="http://schemas.microsoft.com/office/drawing/2014/main" id="{3DAAAE0B-0C9D-4031-8B84-50FCA2F227D0}"/>
              </a:ext>
            </a:extLst>
          </p:cNvPr>
          <p:cNvSpPr>
            <a:spLocks xmlns:a="http://schemas.openxmlformats.org/drawingml/2006/main" noGrp="1"/>
          </p:cNvSpPr>
          <p:nvPr/>
        </p:nvSpPr>
        <p:spPr>
          <a:xfrm xmlns:a="http://schemas.openxmlformats.org/drawingml/2006/main">
            <a:off x="4400550" y="1466850"/>
            <a:ext cx="342900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486C0751-0FFF-4F44-A520-E6A0054B658D}"/>
              </a:ext>
            </a:extLst>
          </p:cNvPr>
          <p:cNvSpPr>
            <a:spLocks xmlns:a="http://schemas.openxmlformats.org/drawingml/2006/main" noGrp="1"/>
          </p:cNvSpPr>
          <p:nvPr/>
        </p:nvSpPr>
        <p:spPr>
          <a:xfrm xmlns:a="http://schemas.openxmlformats.org/drawingml/2006/main">
            <a:off x="4533900" y="1581150"/>
            <a:ext cx="31623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Inflammatory arthritis</a:t>
            </a:r>
          </a:p>
        </p:txBody>
      </p:sp>
      <p:sp>
        <p:nvSpPr>
          <p:cNvPr id="13" name="">
            <a:extLst xmlns:a="http://schemas.openxmlformats.org/drawingml/2006/main">
              <a:ext uri="{FF2B5EF4-FFF2-40B4-BE49-F238E27FC236}">
                <a16:creationId xmlns:a16="http://schemas.microsoft.com/office/drawing/2014/main" id="{3E37C34C-51E6-4154-B20B-4182E66DA235}"/>
              </a:ext>
            </a:extLst>
          </p:cNvPr>
          <p:cNvSpPr>
            <a:spLocks xmlns:a="http://schemas.openxmlformats.org/drawingml/2006/main" noGrp="1"/>
          </p:cNvSpPr>
          <p:nvPr/>
        </p:nvSpPr>
        <p:spPr>
          <a:xfrm xmlns:a="http://schemas.openxmlformats.org/drawingml/2006/main">
            <a:off x="4533900" y="1866900"/>
            <a:ext cx="3162300" cy="11239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In rheumatoid and spondyloarthritic disease, NSAIDs relieve pain and stiffness but do not replace disease-modifying therapy.</a:t>
            </a:r>
          </a:p>
        </p:txBody>
      </p:sp>
      <p:sp>
        <p:nvSpPr>
          <p:cNvPr id="14" name="">
            <a:extLst xmlns:a="http://schemas.openxmlformats.org/drawingml/2006/main">
              <a:ext uri="{FF2B5EF4-FFF2-40B4-BE49-F238E27FC236}">
                <a16:creationId xmlns:a16="http://schemas.microsoft.com/office/drawing/2014/main" id="{FB9EBBE2-30F4-447E-9B32-886FA61120B3}"/>
              </a:ext>
            </a:extLst>
          </p:cNvPr>
          <p:cNvSpPr>
            <a:spLocks xmlns:a="http://schemas.openxmlformats.org/drawingml/2006/main" noGrp="1"/>
          </p:cNvSpPr>
          <p:nvPr/>
        </p:nvSpPr>
        <p:spPr>
          <a:xfrm xmlns:a="http://schemas.openxmlformats.org/drawingml/2006/main">
            <a:off x="8191500" y="1466850"/>
            <a:ext cx="3390900" cy="1619250"/>
          </a:xfrm>
          <a:prstGeom xmlns:a="http://schemas.openxmlformats.org/drawingml/2006/main" prst="roundRect">
            <a:avLst>
              <a:gd name="adj" fmla="val 4706"/>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C557F1D6-59CF-4EFD-AB30-B84F5E4272CB}"/>
              </a:ext>
            </a:extLst>
          </p:cNvPr>
          <p:cNvSpPr>
            <a:spLocks xmlns:a="http://schemas.openxmlformats.org/drawingml/2006/main" noGrp="1"/>
          </p:cNvSpPr>
          <p:nvPr/>
        </p:nvSpPr>
        <p:spPr>
          <a:xfrm xmlns:a="http://schemas.openxmlformats.org/drawingml/2006/main">
            <a:off x="8324850" y="1581150"/>
            <a:ext cx="31242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Acute musculoskeletal pain</a:t>
            </a:r>
          </a:p>
        </p:txBody>
      </p:sp>
      <p:sp>
        <p:nvSpPr>
          <p:cNvPr id="16" name="">
            <a:extLst xmlns:a="http://schemas.openxmlformats.org/drawingml/2006/main">
              <a:ext uri="{FF2B5EF4-FFF2-40B4-BE49-F238E27FC236}">
                <a16:creationId xmlns:a16="http://schemas.microsoft.com/office/drawing/2014/main" id="{7587BE71-124E-4CB6-9CCF-F460203B6D4C}"/>
              </a:ext>
            </a:extLst>
          </p:cNvPr>
          <p:cNvSpPr>
            <a:spLocks xmlns:a="http://schemas.openxmlformats.org/drawingml/2006/main" noGrp="1"/>
          </p:cNvSpPr>
          <p:nvPr/>
        </p:nvSpPr>
        <p:spPr>
          <a:xfrm xmlns:a="http://schemas.openxmlformats.org/drawingml/2006/main">
            <a:off x="8324850" y="1866900"/>
            <a:ext cx="3124200" cy="11239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Short-term use may help in acute low back pain and other painful inflammatory states where the label permits it.</a:t>
            </a:r>
          </a:p>
        </p:txBody>
      </p:sp>
      <p:sp>
        <p:nvSpPr>
          <p:cNvPr id="17" name="">
            <a:extLst xmlns:a="http://schemas.openxmlformats.org/drawingml/2006/main">
              <a:ext uri="{FF2B5EF4-FFF2-40B4-BE49-F238E27FC236}">
                <a16:creationId xmlns:a16="http://schemas.microsoft.com/office/drawing/2014/main" id="{7B45E18E-F0DC-42EE-8BBD-6166DF501654}"/>
              </a:ext>
            </a:extLst>
          </p:cNvPr>
          <p:cNvSpPr>
            <a:spLocks xmlns:a="http://schemas.openxmlformats.org/drawingml/2006/main" noGrp="1"/>
          </p:cNvSpPr>
          <p:nvPr/>
        </p:nvSpPr>
        <p:spPr>
          <a:xfrm xmlns:a="http://schemas.openxmlformats.org/drawingml/2006/main">
            <a:off x="876300" y="3486150"/>
            <a:ext cx="104394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18413F07-0E39-4F9D-BEFA-0CBFB7E5C41E}"/>
              </a:ext>
            </a:extLst>
          </p:cNvPr>
          <p:cNvSpPr>
            <a:spLocks xmlns:a="http://schemas.openxmlformats.org/drawingml/2006/main" noGrp="1"/>
          </p:cNvSpPr>
          <p:nvPr/>
        </p:nvSpPr>
        <p:spPr>
          <a:xfrm xmlns:a="http://schemas.openxmlformats.org/drawingml/2006/main">
            <a:off x="1009650" y="3600450"/>
            <a:ext cx="101727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Balanced HCP message</a:t>
            </a:r>
          </a:p>
        </p:txBody>
      </p:sp>
      <p:sp>
        <p:nvSpPr>
          <p:cNvPr id="19" name="">
            <a:extLst xmlns:a="http://schemas.openxmlformats.org/drawingml/2006/main">
              <a:ext uri="{FF2B5EF4-FFF2-40B4-BE49-F238E27FC236}">
                <a16:creationId xmlns:a16="http://schemas.microsoft.com/office/drawing/2014/main" id="{2CA10F20-1E55-4D4D-A0EC-DEE0B5ECF9A2}"/>
              </a:ext>
            </a:extLst>
          </p:cNvPr>
          <p:cNvSpPr>
            <a:spLocks xmlns:a="http://schemas.openxmlformats.org/drawingml/2006/main" noGrp="1"/>
          </p:cNvSpPr>
          <p:nvPr/>
        </p:nvSpPr>
        <p:spPr>
          <a:xfrm xmlns:a="http://schemas.openxmlformats.org/drawingml/2006/main">
            <a:off x="1009650" y="3886200"/>
            <a:ext cx="101727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65" b="0">
                <a:solidFill>
                  <a:srgbClr val="24313A"/>
                </a:solidFill>
                <a:latin typeface="Aptos"/>
                <a:ea typeface="Aptos"/>
                <a:cs typeface="Aptos"/>
              </a:defRPr>
            </a:pPr>
            <a:r>
              <a:rPr sz="1065" b="0">
                <a:solidFill>
                  <a:srgbClr val="24313A"/>
                </a:solidFill>
                <a:latin typeface="Aptos"/>
                <a:ea typeface="Aptos"/>
                <a:cs typeface="Aptos"/>
              </a:rPr>
              <a:t>The science should always stay clear: aceclofenac can reduce inflammation-linked symptoms, but HCPs still need to screen for GI, renal, cardiovascular, hepatic, pregnancy, and interaction risks before prescribing.</a:t>
            </a:r>
          </a:p>
        </p:txBody>
      </p:sp>
    </p:spTree>
    <p:extLst>
      <p:ext uri="{BB962C8B-B14F-4D97-AF65-F5344CB8AC3E}">
        <p14:creationId xmlns:p14="http://schemas.microsoft.com/office/powerpoint/2010/main" val="7640990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5EFCC4-691A-48B7-BCC1-ED58F6E4D9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3829B3B-23DD-432D-9C0F-645CBDC99BB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855289F2-42FA-4D7C-B415-5EF86468500E}"/>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Molecule profile: identity, chemistry, and physicochemical facts</a:t>
            </a:r>
          </a:p>
        </p:txBody>
      </p:sp>
      <p:sp>
        <p:nvSpPr>
          <p:cNvPr id="4" name="">
            <a:extLst xmlns:a="http://schemas.openxmlformats.org/drawingml/2006/main">
              <a:ext uri="{FF2B5EF4-FFF2-40B4-BE49-F238E27FC236}">
                <a16:creationId xmlns:a16="http://schemas.microsoft.com/office/drawing/2014/main" id="{2F7F77B6-67F5-49B8-9A01-C6BE24FDFB5D}"/>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is the slide that turns the talk from generic to real science.</a:t>
            </a:r>
          </a:p>
        </p:txBody>
      </p:sp>
      <p:sp>
        <p:nvSpPr>
          <p:cNvPr id="5" name="">
            <a:extLst xmlns:a="http://schemas.openxmlformats.org/drawingml/2006/main">
              <a:ext uri="{FF2B5EF4-FFF2-40B4-BE49-F238E27FC236}">
                <a16:creationId xmlns:a16="http://schemas.microsoft.com/office/drawing/2014/main" id="{26F36926-B259-4C30-B6AC-2CFDCA3322CA}"/>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1B2B0628-33C6-4E7A-9302-98382F9AF25A}"/>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Torrent PI 3073; Torrent PI 2617</a:t>
            </a:r>
          </a:p>
        </p:txBody>
      </p:sp>
      <p:sp>
        <p:nvSpPr>
          <p:cNvPr id="7" name="">
            <a:extLst xmlns:a="http://schemas.openxmlformats.org/drawingml/2006/main">
              <a:ext uri="{FF2B5EF4-FFF2-40B4-BE49-F238E27FC236}">
                <a16:creationId xmlns:a16="http://schemas.microsoft.com/office/drawing/2014/main" id="{A45CADC4-D3FC-4844-892B-478F9BE7753A}"/>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4/25</a:t>
            </a:r>
          </a:p>
        </p:txBody>
      </p:sp>
      <p:sp>
        <p:nvSpPr>
          <p:cNvPr id="8" name="">
            <a:extLst xmlns:a="http://schemas.openxmlformats.org/drawingml/2006/main">
              <a:ext uri="{FF2B5EF4-FFF2-40B4-BE49-F238E27FC236}">
                <a16:creationId xmlns:a16="http://schemas.microsoft.com/office/drawing/2014/main" id="{FEAB10C3-0F92-4063-9938-AA7B707F2B1B}"/>
              </a:ext>
            </a:extLst>
          </p:cNvPr>
          <p:cNvSpPr>
            <a:spLocks xmlns:a="http://schemas.openxmlformats.org/drawingml/2006/main" noGrp="1"/>
          </p:cNvSpPr>
          <p:nvPr/>
        </p:nvSpPr>
        <p:spPr>
          <a:xfrm xmlns:a="http://schemas.openxmlformats.org/drawingml/2006/main">
            <a:off x="666750" y="1714500"/>
            <a:ext cx="2057400" cy="1066800"/>
          </a:xfrm>
          <a:prstGeom xmlns:a="http://schemas.openxmlformats.org/drawingml/2006/main" prst="roundRect">
            <a:avLst>
              <a:gd name="adj" fmla="val 7143"/>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E8F93F59-2FEA-4C49-A025-BB837DD8D78A}"/>
              </a:ext>
            </a:extLst>
          </p:cNvPr>
          <p:cNvSpPr>
            <a:spLocks xmlns:a="http://schemas.openxmlformats.org/drawingml/2006/main" noGrp="1"/>
          </p:cNvSpPr>
          <p:nvPr/>
        </p:nvSpPr>
        <p:spPr>
          <a:xfrm xmlns:a="http://schemas.openxmlformats.org/drawingml/2006/main">
            <a:off x="800100" y="1828800"/>
            <a:ext cx="17907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Chemical name</a:t>
            </a:r>
          </a:p>
        </p:txBody>
      </p:sp>
      <p:sp>
        <p:nvSpPr>
          <p:cNvPr id="10" name="">
            <a:extLst xmlns:a="http://schemas.openxmlformats.org/drawingml/2006/main">
              <a:ext uri="{FF2B5EF4-FFF2-40B4-BE49-F238E27FC236}">
                <a16:creationId xmlns:a16="http://schemas.microsoft.com/office/drawing/2014/main" id="{FE0D75C7-E5D7-466C-A308-154B1D624D33}"/>
              </a:ext>
            </a:extLst>
          </p:cNvPr>
          <p:cNvSpPr>
            <a:spLocks xmlns:a="http://schemas.openxmlformats.org/drawingml/2006/main" noGrp="1"/>
          </p:cNvSpPr>
          <p:nvPr/>
        </p:nvSpPr>
        <p:spPr>
          <a:xfrm xmlns:a="http://schemas.openxmlformats.org/drawingml/2006/main">
            <a:off x="800100" y="2114550"/>
            <a:ext cx="1790700" cy="5715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2-[(2,6-dichlorophenyl)amino]phenylacetooxyacetic acid</a:t>
            </a:r>
          </a:p>
        </p:txBody>
      </p:sp>
      <p:sp>
        <p:nvSpPr>
          <p:cNvPr id="11" name="">
            <a:extLst xmlns:a="http://schemas.openxmlformats.org/drawingml/2006/main">
              <a:ext uri="{FF2B5EF4-FFF2-40B4-BE49-F238E27FC236}">
                <a16:creationId xmlns:a16="http://schemas.microsoft.com/office/drawing/2014/main" id="{41089B9E-3886-488A-A6C1-D11194E7F472}"/>
              </a:ext>
            </a:extLst>
          </p:cNvPr>
          <p:cNvSpPr>
            <a:spLocks xmlns:a="http://schemas.openxmlformats.org/drawingml/2006/main" noGrp="1"/>
          </p:cNvSpPr>
          <p:nvPr/>
        </p:nvSpPr>
        <p:spPr>
          <a:xfrm xmlns:a="http://schemas.openxmlformats.org/drawingml/2006/main">
            <a:off x="2952750" y="1714500"/>
            <a:ext cx="1638300" cy="1066800"/>
          </a:xfrm>
          <a:prstGeom xmlns:a="http://schemas.openxmlformats.org/drawingml/2006/main" prst="roundRect">
            <a:avLst>
              <a:gd name="adj" fmla="val 7143"/>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AEC68E73-4497-4DA5-A7E8-B8251D453400}"/>
              </a:ext>
            </a:extLst>
          </p:cNvPr>
          <p:cNvSpPr>
            <a:spLocks xmlns:a="http://schemas.openxmlformats.org/drawingml/2006/main" noGrp="1"/>
          </p:cNvSpPr>
          <p:nvPr/>
        </p:nvSpPr>
        <p:spPr>
          <a:xfrm xmlns:a="http://schemas.openxmlformats.org/drawingml/2006/main">
            <a:off x="3086100" y="1828800"/>
            <a:ext cx="13716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Formula</a:t>
            </a:r>
          </a:p>
        </p:txBody>
      </p:sp>
      <p:sp>
        <p:nvSpPr>
          <p:cNvPr id="13" name="">
            <a:extLst xmlns:a="http://schemas.openxmlformats.org/drawingml/2006/main">
              <a:ext uri="{FF2B5EF4-FFF2-40B4-BE49-F238E27FC236}">
                <a16:creationId xmlns:a16="http://schemas.microsoft.com/office/drawing/2014/main" id="{278C0BD5-4B31-4245-9F19-B28609CC249A}"/>
              </a:ext>
            </a:extLst>
          </p:cNvPr>
          <p:cNvSpPr>
            <a:spLocks xmlns:a="http://schemas.openxmlformats.org/drawingml/2006/main" noGrp="1"/>
          </p:cNvSpPr>
          <p:nvPr/>
        </p:nvSpPr>
        <p:spPr>
          <a:xfrm xmlns:a="http://schemas.openxmlformats.org/drawingml/2006/main">
            <a:off x="3086100" y="2114550"/>
            <a:ext cx="1371600" cy="5715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C16H13Cl2NO4</a:t>
            </a:r>
          </a:p>
        </p:txBody>
      </p:sp>
      <p:sp>
        <p:nvSpPr>
          <p:cNvPr id="14" name="">
            <a:extLst xmlns:a="http://schemas.openxmlformats.org/drawingml/2006/main">
              <a:ext uri="{FF2B5EF4-FFF2-40B4-BE49-F238E27FC236}">
                <a16:creationId xmlns:a16="http://schemas.microsoft.com/office/drawing/2014/main" id="{D6FE8A5B-B8D2-4C67-91DA-4AA14FC359B4}"/>
              </a:ext>
            </a:extLst>
          </p:cNvPr>
          <p:cNvSpPr>
            <a:spLocks xmlns:a="http://schemas.openxmlformats.org/drawingml/2006/main" noGrp="1"/>
          </p:cNvSpPr>
          <p:nvPr/>
        </p:nvSpPr>
        <p:spPr>
          <a:xfrm xmlns:a="http://schemas.openxmlformats.org/drawingml/2006/main">
            <a:off x="4819650" y="1714500"/>
            <a:ext cx="1562100" cy="1066800"/>
          </a:xfrm>
          <a:prstGeom xmlns:a="http://schemas.openxmlformats.org/drawingml/2006/main" prst="roundRect">
            <a:avLst>
              <a:gd name="adj" fmla="val 7143"/>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22F884DF-C605-476D-91D0-06C2302B3F4E}"/>
              </a:ext>
            </a:extLst>
          </p:cNvPr>
          <p:cNvSpPr>
            <a:spLocks xmlns:a="http://schemas.openxmlformats.org/drawingml/2006/main" noGrp="1"/>
          </p:cNvSpPr>
          <p:nvPr/>
        </p:nvSpPr>
        <p:spPr>
          <a:xfrm xmlns:a="http://schemas.openxmlformats.org/drawingml/2006/main">
            <a:off x="4953000" y="1828800"/>
            <a:ext cx="12954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Molecular weight</a:t>
            </a:r>
          </a:p>
        </p:txBody>
      </p:sp>
      <p:sp>
        <p:nvSpPr>
          <p:cNvPr id="16" name="">
            <a:extLst xmlns:a="http://schemas.openxmlformats.org/drawingml/2006/main">
              <a:ext uri="{FF2B5EF4-FFF2-40B4-BE49-F238E27FC236}">
                <a16:creationId xmlns:a16="http://schemas.microsoft.com/office/drawing/2014/main" id="{0A36EF44-91B9-4D47-B790-556FFE771A69}"/>
              </a:ext>
            </a:extLst>
          </p:cNvPr>
          <p:cNvSpPr>
            <a:spLocks xmlns:a="http://schemas.openxmlformats.org/drawingml/2006/main" noGrp="1"/>
          </p:cNvSpPr>
          <p:nvPr/>
        </p:nvSpPr>
        <p:spPr>
          <a:xfrm xmlns:a="http://schemas.openxmlformats.org/drawingml/2006/main">
            <a:off x="4953000" y="2114550"/>
            <a:ext cx="1295400" cy="5715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354.2</a:t>
            </a:r>
          </a:p>
        </p:txBody>
      </p:sp>
      <p:sp>
        <p:nvSpPr>
          <p:cNvPr id="17" name="">
            <a:extLst xmlns:a="http://schemas.openxmlformats.org/drawingml/2006/main">
              <a:ext uri="{FF2B5EF4-FFF2-40B4-BE49-F238E27FC236}">
                <a16:creationId xmlns:a16="http://schemas.microsoft.com/office/drawing/2014/main" id="{A8286D9A-1D78-4D60-AF49-CA07118586E2}"/>
              </a:ext>
            </a:extLst>
          </p:cNvPr>
          <p:cNvSpPr>
            <a:spLocks xmlns:a="http://schemas.openxmlformats.org/drawingml/2006/main" noGrp="1"/>
          </p:cNvSpPr>
          <p:nvPr/>
        </p:nvSpPr>
        <p:spPr>
          <a:xfrm xmlns:a="http://schemas.openxmlformats.org/drawingml/2006/main">
            <a:off x="6610350" y="1714500"/>
            <a:ext cx="1943100" cy="1066800"/>
          </a:xfrm>
          <a:prstGeom xmlns:a="http://schemas.openxmlformats.org/drawingml/2006/main" prst="roundRect">
            <a:avLst>
              <a:gd name="adj" fmla="val 7143"/>
            </a:avLst>
          </a:prstGeom>
          <a:solidFill xmlns:a="http://schemas.openxmlformats.org/drawingml/2006/main">
            <a:srgbClr val="E6F4EA"/>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12669C2B-6F66-408A-AE85-AEE0B097A0F8}"/>
              </a:ext>
            </a:extLst>
          </p:cNvPr>
          <p:cNvSpPr>
            <a:spLocks xmlns:a="http://schemas.openxmlformats.org/drawingml/2006/main" noGrp="1"/>
          </p:cNvSpPr>
          <p:nvPr/>
        </p:nvSpPr>
        <p:spPr>
          <a:xfrm xmlns:a="http://schemas.openxmlformats.org/drawingml/2006/main">
            <a:off x="6743700" y="1828800"/>
            <a:ext cx="1676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Appearance / solubility</a:t>
            </a:r>
          </a:p>
        </p:txBody>
      </p:sp>
      <p:sp>
        <p:nvSpPr>
          <p:cNvPr id="19" name="">
            <a:extLst xmlns:a="http://schemas.openxmlformats.org/drawingml/2006/main">
              <a:ext uri="{FF2B5EF4-FFF2-40B4-BE49-F238E27FC236}">
                <a16:creationId xmlns:a16="http://schemas.microsoft.com/office/drawing/2014/main" id="{36073D0C-058D-434C-9AC4-3F76D168137E}"/>
              </a:ext>
            </a:extLst>
          </p:cNvPr>
          <p:cNvSpPr>
            <a:spLocks xmlns:a="http://schemas.openxmlformats.org/drawingml/2006/main" noGrp="1"/>
          </p:cNvSpPr>
          <p:nvPr/>
        </p:nvSpPr>
        <p:spPr>
          <a:xfrm xmlns:a="http://schemas.openxmlformats.org/drawingml/2006/main">
            <a:off x="6743700" y="2114550"/>
            <a:ext cx="1676400" cy="5715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White crystalline powder; freely soluble in acetone, soluble in ethanol, practically insoluble in water</a:t>
            </a:r>
          </a:p>
        </p:txBody>
      </p:sp>
      <p:sp>
        <p:nvSpPr>
          <p:cNvPr id="20" name="">
            <a:extLst xmlns:a="http://schemas.openxmlformats.org/drawingml/2006/main">
              <a:ext uri="{FF2B5EF4-FFF2-40B4-BE49-F238E27FC236}">
                <a16:creationId xmlns:a16="http://schemas.microsoft.com/office/drawing/2014/main" id="{782DEF02-9992-44DF-B824-35CC80E06287}"/>
              </a:ext>
            </a:extLst>
          </p:cNvPr>
          <p:cNvSpPr>
            <a:spLocks xmlns:a="http://schemas.openxmlformats.org/drawingml/2006/main" noGrp="1"/>
          </p:cNvSpPr>
          <p:nvPr/>
        </p:nvSpPr>
        <p:spPr>
          <a:xfrm xmlns:a="http://schemas.openxmlformats.org/drawingml/2006/main">
            <a:off x="8782050" y="1714500"/>
            <a:ext cx="1790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8"/>
            </a:solidFill>
            <a:prstDash val="solid"/>
          </a:ln>
        </p:spPr>
      </p:sp>
      <p:sp>
        <p:nvSpPr>
          <p:cNvPr id="21" name="">
            <a:extLst xmlns:a="http://schemas.openxmlformats.org/drawingml/2006/main">
              <a:ext uri="{FF2B5EF4-FFF2-40B4-BE49-F238E27FC236}">
                <a16:creationId xmlns:a16="http://schemas.microsoft.com/office/drawing/2014/main" id="{9B8D5F51-FF62-4507-A7F0-AE39C9B23F42}"/>
              </a:ext>
            </a:extLst>
          </p:cNvPr>
          <p:cNvSpPr>
            <a:spLocks xmlns:a="http://schemas.openxmlformats.org/drawingml/2006/main" noGrp="1"/>
          </p:cNvSpPr>
          <p:nvPr/>
        </p:nvSpPr>
        <p:spPr>
          <a:xfrm xmlns:a="http://schemas.openxmlformats.org/drawingml/2006/main">
            <a:off x="8915400" y="1828800"/>
            <a:ext cx="15240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Class</a:t>
            </a:r>
          </a:p>
        </p:txBody>
      </p:sp>
      <p:sp>
        <p:nvSpPr>
          <p:cNvPr id="22" name="">
            <a:extLst xmlns:a="http://schemas.openxmlformats.org/drawingml/2006/main">
              <a:ext uri="{FF2B5EF4-FFF2-40B4-BE49-F238E27FC236}">
                <a16:creationId xmlns:a16="http://schemas.microsoft.com/office/drawing/2014/main" id="{88403106-1261-4740-9C72-E4F309C5EDA9}"/>
              </a:ext>
            </a:extLst>
          </p:cNvPr>
          <p:cNvSpPr>
            <a:spLocks xmlns:a="http://schemas.openxmlformats.org/drawingml/2006/main" noGrp="1"/>
          </p:cNvSpPr>
          <p:nvPr/>
        </p:nvSpPr>
        <p:spPr>
          <a:xfrm xmlns:a="http://schemas.openxmlformats.org/drawingml/2006/main">
            <a:off x="8915400" y="2114550"/>
            <a:ext cx="15240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780" b="0">
                <a:solidFill>
                  <a:srgbClr val="24313A"/>
                </a:solidFill>
                <a:latin typeface="Aptos"/>
                <a:ea typeface="Aptos"/>
                <a:cs typeface="Aptos"/>
              </a:defRPr>
            </a:pPr>
            <a:r>
              <a:rPr sz="780" b="0">
                <a:solidFill>
                  <a:srgbClr val="24313A"/>
                </a:solidFill>
                <a:latin typeface="Aptos"/>
                <a:ea typeface="Aptos"/>
                <a:cs typeface="Aptos"/>
              </a:rPr>
              <a:t>Oral phenylacetic acid NSAID</a:t>
            </a:r>
          </a:p>
        </p:txBody>
      </p:sp>
      <p:sp>
        <p:nvSpPr>
          <p:cNvPr id="23" name="">
            <a:extLst xmlns:a="http://schemas.openxmlformats.org/drawingml/2006/main">
              <a:ext uri="{FF2B5EF4-FFF2-40B4-BE49-F238E27FC236}">
                <a16:creationId xmlns:a16="http://schemas.microsoft.com/office/drawing/2014/main" id="{204D8E12-0A91-4252-B7C9-1DDDC1A51215}"/>
              </a:ext>
            </a:extLst>
          </p:cNvPr>
          <p:cNvSpPr>
            <a:spLocks xmlns:a="http://schemas.openxmlformats.org/drawingml/2006/main" noGrp="1"/>
          </p:cNvSpPr>
          <p:nvPr/>
        </p:nvSpPr>
        <p:spPr>
          <a:xfrm xmlns:a="http://schemas.openxmlformats.org/drawingml/2006/main">
            <a:off x="876300" y="3238500"/>
            <a:ext cx="1043940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D9E2E8"/>
            </a:solidFill>
            <a:prstDash val="solid"/>
          </a:ln>
        </p:spPr>
      </p:sp>
      <p:sp>
        <p:nvSpPr>
          <p:cNvPr id="24" name="">
            <a:extLst xmlns:a="http://schemas.openxmlformats.org/drawingml/2006/main">
              <a:ext uri="{FF2B5EF4-FFF2-40B4-BE49-F238E27FC236}">
                <a16:creationId xmlns:a16="http://schemas.microsoft.com/office/drawing/2014/main" id="{F111C21D-6BA3-48FF-80C8-0576BF6A4AD7}"/>
              </a:ext>
            </a:extLst>
          </p:cNvPr>
          <p:cNvSpPr>
            <a:spLocks xmlns:a="http://schemas.openxmlformats.org/drawingml/2006/main" noGrp="1"/>
          </p:cNvSpPr>
          <p:nvPr/>
        </p:nvSpPr>
        <p:spPr>
          <a:xfrm xmlns:a="http://schemas.openxmlformats.org/drawingml/2006/main">
            <a:off x="1009650" y="3352800"/>
            <a:ext cx="101727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Why this matters clinically</a:t>
            </a:r>
          </a:p>
        </p:txBody>
      </p:sp>
      <p:sp>
        <p:nvSpPr>
          <p:cNvPr id="25" name="">
            <a:extLst xmlns:a="http://schemas.openxmlformats.org/drawingml/2006/main">
              <a:ext uri="{FF2B5EF4-FFF2-40B4-BE49-F238E27FC236}">
                <a16:creationId xmlns:a16="http://schemas.microsoft.com/office/drawing/2014/main" id="{A3DFA1A3-0FE9-4A5D-A7BB-E4E6AC16DC3D}"/>
              </a:ext>
            </a:extLst>
          </p:cNvPr>
          <p:cNvSpPr>
            <a:spLocks xmlns:a="http://schemas.openxmlformats.org/drawingml/2006/main" noGrp="1"/>
          </p:cNvSpPr>
          <p:nvPr/>
        </p:nvSpPr>
        <p:spPr>
          <a:xfrm xmlns:a="http://schemas.openxmlformats.org/drawingml/2006/main">
            <a:off x="1009650" y="3638550"/>
            <a:ext cx="101727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13" b="0">
                <a:solidFill>
                  <a:srgbClr val="24313A"/>
                </a:solidFill>
                <a:latin typeface="Aptos"/>
                <a:ea typeface="Aptos"/>
                <a:cs typeface="Aptos"/>
              </a:defRPr>
            </a:pPr>
            <a:r>
              <a:rPr sz="1013" b="0">
                <a:solidFill>
                  <a:srgbClr val="24313A"/>
                </a:solidFill>
                <a:latin typeface="Aptos"/>
                <a:ea typeface="Aptos"/>
                <a:cs typeface="Aptos"/>
              </a:rPr>
              <a:t>Aceclofenac is not just an NSAID label. Its chemical identity, oral absorption profile, synovial penetration, and high protein binding are all part of how HCPs understand onset, distribution to the target compartment, and why risk control must remain visible.</a:t>
            </a:r>
          </a:p>
        </p:txBody>
      </p:sp>
    </p:spTree>
    <p:extLst>
      <p:ext uri="{BB962C8B-B14F-4D97-AF65-F5344CB8AC3E}">
        <p14:creationId xmlns:p14="http://schemas.microsoft.com/office/powerpoint/2010/main" val="16136066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244180-9B77-4B33-A376-607A34BF44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5F40CA7-9BC5-44CF-B4C2-286F70002D0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553D5DEF-FBA6-4D1B-A139-8CBA38FF9AD8}"/>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Mechanism of action and translational relevance</a:t>
            </a:r>
          </a:p>
        </p:txBody>
      </p:sp>
      <p:sp>
        <p:nvSpPr>
          <p:cNvPr id="4" name="">
            <a:extLst xmlns:a="http://schemas.openxmlformats.org/drawingml/2006/main">
              <a:ext uri="{FF2B5EF4-FFF2-40B4-BE49-F238E27FC236}">
                <a16:creationId xmlns:a16="http://schemas.microsoft.com/office/drawing/2014/main" id="{62F877B8-3DF1-4BC3-B5FF-B3CFBC7288D8}"/>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MOA slide should connect prostaglandin biology to symptom relief without overselling disease modification.</a:t>
            </a:r>
          </a:p>
        </p:txBody>
      </p:sp>
      <p:sp>
        <p:nvSpPr>
          <p:cNvPr id="5" name="">
            <a:extLst xmlns:a="http://schemas.openxmlformats.org/drawingml/2006/main">
              <a:ext uri="{FF2B5EF4-FFF2-40B4-BE49-F238E27FC236}">
                <a16:creationId xmlns:a16="http://schemas.microsoft.com/office/drawing/2014/main" id="{A0038C4C-8A96-4EF9-AA7A-8391002E7048}"/>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E29A1D78-7797-416B-9B33-D301079C2D1C}"/>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Torrent PI; PMC8643213</a:t>
            </a:r>
          </a:p>
        </p:txBody>
      </p:sp>
      <p:sp>
        <p:nvSpPr>
          <p:cNvPr id="7" name="">
            <a:extLst xmlns:a="http://schemas.openxmlformats.org/drawingml/2006/main">
              <a:ext uri="{FF2B5EF4-FFF2-40B4-BE49-F238E27FC236}">
                <a16:creationId xmlns:a16="http://schemas.microsoft.com/office/drawing/2014/main" id="{4B102206-FF12-43B4-A997-8950A9C5B0A1}"/>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5/25</a:t>
            </a:r>
          </a:p>
        </p:txBody>
      </p:sp>
      <p:graphicFrame>
        <p:nvGraphicFramePr>
          <p:cNvPr id="8" name=""/>
          <p:cNvGraphicFramePr/>
          <p:nvPr/>
        </p:nvGraphicFramePr>
        <p:xfrm>
          <a:off xmlns:a="http://schemas.openxmlformats.org/drawingml/2006/main" x="609600" y="1485900"/>
          <a:ext xmlns:a="http://schemas.openxmlformats.org/drawingml/2006/main" cx="6381750" cy="2571750"/>
        </p:xfrm>
        <a:graphic xmlns:a="http://schemas.openxmlformats.org/drawingml/2006/main">
          <a:graphicData uri="http://schemas.openxmlformats.org/drawingml/2006/table">
            <a:tbl>
              <a:tblPr/>
              <a:tblGrid>
                <a:gridCol w="2042160"/>
                <a:gridCol w="4339590"/>
              </a:tblGrid>
              <a:tr h="428625">
                <a:tc>
                  <a:txBody>
                    <a:bodyPr/>
                    <a:lstStyle/>
                    <a:p>
                      <a:r>
                        <a:rPr sz="765" b="1">
                          <a:solidFill>
                            <a:srgbClr val="FFFFFF"/>
                          </a:solidFill>
                          <a:latin typeface="Aptos"/>
                          <a:ea typeface="Aptos"/>
                          <a:cs typeface="Aptos"/>
                        </a:rPr>
                        <a:t>Field</a:t>
                      </a:r>
                    </a:p>
                  </a:txBody>
                  <a:tcPr marL="91440" marR="91440" marT="45720" marB="45720">
                    <a:lnB w="9525">
                      <a:solidFill>
                        <a:srgbClr val="FFFFFF"/>
                      </a:solidFill>
                    </a:lnB>
                    <a:solidFill>
                      <a:srgbClr val="16324F"/>
                    </a:solidFill>
                  </a:tcPr>
                </a:tc>
                <a:tc>
                  <a:txBody>
                    <a:bodyPr/>
                    <a:lstStyle/>
                    <a:p>
                      <a:r>
                        <a:rPr sz="765" b="1">
                          <a:solidFill>
                            <a:srgbClr val="FFFFFF"/>
                          </a:solidFill>
                          <a:latin typeface="Aptos"/>
                          <a:ea typeface="Aptos"/>
                          <a:cs typeface="Aptos"/>
                        </a:rPr>
                        <a:t>Summary</a:t>
                      </a:r>
                    </a:p>
                  </a:txBody>
                  <a:tcPr marL="91440" marR="91440" marT="45720" marB="45720">
                    <a:lnB w="9525">
                      <a:solidFill>
                        <a:srgbClr val="FFFFFF"/>
                      </a:solidFill>
                    </a:lnB>
                    <a:solidFill>
                      <a:srgbClr val="16324F"/>
                    </a:solidFill>
                  </a:tcPr>
                </a:tc>
              </a:tr>
              <a:tr h="428625">
                <a:tc>
                  <a:txBody>
                    <a:bodyPr/>
                    <a:lstStyle/>
                    <a:p>
                      <a:r>
                        <a:t>Class</a:t>
                      </a:r>
                    </a:p>
                  </a:txBody>
                  <a:tcPr marL="91440" marR="91440" marT="45720" marB="45720"/>
                </a:tc>
                <a:tc>
                  <a:txBody>
                    <a:bodyPr/>
                    <a:lstStyle/>
                    <a:p>
                      <a:r>
                        <a:t>Oral NSAID (aceclofenac)</a:t>
                      </a:r>
                    </a:p>
                  </a:txBody>
                  <a:tcPr marL="91440" marR="91440" marT="45720" marB="45720"/>
                </a:tc>
              </a:tr>
              <a:tr h="428625">
                <a:tc>
                  <a:txBody>
                    <a:bodyPr/>
                    <a:lstStyle/>
                    <a:p>
                      <a:r>
                        <a:t>Primary action</a:t>
                      </a:r>
                    </a:p>
                  </a:txBody>
                  <a:tcPr marL="91440" marR="91440" marT="45720" marB="45720"/>
                </a:tc>
                <a:tc>
                  <a:txBody>
                    <a:bodyPr/>
                    <a:lstStyle/>
                    <a:p>
                      <a:r>
                        <a:t>Potent inhibition of cyclo-oxygenase and downstream prostaglandin synthesis</a:t>
                      </a:r>
                    </a:p>
                  </a:txBody>
                  <a:tcPr marL="91440" marR="91440" marT="45720" marB="45720"/>
                </a:tc>
              </a:tr>
              <a:tr h="428625">
                <a:tc>
                  <a:txBody>
                    <a:bodyPr/>
                    <a:lstStyle/>
                    <a:p>
                      <a:r>
                        <a:t>Clinical effect</a:t>
                      </a:r>
                    </a:p>
                  </a:txBody>
                  <a:tcPr marL="91440" marR="91440" marT="45720" marB="45720"/>
                </a:tc>
                <a:tc>
                  <a:txBody>
                    <a:bodyPr/>
                    <a:lstStyle/>
                    <a:p>
                      <a:r>
                        <a:t>Reduction of pain, swelling, and morning stiffness in approved inflammatory states</a:t>
                      </a:r>
                    </a:p>
                  </a:txBody>
                  <a:tcPr marL="91440" marR="91440" marT="45720" marB="45720"/>
                </a:tc>
              </a:tr>
              <a:tr h="428625">
                <a:tc>
                  <a:txBody>
                    <a:bodyPr/>
                    <a:lstStyle/>
                    <a:p>
                      <a:r>
                        <a:t>Compartment relevance</a:t>
                      </a:r>
                    </a:p>
                  </a:txBody>
                  <a:tcPr marL="91440" marR="91440" marT="45720" marB="45720"/>
                </a:tc>
                <a:tc>
                  <a:txBody>
                    <a:bodyPr/>
                    <a:lstStyle/>
                    <a:p>
                      <a:r>
                        <a:t>Penetrates synovial fluid at roughly 57% of plasma concentration</a:t>
                      </a:r>
                    </a:p>
                  </a:txBody>
                  <a:tcPr marL="91440" marR="91440" marT="45720" marB="45720"/>
                </a:tc>
              </a:tr>
              <a:tr h="428625">
                <a:tc>
                  <a:txBody>
                    <a:bodyPr/>
                    <a:lstStyle/>
                    <a:p>
                      <a:r>
                        <a:t>Key caution</a:t>
                      </a:r>
                    </a:p>
                  </a:txBody>
                  <a:tcPr marL="91440" marR="91440" marT="45720" marB="45720"/>
                </a:tc>
                <a:tc>
                  <a:txBody>
                    <a:bodyPr/>
                    <a:lstStyle/>
                    <a:p>
                      <a:r>
                        <a:t>Class risks remain: GI, renal, cardiovascular, and hepatic warnings</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6EB7E5CD-4913-4973-945E-C8E9EF983009}"/>
              </a:ext>
            </a:extLst>
          </p:cNvPr>
          <p:cNvSpPr>
            <a:spLocks xmlns:a="http://schemas.openxmlformats.org/drawingml/2006/main" noGrp="1"/>
          </p:cNvSpPr>
          <p:nvPr/>
        </p:nvSpPr>
        <p:spPr>
          <a:xfrm xmlns:a="http://schemas.openxmlformats.org/drawingml/2006/main">
            <a:off x="7429500" y="1466850"/>
            <a:ext cx="3962400" cy="1181100"/>
          </a:xfrm>
          <a:prstGeom xmlns:a="http://schemas.openxmlformats.org/drawingml/2006/main" prst="roundRect">
            <a:avLst>
              <a:gd name="adj" fmla="val 6452"/>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CDF90D35-7489-4E24-8957-644A2F0E25E2}"/>
              </a:ext>
            </a:extLst>
          </p:cNvPr>
          <p:cNvSpPr>
            <a:spLocks xmlns:a="http://schemas.openxmlformats.org/drawingml/2006/main" noGrp="1"/>
          </p:cNvSpPr>
          <p:nvPr/>
        </p:nvSpPr>
        <p:spPr>
          <a:xfrm xmlns:a="http://schemas.openxmlformats.org/drawingml/2006/main">
            <a:off x="7562850" y="1581150"/>
            <a:ext cx="36957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How to present it</a:t>
            </a:r>
          </a:p>
        </p:txBody>
      </p:sp>
      <p:sp>
        <p:nvSpPr>
          <p:cNvPr id="11" name="">
            <a:extLst xmlns:a="http://schemas.openxmlformats.org/drawingml/2006/main">
              <a:ext uri="{FF2B5EF4-FFF2-40B4-BE49-F238E27FC236}">
                <a16:creationId xmlns:a16="http://schemas.microsoft.com/office/drawing/2014/main" id="{4840E202-516D-4794-B3AD-704FC6924D78}"/>
              </a:ext>
            </a:extLst>
          </p:cNvPr>
          <p:cNvSpPr>
            <a:spLocks xmlns:a="http://schemas.openxmlformats.org/drawingml/2006/main" noGrp="1"/>
          </p:cNvSpPr>
          <p:nvPr/>
        </p:nvSpPr>
        <p:spPr>
          <a:xfrm xmlns:a="http://schemas.openxmlformats.org/drawingml/2006/main">
            <a:off x="7562850" y="1866900"/>
            <a:ext cx="3695700" cy="6858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85" b="0">
                <a:solidFill>
                  <a:srgbClr val="24313A"/>
                </a:solidFill>
                <a:latin typeface="Aptos"/>
                <a:ea typeface="Aptos"/>
                <a:cs typeface="Aptos"/>
              </a:defRPr>
            </a:pPr>
            <a:r>
              <a:rPr sz="885" b="0">
                <a:solidFill>
                  <a:srgbClr val="24313A"/>
                </a:solidFill>
                <a:latin typeface="Aptos"/>
                <a:ea typeface="Aptos"/>
                <a:cs typeface="Aptos"/>
              </a:rPr>
              <a:t>Say what it does at the tissue level, then say what that means for the patient: less pain and stiffness, not disease modification.</a:t>
            </a:r>
          </a:p>
        </p:txBody>
      </p:sp>
      <p:sp>
        <p:nvSpPr>
          <p:cNvPr id="12" name="">
            <a:extLst xmlns:a="http://schemas.openxmlformats.org/drawingml/2006/main">
              <a:ext uri="{FF2B5EF4-FFF2-40B4-BE49-F238E27FC236}">
                <a16:creationId xmlns:a16="http://schemas.microsoft.com/office/drawing/2014/main" id="{E3A34BF6-3F02-40BC-869B-46A51E27F921}"/>
              </a:ext>
            </a:extLst>
          </p:cNvPr>
          <p:cNvSpPr>
            <a:spLocks xmlns:a="http://schemas.openxmlformats.org/drawingml/2006/main" noGrp="1"/>
          </p:cNvSpPr>
          <p:nvPr/>
        </p:nvSpPr>
        <p:spPr>
          <a:xfrm xmlns:a="http://schemas.openxmlformats.org/drawingml/2006/main">
            <a:off x="7429500" y="2838450"/>
            <a:ext cx="3962400" cy="1181100"/>
          </a:xfrm>
          <a:prstGeom xmlns:a="http://schemas.openxmlformats.org/drawingml/2006/main" prst="roundRect">
            <a:avLst>
              <a:gd name="adj" fmla="val 6452"/>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58C34D27-255D-4958-8432-16B3E6CBEAB6}"/>
              </a:ext>
            </a:extLst>
          </p:cNvPr>
          <p:cNvSpPr>
            <a:spLocks xmlns:a="http://schemas.openxmlformats.org/drawingml/2006/main" noGrp="1"/>
          </p:cNvSpPr>
          <p:nvPr/>
        </p:nvSpPr>
        <p:spPr>
          <a:xfrm xmlns:a="http://schemas.openxmlformats.org/drawingml/2006/main">
            <a:off x="7562850" y="2952750"/>
            <a:ext cx="36957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not to do</a:t>
            </a:r>
          </a:p>
        </p:txBody>
      </p:sp>
      <p:sp>
        <p:nvSpPr>
          <p:cNvPr id="14" name="">
            <a:extLst xmlns:a="http://schemas.openxmlformats.org/drawingml/2006/main">
              <a:ext uri="{FF2B5EF4-FFF2-40B4-BE49-F238E27FC236}">
                <a16:creationId xmlns:a16="http://schemas.microsoft.com/office/drawing/2014/main" id="{0D97D432-EAF3-4C7A-821A-70DF0288BD7A}"/>
              </a:ext>
            </a:extLst>
          </p:cNvPr>
          <p:cNvSpPr>
            <a:spLocks xmlns:a="http://schemas.openxmlformats.org/drawingml/2006/main" noGrp="1"/>
          </p:cNvSpPr>
          <p:nvPr/>
        </p:nvSpPr>
        <p:spPr>
          <a:xfrm xmlns:a="http://schemas.openxmlformats.org/drawingml/2006/main">
            <a:off x="7562850" y="3238500"/>
            <a:ext cx="3695700" cy="6858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85" b="0">
                <a:solidFill>
                  <a:srgbClr val="24313A"/>
                </a:solidFill>
                <a:latin typeface="Aptos"/>
                <a:ea typeface="Aptos"/>
                <a:cs typeface="Aptos"/>
              </a:defRPr>
            </a:pPr>
            <a:r>
              <a:rPr sz="885" b="0">
                <a:solidFill>
                  <a:srgbClr val="24313A"/>
                </a:solidFill>
                <a:latin typeface="Aptos"/>
                <a:ea typeface="Aptos"/>
                <a:cs typeface="Aptos"/>
              </a:rPr>
              <a:t>Do not imply that COX inhibition eliminates all inflammatory risk or makes the drug broadly safer than other NSAIDs.</a:t>
            </a:r>
          </a:p>
        </p:txBody>
      </p:sp>
      <p:sp>
        <p:nvSpPr>
          <p:cNvPr id="15" name="">
            <a:extLst xmlns:a="http://schemas.openxmlformats.org/drawingml/2006/main">
              <a:ext uri="{FF2B5EF4-FFF2-40B4-BE49-F238E27FC236}">
                <a16:creationId xmlns:a16="http://schemas.microsoft.com/office/drawing/2014/main" id="{34E132D3-1EDE-4498-AC05-FF35652050EE}"/>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Aceclofenac is a symptom-relief NSAID; the approved label still governs final use.</a:t>
            </a:r>
          </a:p>
        </p:txBody>
      </p:sp>
    </p:spTree>
    <p:extLst>
      <p:ext uri="{BB962C8B-B14F-4D97-AF65-F5344CB8AC3E}">
        <p14:creationId xmlns:p14="http://schemas.microsoft.com/office/powerpoint/2010/main" val="16886674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FC11536-057F-4E21-9BFC-CE15F993BE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5D96CAD-07DC-4A96-890F-B694AEBFC91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CE977DB6-3A44-4272-A5EB-FC7EB3E56E68}"/>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Pharmacokinetics at a glance</a:t>
            </a:r>
          </a:p>
        </p:txBody>
      </p:sp>
      <p:sp>
        <p:nvSpPr>
          <p:cNvPr id="4" name="">
            <a:extLst xmlns:a="http://schemas.openxmlformats.org/drawingml/2006/main">
              <a:ext uri="{FF2B5EF4-FFF2-40B4-BE49-F238E27FC236}">
                <a16:creationId xmlns:a16="http://schemas.microsoft.com/office/drawing/2014/main" id="{AC27CF7E-AB73-4283-920A-9E3B7C01F52E}"/>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is the most important bridge between chemistry and prescribing practicality.</a:t>
            </a:r>
          </a:p>
        </p:txBody>
      </p:sp>
      <p:sp>
        <p:nvSpPr>
          <p:cNvPr id="5" name="">
            <a:extLst xmlns:a="http://schemas.openxmlformats.org/drawingml/2006/main">
              <a:ext uri="{FF2B5EF4-FFF2-40B4-BE49-F238E27FC236}">
                <a16:creationId xmlns:a16="http://schemas.microsoft.com/office/drawing/2014/main" id="{6F532A62-710E-426C-B67F-37341401F433}"/>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B4EF4A2F-CBF0-449F-AD96-445252EE76F4}"/>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PubMed 32898192; PubMed 17090444</a:t>
            </a:r>
          </a:p>
        </p:txBody>
      </p:sp>
      <p:sp>
        <p:nvSpPr>
          <p:cNvPr id="7" name="">
            <a:extLst xmlns:a="http://schemas.openxmlformats.org/drawingml/2006/main">
              <a:ext uri="{FF2B5EF4-FFF2-40B4-BE49-F238E27FC236}">
                <a16:creationId xmlns:a16="http://schemas.microsoft.com/office/drawing/2014/main" id="{9B8F4BCA-2DD2-4CA8-91D8-5177CEE0D463}"/>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6/25</a:t>
            </a:r>
          </a:p>
        </p:txBody>
      </p:sp>
      <p:graphicFrame>
        <p:nvGraphicFramePr>
          <p:cNvPr id="8" name=""/>
          <p:cNvGraphicFramePr/>
          <p:nvPr/>
        </p:nvGraphicFramePr>
        <p:xfrm>
          <a:off xmlns:a="http://schemas.openxmlformats.org/drawingml/2006/main" x="609600" y="1466850"/>
          <a:ext xmlns:a="http://schemas.openxmlformats.org/drawingml/2006/main" cx="6724650" cy="2781300"/>
        </p:xfrm>
        <a:graphic xmlns:a="http://schemas.openxmlformats.org/drawingml/2006/main">
          <a:graphicData uri="http://schemas.openxmlformats.org/drawingml/2006/table">
            <a:tbl>
              <a:tblPr/>
              <a:tblGrid>
                <a:gridCol w="1748409"/>
                <a:gridCol w="4976241"/>
              </a:tblGrid>
              <a:tr h="463550">
                <a:tc>
                  <a:txBody>
                    <a:bodyPr/>
                    <a:lstStyle/>
                    <a:p>
                      <a:r>
                        <a:rPr sz="750" b="1">
                          <a:solidFill>
                            <a:srgbClr val="FFFFFF"/>
                          </a:solidFill>
                          <a:latin typeface="Aptos"/>
                          <a:ea typeface="Aptos"/>
                          <a:cs typeface="Aptos"/>
                        </a:rPr>
                        <a:t>PK domain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Practical HCP meaning</a:t>
                      </a:r>
                    </a:p>
                  </a:txBody>
                  <a:tcPr marL="91440" marR="91440" marT="45720" marB="45720">
                    <a:lnB w="9525">
                      <a:solidFill>
                        <a:srgbClr val="FFFFFF"/>
                      </a:solidFill>
                    </a:lnB>
                    <a:solidFill>
                      <a:srgbClr val="16324F"/>
                    </a:solidFill>
                  </a:tcPr>
                </a:tc>
              </a:tr>
              <a:tr h="463550">
                <a:tc>
                  <a:txBody>
                    <a:bodyPr/>
                    <a:lstStyle/>
                    <a:p>
                      <a:r>
                        <a:t>Absorption</a:t>
                      </a:r>
                    </a:p>
                  </a:txBody>
                  <a:tcPr marL="91440" marR="91440" marT="45720" marB="45720"/>
                </a:tc>
                <a:tc>
                  <a:txBody>
                    <a:bodyPr/>
                    <a:lstStyle/>
                    <a:p>
                      <a:r>
                        <a:t>Rapid and complete oral absorption as unchanged drug; peak plasma levels at about 1.25 to 3.0 hours.</a:t>
                      </a:r>
                    </a:p>
                  </a:txBody>
                  <a:tcPr marL="91440" marR="91440" marT="45720" marB="45720"/>
                </a:tc>
              </a:tr>
              <a:tr h="463550">
                <a:tc>
                  <a:txBody>
                    <a:bodyPr/>
                    <a:lstStyle/>
                    <a:p>
                      <a:r>
                        <a:t>Distribution</a:t>
                      </a:r>
                    </a:p>
                  </a:txBody>
                  <a:tcPr marL="91440" marR="91440" marT="45720" marB="45720"/>
                </a:tc>
                <a:tc>
                  <a:txBody>
                    <a:bodyPr/>
                    <a:lstStyle/>
                    <a:p>
                      <a:r>
                        <a:t>High protein binding (&gt;99%); synovial fluid concentrations reach about 57% of plasma.</a:t>
                      </a:r>
                    </a:p>
                  </a:txBody>
                  <a:tcPr marL="91440" marR="91440" marT="45720" marB="45720"/>
                </a:tc>
              </a:tr>
              <a:tr h="463550">
                <a:tc>
                  <a:txBody>
                    <a:bodyPr/>
                    <a:lstStyle/>
                    <a:p>
                      <a:r>
                        <a:t>Metabolism</a:t>
                      </a:r>
                    </a:p>
                  </a:txBody>
                  <a:tcPr marL="91440" marR="91440" marT="45720" marB="45720"/>
                </a:tc>
                <a:tc>
                  <a:txBody>
                    <a:bodyPr/>
                    <a:lstStyle/>
                    <a:p>
                      <a:r>
                        <a:t>Main circulating metabolite is 4'-hydroxyaceclofenac.</a:t>
                      </a:r>
                    </a:p>
                  </a:txBody>
                  <a:tcPr marL="91440" marR="91440" marT="45720" marB="45720"/>
                </a:tc>
              </a:tr>
              <a:tr h="463550">
                <a:tc>
                  <a:txBody>
                    <a:bodyPr/>
                    <a:lstStyle/>
                    <a:p>
                      <a:r>
                        <a:t>Excretion</a:t>
                      </a:r>
                    </a:p>
                  </a:txBody>
                  <a:tcPr marL="91440" marR="91440" marT="45720" marB="45720"/>
                </a:tc>
                <a:tc>
                  <a:txBody>
                    <a:bodyPr/>
                    <a:lstStyle/>
                    <a:p>
                      <a:r>
                        <a:t>About two-thirds of the dose is excreted in urine, mainly as hydroxymetabolites.</a:t>
                      </a:r>
                    </a:p>
                  </a:txBody>
                  <a:tcPr marL="91440" marR="91440" marT="45720" marB="45720"/>
                </a:tc>
              </a:tr>
              <a:tr h="463550">
                <a:tc>
                  <a:txBody>
                    <a:bodyPr/>
                    <a:lstStyle/>
                    <a:p>
                      <a:r>
                        <a:t>Half-life</a:t>
                      </a:r>
                    </a:p>
                  </a:txBody>
                  <a:tcPr marL="91440" marR="91440" marT="45720" marB="45720"/>
                </a:tc>
                <a:tc>
                  <a:txBody>
                    <a:bodyPr/>
                    <a:lstStyle/>
                    <a:p>
                      <a:r>
                        <a:t>Mean plasma elimination half-life is around 4 hours.</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0CA98BF1-30A5-474D-9322-A8627F4603E5}"/>
              </a:ext>
            </a:extLst>
          </p:cNvPr>
          <p:cNvSpPr>
            <a:spLocks xmlns:a="http://schemas.openxmlformats.org/drawingml/2006/main" noGrp="1"/>
          </p:cNvSpPr>
          <p:nvPr/>
        </p:nvSpPr>
        <p:spPr>
          <a:xfrm xmlns:a="http://schemas.openxmlformats.org/drawingml/2006/main">
            <a:off x="7772400" y="1485900"/>
            <a:ext cx="3238500" cy="1276350"/>
          </a:xfrm>
          <a:prstGeom xmlns:a="http://schemas.openxmlformats.org/drawingml/2006/main" prst="roundRect">
            <a:avLst>
              <a:gd name="adj" fmla="val 5970"/>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8DBAD711-33FC-44ED-B9F0-B741D0B1D9C1}"/>
              </a:ext>
            </a:extLst>
          </p:cNvPr>
          <p:cNvSpPr>
            <a:spLocks xmlns:a="http://schemas.openxmlformats.org/drawingml/2006/main" noGrp="1"/>
          </p:cNvSpPr>
          <p:nvPr/>
        </p:nvSpPr>
        <p:spPr>
          <a:xfrm xmlns:a="http://schemas.openxmlformats.org/drawingml/2006/main">
            <a:off x="7905750" y="1600200"/>
            <a:ext cx="29718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Why PK matters</a:t>
            </a:r>
          </a:p>
        </p:txBody>
      </p:sp>
      <p:sp>
        <p:nvSpPr>
          <p:cNvPr id="11" name="">
            <a:extLst xmlns:a="http://schemas.openxmlformats.org/drawingml/2006/main">
              <a:ext uri="{FF2B5EF4-FFF2-40B4-BE49-F238E27FC236}">
                <a16:creationId xmlns:a16="http://schemas.microsoft.com/office/drawing/2014/main" id="{CC832D63-FEA0-4273-8BE4-4583804A15EF}"/>
              </a:ext>
            </a:extLst>
          </p:cNvPr>
          <p:cNvSpPr>
            <a:spLocks xmlns:a="http://schemas.openxmlformats.org/drawingml/2006/main" noGrp="1"/>
          </p:cNvSpPr>
          <p:nvPr/>
        </p:nvSpPr>
        <p:spPr>
          <a:xfrm xmlns:a="http://schemas.openxmlformats.org/drawingml/2006/main">
            <a:off x="7905750" y="1885950"/>
            <a:ext cx="2971800" cy="7810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These numbers help HCPs understand onset, duration, synovial exposure, and why the drug is not just a generic NSAID concept.</a:t>
            </a:r>
          </a:p>
        </p:txBody>
      </p:sp>
      <p:sp>
        <p:nvSpPr>
          <p:cNvPr id="12" name="">
            <a:extLst xmlns:a="http://schemas.openxmlformats.org/drawingml/2006/main">
              <a:ext uri="{FF2B5EF4-FFF2-40B4-BE49-F238E27FC236}">
                <a16:creationId xmlns:a16="http://schemas.microsoft.com/office/drawing/2014/main" id="{66D64C78-98B3-4BBC-B468-DFFDB0E9FFFD}"/>
              </a:ext>
            </a:extLst>
          </p:cNvPr>
          <p:cNvSpPr>
            <a:spLocks xmlns:a="http://schemas.openxmlformats.org/drawingml/2006/main" noGrp="1"/>
          </p:cNvSpPr>
          <p:nvPr/>
        </p:nvSpPr>
        <p:spPr>
          <a:xfrm xmlns:a="http://schemas.openxmlformats.org/drawingml/2006/main">
            <a:off x="7772400" y="2933700"/>
            <a:ext cx="3238500" cy="1314450"/>
          </a:xfrm>
          <a:prstGeom xmlns:a="http://schemas.openxmlformats.org/drawingml/2006/main" prst="roundRect">
            <a:avLst>
              <a:gd name="adj" fmla="val 5797"/>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8D8B8547-2F5B-427D-8FCF-0D2FED358ABC}"/>
              </a:ext>
            </a:extLst>
          </p:cNvPr>
          <p:cNvSpPr>
            <a:spLocks xmlns:a="http://schemas.openxmlformats.org/drawingml/2006/main" noGrp="1"/>
          </p:cNvSpPr>
          <p:nvPr/>
        </p:nvSpPr>
        <p:spPr>
          <a:xfrm xmlns:a="http://schemas.openxmlformats.org/drawingml/2006/main">
            <a:off x="7905750" y="3048000"/>
            <a:ext cx="29718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Demo caution</a:t>
            </a:r>
          </a:p>
        </p:txBody>
      </p:sp>
      <p:sp>
        <p:nvSpPr>
          <p:cNvPr id="14" name="">
            <a:extLst xmlns:a="http://schemas.openxmlformats.org/drawingml/2006/main">
              <a:ext uri="{FF2B5EF4-FFF2-40B4-BE49-F238E27FC236}">
                <a16:creationId xmlns:a16="http://schemas.microsoft.com/office/drawing/2014/main" id="{143DCF4F-E323-455D-ACB4-2443EF9516C4}"/>
              </a:ext>
            </a:extLst>
          </p:cNvPr>
          <p:cNvSpPr>
            <a:spLocks xmlns:a="http://schemas.openxmlformats.org/drawingml/2006/main" noGrp="1"/>
          </p:cNvSpPr>
          <p:nvPr/>
        </p:nvSpPr>
        <p:spPr>
          <a:xfrm xmlns:a="http://schemas.openxmlformats.org/drawingml/2006/main">
            <a:off x="7905750" y="3333750"/>
            <a:ext cx="2971800" cy="8191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Use the approved PI for local dosing, food instructions, and special-population wording.</a:t>
            </a:r>
          </a:p>
        </p:txBody>
      </p:sp>
      <p:sp>
        <p:nvSpPr>
          <p:cNvPr id="15" name="">
            <a:extLst xmlns:a="http://schemas.openxmlformats.org/drawingml/2006/main">
              <a:ext uri="{FF2B5EF4-FFF2-40B4-BE49-F238E27FC236}">
                <a16:creationId xmlns:a16="http://schemas.microsoft.com/office/drawing/2014/main" id="{2F641D1B-2707-4E78-9561-8A54D29CA505}"/>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PK data should always be paired with the approved label.</a:t>
            </a:r>
          </a:p>
        </p:txBody>
      </p:sp>
    </p:spTree>
    <p:extLst>
      <p:ext uri="{BB962C8B-B14F-4D97-AF65-F5344CB8AC3E}">
        <p14:creationId xmlns:p14="http://schemas.microsoft.com/office/powerpoint/2010/main" val="6042637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0575A0-17DF-4D7C-BA31-EEBF4F4343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168BA1A-2FB2-43F0-A0A6-E53DA2D4C72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593FE7E6-7CD4-4E2C-B0C0-A2B5E94BAE63}"/>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Evidence map: what actually supports the story</a:t>
            </a:r>
          </a:p>
        </p:txBody>
      </p:sp>
      <p:sp>
        <p:nvSpPr>
          <p:cNvPr id="4" name="">
            <a:extLst xmlns:a="http://schemas.openxmlformats.org/drawingml/2006/main">
              <a:ext uri="{FF2B5EF4-FFF2-40B4-BE49-F238E27FC236}">
                <a16:creationId xmlns:a16="http://schemas.microsoft.com/office/drawing/2014/main" id="{2D29C254-5D9A-49D7-A67E-03A22BE99169}"/>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convincing HCP deck shows the evidence hierarchy, not just a list of claims.</a:t>
            </a:r>
          </a:p>
        </p:txBody>
      </p:sp>
      <p:sp>
        <p:nvSpPr>
          <p:cNvPr id="5" name="">
            <a:extLst xmlns:a="http://schemas.openxmlformats.org/drawingml/2006/main">
              <a:ext uri="{FF2B5EF4-FFF2-40B4-BE49-F238E27FC236}">
                <a16:creationId xmlns:a16="http://schemas.microsoft.com/office/drawing/2014/main" id="{E9FD4D80-22BD-49E6-A4FD-F635614034D4}"/>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A74EEE24-13B3-4763-8965-B8A588ED1F48}"/>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PMC5335881; PMC8643213; PubMed 8853164; PubMed 12740678; PubMed 32341838</a:t>
            </a:r>
          </a:p>
        </p:txBody>
      </p:sp>
      <p:sp>
        <p:nvSpPr>
          <p:cNvPr id="7" name="">
            <a:extLst xmlns:a="http://schemas.openxmlformats.org/drawingml/2006/main">
              <a:ext uri="{FF2B5EF4-FFF2-40B4-BE49-F238E27FC236}">
                <a16:creationId xmlns:a16="http://schemas.microsoft.com/office/drawing/2014/main" id="{E55A7C7C-B895-463C-9507-93094525C75E}"/>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7/25</a:t>
            </a:r>
          </a:p>
        </p:txBody>
      </p:sp>
      <p:sp>
        <p:nvSpPr>
          <p:cNvPr id="8" name="">
            <a:extLst xmlns:a="http://schemas.openxmlformats.org/drawingml/2006/main">
              <a:ext uri="{FF2B5EF4-FFF2-40B4-BE49-F238E27FC236}">
                <a16:creationId xmlns:a16="http://schemas.microsoft.com/office/drawing/2014/main" id="{5FC2CB57-C555-4984-AAF6-16E53167F10A}"/>
              </a:ext>
            </a:extLst>
          </p:cNvPr>
          <p:cNvSpPr>
            <a:spLocks xmlns:a="http://schemas.openxmlformats.org/drawingml/2006/main" noGrp="1"/>
          </p:cNvSpPr>
          <p:nvPr/>
        </p:nvSpPr>
        <p:spPr>
          <a:xfrm xmlns:a="http://schemas.openxmlformats.org/drawingml/2006/main">
            <a:off x="609600" y="1524000"/>
            <a:ext cx="2514600" cy="2095500"/>
          </a:xfrm>
          <a:prstGeom xmlns:a="http://schemas.openxmlformats.org/drawingml/2006/main" prst="roundRect">
            <a:avLst>
              <a:gd name="adj" fmla="val 3636"/>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B5C25AA6-5313-40D6-9452-1ED299F621C4}"/>
              </a:ext>
            </a:extLst>
          </p:cNvPr>
          <p:cNvSpPr>
            <a:spLocks xmlns:a="http://schemas.openxmlformats.org/drawingml/2006/main" noGrp="1"/>
          </p:cNvSpPr>
          <p:nvPr/>
        </p:nvSpPr>
        <p:spPr>
          <a:xfrm xmlns:a="http://schemas.openxmlformats.org/drawingml/2006/main">
            <a:off x="742950" y="1638300"/>
            <a:ext cx="22479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OA meta-analysis</a:t>
            </a:r>
          </a:p>
        </p:txBody>
      </p:sp>
      <p:sp>
        <p:nvSpPr>
          <p:cNvPr id="10" name="">
            <a:extLst xmlns:a="http://schemas.openxmlformats.org/drawingml/2006/main">
              <a:ext uri="{FF2B5EF4-FFF2-40B4-BE49-F238E27FC236}">
                <a16:creationId xmlns:a16="http://schemas.microsoft.com/office/drawing/2014/main" id="{F17214A9-FE93-4A59-87F4-88EA5FA4E1DD}"/>
              </a:ext>
            </a:extLst>
          </p:cNvPr>
          <p:cNvSpPr>
            <a:spLocks xmlns:a="http://schemas.openxmlformats.org/drawingml/2006/main" noGrp="1"/>
          </p:cNvSpPr>
          <p:nvPr/>
        </p:nvSpPr>
        <p:spPr>
          <a:xfrm xmlns:a="http://schemas.openxmlformats.org/drawingml/2006/main">
            <a:off x="742950" y="1924050"/>
            <a:ext cx="2247900" cy="16002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Randomized controlled trial synthesis supports symptom benefit in osteoarthritis and gives the clearest efficacy picture.</a:t>
            </a:r>
          </a:p>
        </p:txBody>
      </p:sp>
      <p:sp>
        <p:nvSpPr>
          <p:cNvPr id="11" name="">
            <a:extLst xmlns:a="http://schemas.openxmlformats.org/drawingml/2006/main">
              <a:ext uri="{FF2B5EF4-FFF2-40B4-BE49-F238E27FC236}">
                <a16:creationId xmlns:a16="http://schemas.microsoft.com/office/drawing/2014/main" id="{B86C2A4C-2842-496E-BC32-2BD5356E6CED}"/>
              </a:ext>
            </a:extLst>
          </p:cNvPr>
          <p:cNvSpPr>
            <a:spLocks xmlns:a="http://schemas.openxmlformats.org/drawingml/2006/main" noGrp="1"/>
          </p:cNvSpPr>
          <p:nvPr/>
        </p:nvSpPr>
        <p:spPr>
          <a:xfrm xmlns:a="http://schemas.openxmlformats.org/drawingml/2006/main">
            <a:off x="3352800" y="1524000"/>
            <a:ext cx="2514600" cy="2095500"/>
          </a:xfrm>
          <a:prstGeom xmlns:a="http://schemas.openxmlformats.org/drawingml/2006/main" prst="roundRect">
            <a:avLst>
              <a:gd name="adj" fmla="val 3636"/>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19A29120-AE58-4982-9258-528A72CC4F80}"/>
              </a:ext>
            </a:extLst>
          </p:cNvPr>
          <p:cNvSpPr>
            <a:spLocks xmlns:a="http://schemas.openxmlformats.org/drawingml/2006/main" noGrp="1"/>
          </p:cNvSpPr>
          <p:nvPr/>
        </p:nvSpPr>
        <p:spPr>
          <a:xfrm xmlns:a="http://schemas.openxmlformats.org/drawingml/2006/main">
            <a:off x="3486150" y="1638300"/>
            <a:ext cx="22479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Inflammatory arthritis RCTs</a:t>
            </a:r>
          </a:p>
        </p:txBody>
      </p:sp>
      <p:sp>
        <p:nvSpPr>
          <p:cNvPr id="13" name="">
            <a:extLst xmlns:a="http://schemas.openxmlformats.org/drawingml/2006/main">
              <a:ext uri="{FF2B5EF4-FFF2-40B4-BE49-F238E27FC236}">
                <a16:creationId xmlns:a16="http://schemas.microsoft.com/office/drawing/2014/main" id="{2393F055-A332-4278-91DE-CBED57456E7B}"/>
              </a:ext>
            </a:extLst>
          </p:cNvPr>
          <p:cNvSpPr>
            <a:spLocks xmlns:a="http://schemas.openxmlformats.org/drawingml/2006/main" noGrp="1"/>
          </p:cNvSpPr>
          <p:nvPr/>
        </p:nvSpPr>
        <p:spPr>
          <a:xfrm xmlns:a="http://schemas.openxmlformats.org/drawingml/2006/main">
            <a:off x="3486150" y="1924050"/>
            <a:ext cx="2247900" cy="16002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Older placebo- and active-controlled trials show reduced pain, stiffness, and improved function in RA and related disease states.</a:t>
            </a:r>
          </a:p>
        </p:txBody>
      </p:sp>
      <p:sp>
        <p:nvSpPr>
          <p:cNvPr id="14" name="">
            <a:extLst xmlns:a="http://schemas.openxmlformats.org/drawingml/2006/main">
              <a:ext uri="{FF2B5EF4-FFF2-40B4-BE49-F238E27FC236}">
                <a16:creationId xmlns:a16="http://schemas.microsoft.com/office/drawing/2014/main" id="{1CA00AC0-4364-4398-B4F4-FFD141BBA579}"/>
              </a:ext>
            </a:extLst>
          </p:cNvPr>
          <p:cNvSpPr>
            <a:spLocks xmlns:a="http://schemas.openxmlformats.org/drawingml/2006/main" noGrp="1"/>
          </p:cNvSpPr>
          <p:nvPr/>
        </p:nvSpPr>
        <p:spPr>
          <a:xfrm xmlns:a="http://schemas.openxmlformats.org/drawingml/2006/main">
            <a:off x="6096000" y="1524000"/>
            <a:ext cx="2514600" cy="2095500"/>
          </a:xfrm>
          <a:prstGeom xmlns:a="http://schemas.openxmlformats.org/drawingml/2006/main" prst="roundRect">
            <a:avLst>
              <a:gd name="adj" fmla="val 3636"/>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6F7AB1D0-9396-4EBF-83F7-5DC6B2009C1C}"/>
              </a:ext>
            </a:extLst>
          </p:cNvPr>
          <p:cNvSpPr>
            <a:spLocks xmlns:a="http://schemas.openxmlformats.org/drawingml/2006/main" noGrp="1"/>
          </p:cNvSpPr>
          <p:nvPr/>
        </p:nvSpPr>
        <p:spPr>
          <a:xfrm xmlns:a="http://schemas.openxmlformats.org/drawingml/2006/main">
            <a:off x="6229350" y="1638300"/>
            <a:ext cx="22479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Acute back pain RCTs</a:t>
            </a:r>
          </a:p>
        </p:txBody>
      </p:sp>
      <p:sp>
        <p:nvSpPr>
          <p:cNvPr id="16" name="">
            <a:extLst xmlns:a="http://schemas.openxmlformats.org/drawingml/2006/main">
              <a:ext uri="{FF2B5EF4-FFF2-40B4-BE49-F238E27FC236}">
                <a16:creationId xmlns:a16="http://schemas.microsoft.com/office/drawing/2014/main" id="{9F450965-E664-4F74-9A4F-9B029A6F64B9}"/>
              </a:ext>
            </a:extLst>
          </p:cNvPr>
          <p:cNvSpPr>
            <a:spLocks xmlns:a="http://schemas.openxmlformats.org/drawingml/2006/main" noGrp="1"/>
          </p:cNvSpPr>
          <p:nvPr/>
        </p:nvSpPr>
        <p:spPr>
          <a:xfrm xmlns:a="http://schemas.openxmlformats.org/drawingml/2006/main">
            <a:off x="6229350" y="1924050"/>
            <a:ext cx="2247900" cy="16002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Short-term studies inform symptomatic use in acute low back pain and spine-related pain.</a:t>
            </a:r>
          </a:p>
        </p:txBody>
      </p:sp>
      <p:sp>
        <p:nvSpPr>
          <p:cNvPr id="17" name="">
            <a:extLst xmlns:a="http://schemas.openxmlformats.org/drawingml/2006/main">
              <a:ext uri="{FF2B5EF4-FFF2-40B4-BE49-F238E27FC236}">
                <a16:creationId xmlns:a16="http://schemas.microsoft.com/office/drawing/2014/main" id="{0368E761-4AE1-4C18-84AB-8AD084F34984}"/>
              </a:ext>
            </a:extLst>
          </p:cNvPr>
          <p:cNvSpPr>
            <a:spLocks xmlns:a="http://schemas.openxmlformats.org/drawingml/2006/main" noGrp="1"/>
          </p:cNvSpPr>
          <p:nvPr/>
        </p:nvSpPr>
        <p:spPr>
          <a:xfrm xmlns:a="http://schemas.openxmlformats.org/drawingml/2006/main">
            <a:off x="8839200" y="1524000"/>
            <a:ext cx="2743200" cy="2095500"/>
          </a:xfrm>
          <a:prstGeom xmlns:a="http://schemas.openxmlformats.org/drawingml/2006/main" prst="roundRect">
            <a:avLst>
              <a:gd name="adj" fmla="val 3636"/>
            </a:avLst>
          </a:prstGeom>
          <a:solidFill xmlns:a="http://schemas.openxmlformats.org/drawingml/2006/main">
            <a:srgbClr val="E6F4EA"/>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9F52CFD8-32F2-41CB-9F41-16265B0A8095}"/>
              </a:ext>
            </a:extLst>
          </p:cNvPr>
          <p:cNvSpPr>
            <a:spLocks xmlns:a="http://schemas.openxmlformats.org/drawingml/2006/main" noGrp="1"/>
          </p:cNvSpPr>
          <p:nvPr/>
        </p:nvSpPr>
        <p:spPr>
          <a:xfrm xmlns:a="http://schemas.openxmlformats.org/drawingml/2006/main">
            <a:off x="8972550" y="1638300"/>
            <a:ext cx="24765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Label and PK data</a:t>
            </a:r>
          </a:p>
        </p:txBody>
      </p:sp>
      <p:sp>
        <p:nvSpPr>
          <p:cNvPr id="19" name="">
            <a:extLst xmlns:a="http://schemas.openxmlformats.org/drawingml/2006/main">
              <a:ext uri="{FF2B5EF4-FFF2-40B4-BE49-F238E27FC236}">
                <a16:creationId xmlns:a16="http://schemas.microsoft.com/office/drawing/2014/main" id="{79392A71-EAB1-4900-B9FA-A7ABFDA23A2C}"/>
              </a:ext>
            </a:extLst>
          </p:cNvPr>
          <p:cNvSpPr>
            <a:spLocks xmlns:a="http://schemas.openxmlformats.org/drawingml/2006/main" noGrp="1"/>
          </p:cNvSpPr>
          <p:nvPr/>
        </p:nvSpPr>
        <p:spPr>
          <a:xfrm xmlns:a="http://schemas.openxmlformats.org/drawingml/2006/main">
            <a:off x="8972550" y="1924050"/>
            <a:ext cx="2476500" cy="16002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40" b="0">
                <a:solidFill>
                  <a:srgbClr val="24313A"/>
                </a:solidFill>
                <a:latin typeface="Aptos"/>
                <a:ea typeface="Aptos"/>
                <a:cs typeface="Aptos"/>
              </a:defRPr>
            </a:pPr>
            <a:r>
              <a:rPr sz="840" b="0">
                <a:solidFill>
                  <a:srgbClr val="24313A"/>
                </a:solidFill>
                <a:latin typeface="Aptos"/>
                <a:ea typeface="Aptos"/>
                <a:cs typeface="Aptos"/>
              </a:rPr>
              <a:t>The PI anchors dose, safety, PK, and special-population wording.</a:t>
            </a:r>
          </a:p>
        </p:txBody>
      </p:sp>
      <p:sp>
        <p:nvSpPr>
          <p:cNvPr id="20" name="">
            <a:extLst xmlns:a="http://schemas.openxmlformats.org/drawingml/2006/main">
              <a:ext uri="{FF2B5EF4-FFF2-40B4-BE49-F238E27FC236}">
                <a16:creationId xmlns:a16="http://schemas.microsoft.com/office/drawing/2014/main" id="{5FB1D4BD-BFCB-44B2-8CA2-806DEF00633A}"/>
              </a:ext>
            </a:extLst>
          </p:cNvPr>
          <p:cNvSpPr>
            <a:spLocks xmlns:a="http://schemas.openxmlformats.org/drawingml/2006/main" noGrp="1"/>
          </p:cNvSpPr>
          <p:nvPr/>
        </p:nvSpPr>
        <p:spPr>
          <a:xfrm xmlns:a="http://schemas.openxmlformats.org/drawingml/2006/main">
            <a:off x="990600" y="4152900"/>
            <a:ext cx="102108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9E2E8"/>
            </a:solidFill>
            <a:prstDash val="solid"/>
          </a:ln>
        </p:spPr>
      </p:sp>
      <p:sp>
        <p:nvSpPr>
          <p:cNvPr id="21" name="">
            <a:extLst xmlns:a="http://schemas.openxmlformats.org/drawingml/2006/main">
              <a:ext uri="{FF2B5EF4-FFF2-40B4-BE49-F238E27FC236}">
                <a16:creationId xmlns:a16="http://schemas.microsoft.com/office/drawing/2014/main" id="{F148BD97-A3BC-47CA-86B2-CECDE797958F}"/>
              </a:ext>
            </a:extLst>
          </p:cNvPr>
          <p:cNvSpPr>
            <a:spLocks xmlns:a="http://schemas.openxmlformats.org/drawingml/2006/main" noGrp="1"/>
          </p:cNvSpPr>
          <p:nvPr/>
        </p:nvSpPr>
        <p:spPr>
          <a:xfrm xmlns:a="http://schemas.openxmlformats.org/drawingml/2006/main">
            <a:off x="1123950" y="42672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Balanced interpretation</a:t>
            </a:r>
          </a:p>
        </p:txBody>
      </p:sp>
      <p:sp>
        <p:nvSpPr>
          <p:cNvPr id="22" name="">
            <a:extLst xmlns:a="http://schemas.openxmlformats.org/drawingml/2006/main">
              <a:ext uri="{FF2B5EF4-FFF2-40B4-BE49-F238E27FC236}">
                <a16:creationId xmlns:a16="http://schemas.microsoft.com/office/drawing/2014/main" id="{4F1B81E3-998D-4996-BE27-48CD59A97C50}"/>
              </a:ext>
            </a:extLst>
          </p:cNvPr>
          <p:cNvSpPr>
            <a:spLocks xmlns:a="http://schemas.openxmlformats.org/drawingml/2006/main" noGrp="1"/>
          </p:cNvSpPr>
          <p:nvPr/>
        </p:nvSpPr>
        <p:spPr>
          <a:xfrm xmlns:a="http://schemas.openxmlformats.org/drawingml/2006/main">
            <a:off x="1123950" y="4552950"/>
            <a:ext cx="99441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20" b="0">
                <a:solidFill>
                  <a:srgbClr val="24313A"/>
                </a:solidFill>
                <a:latin typeface="Aptos"/>
                <a:ea typeface="Aptos"/>
                <a:cs typeface="Aptos"/>
              </a:defRPr>
            </a:pPr>
            <a:r>
              <a:rPr sz="1020" b="0">
                <a:solidFill>
                  <a:srgbClr val="24313A"/>
                </a:solidFill>
                <a:latin typeface="Aptos"/>
                <a:ea typeface="Aptos"/>
                <a:cs typeface="Aptos"/>
              </a:rPr>
              <a:t>The strongest statements in the deck should come from the OA meta-analysis, the RA trial, the low-back-pain study, and the PI. Everything else should support those anchors rather than compete with them.</a:t>
            </a:r>
          </a:p>
        </p:txBody>
      </p:sp>
    </p:spTree>
    <p:extLst>
      <p:ext uri="{BB962C8B-B14F-4D97-AF65-F5344CB8AC3E}">
        <p14:creationId xmlns:p14="http://schemas.microsoft.com/office/powerpoint/2010/main" val="12862328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604207-55CE-494A-8EE3-8110CCEBEB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2C7DABF-BEF9-47BD-94F2-9702C43CDF2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F4A48B68-FA1E-4DD1-905E-F5FC7513344E}"/>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Osteoarthritis efficacy: pain, stiffness, and function</a:t>
            </a:r>
          </a:p>
        </p:txBody>
      </p:sp>
      <p:sp>
        <p:nvSpPr>
          <p:cNvPr id="4" name="">
            <a:extLst xmlns:a="http://schemas.openxmlformats.org/drawingml/2006/main">
              <a:ext uri="{FF2B5EF4-FFF2-40B4-BE49-F238E27FC236}">
                <a16:creationId xmlns:a16="http://schemas.microsoft.com/office/drawing/2014/main" id="{1FDBBD33-667E-4FC6-9EB4-EFE2E0A4F12B}"/>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is the core clinical slide for most HCPs and needs real evidence, not just a benefit statement.</a:t>
            </a:r>
          </a:p>
        </p:txBody>
      </p:sp>
      <p:sp>
        <p:nvSpPr>
          <p:cNvPr id="5" name="">
            <a:extLst xmlns:a="http://schemas.openxmlformats.org/drawingml/2006/main">
              <a:ext uri="{FF2B5EF4-FFF2-40B4-BE49-F238E27FC236}">
                <a16:creationId xmlns:a16="http://schemas.microsoft.com/office/drawing/2014/main" id="{6FFA941C-64CE-4911-8B19-AE2F51B37561}"/>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4260E5D9-6D50-4B78-904E-C2E29E329D24}"/>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PMC5335881; PubMed 30120508; PubMed 22168216</a:t>
            </a:r>
          </a:p>
        </p:txBody>
      </p:sp>
      <p:sp>
        <p:nvSpPr>
          <p:cNvPr id="7" name="">
            <a:extLst xmlns:a="http://schemas.openxmlformats.org/drawingml/2006/main">
              <a:ext uri="{FF2B5EF4-FFF2-40B4-BE49-F238E27FC236}">
                <a16:creationId xmlns:a16="http://schemas.microsoft.com/office/drawing/2014/main" id="{91759D3C-29A2-4931-83B8-2DACF471136F}"/>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8/25</a:t>
            </a:r>
          </a:p>
        </p:txBody>
      </p:sp>
      <p:sp>
        <p:nvSpPr>
          <p:cNvPr id="8" name="">
            <a:extLst xmlns:a="http://schemas.openxmlformats.org/drawingml/2006/main">
              <a:ext uri="{FF2B5EF4-FFF2-40B4-BE49-F238E27FC236}">
                <a16:creationId xmlns:a16="http://schemas.microsoft.com/office/drawing/2014/main" id="{323F7914-A50B-4E1E-B441-0DA0E15CA6E4}"/>
              </a:ext>
            </a:extLst>
          </p:cNvPr>
          <p:cNvSpPr>
            <a:spLocks xmlns:a="http://schemas.openxmlformats.org/drawingml/2006/main" noGrp="1"/>
          </p:cNvSpPr>
          <p:nvPr/>
        </p:nvSpPr>
        <p:spPr>
          <a:xfrm xmlns:a="http://schemas.openxmlformats.org/drawingml/2006/main">
            <a:off x="609600" y="1466850"/>
            <a:ext cx="3390900" cy="1771650"/>
          </a:xfrm>
          <a:prstGeom xmlns:a="http://schemas.openxmlformats.org/drawingml/2006/main" prst="roundRect">
            <a:avLst>
              <a:gd name="adj" fmla="val 4301"/>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790D491F-2DAC-4537-BD8F-D27FD066D326}"/>
              </a:ext>
            </a:extLst>
          </p:cNvPr>
          <p:cNvSpPr>
            <a:spLocks xmlns:a="http://schemas.openxmlformats.org/drawingml/2006/main" noGrp="1"/>
          </p:cNvSpPr>
          <p:nvPr/>
        </p:nvSpPr>
        <p:spPr>
          <a:xfrm xmlns:a="http://schemas.openxmlformats.org/drawingml/2006/main">
            <a:off x="742950" y="1581150"/>
            <a:ext cx="31242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the meta-analysis supports</a:t>
            </a:r>
          </a:p>
        </p:txBody>
      </p:sp>
      <p:sp>
        <p:nvSpPr>
          <p:cNvPr id="10" name="">
            <a:extLst xmlns:a="http://schemas.openxmlformats.org/drawingml/2006/main">
              <a:ext uri="{FF2B5EF4-FFF2-40B4-BE49-F238E27FC236}">
                <a16:creationId xmlns:a16="http://schemas.microsoft.com/office/drawing/2014/main" id="{893308EC-AF27-4273-B818-191BC96C9968}"/>
              </a:ext>
            </a:extLst>
          </p:cNvPr>
          <p:cNvSpPr>
            <a:spLocks xmlns:a="http://schemas.openxmlformats.org/drawingml/2006/main" noGrp="1"/>
          </p:cNvSpPr>
          <p:nvPr/>
        </p:nvSpPr>
        <p:spPr>
          <a:xfrm xmlns:a="http://schemas.openxmlformats.org/drawingml/2006/main">
            <a:off x="742950" y="1866900"/>
            <a:ext cx="3124200" cy="12763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Aceclofenac shows beneficial symptomatic effects in osteoarthritis and is generally comparable with commonly used NSAIDs in short-term trials.</a:t>
            </a:r>
          </a:p>
        </p:txBody>
      </p:sp>
      <p:sp>
        <p:nvSpPr>
          <p:cNvPr id="11" name="">
            <a:extLst xmlns:a="http://schemas.openxmlformats.org/drawingml/2006/main">
              <a:ext uri="{FF2B5EF4-FFF2-40B4-BE49-F238E27FC236}">
                <a16:creationId xmlns:a16="http://schemas.microsoft.com/office/drawing/2014/main" id="{B578FCE6-CB44-4300-A1FA-E50AF981446E}"/>
              </a:ext>
            </a:extLst>
          </p:cNvPr>
          <p:cNvSpPr>
            <a:spLocks xmlns:a="http://schemas.openxmlformats.org/drawingml/2006/main" noGrp="1"/>
          </p:cNvSpPr>
          <p:nvPr/>
        </p:nvSpPr>
        <p:spPr>
          <a:xfrm xmlns:a="http://schemas.openxmlformats.org/drawingml/2006/main">
            <a:off x="4229100" y="1466850"/>
            <a:ext cx="3390900" cy="1771650"/>
          </a:xfrm>
          <a:prstGeom xmlns:a="http://schemas.openxmlformats.org/drawingml/2006/main" prst="roundRect">
            <a:avLst>
              <a:gd name="adj" fmla="val 4301"/>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7641CA43-8DA1-41BE-A4B7-F368C54211E4}"/>
              </a:ext>
            </a:extLst>
          </p:cNvPr>
          <p:cNvSpPr>
            <a:spLocks xmlns:a="http://schemas.openxmlformats.org/drawingml/2006/main" noGrp="1"/>
          </p:cNvSpPr>
          <p:nvPr/>
        </p:nvSpPr>
        <p:spPr>
          <a:xfrm xmlns:a="http://schemas.openxmlformats.org/drawingml/2006/main">
            <a:off x="4362450" y="1581150"/>
            <a:ext cx="31242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How to say it</a:t>
            </a:r>
          </a:p>
        </p:txBody>
      </p:sp>
      <p:sp>
        <p:nvSpPr>
          <p:cNvPr id="13" name="">
            <a:extLst xmlns:a="http://schemas.openxmlformats.org/drawingml/2006/main">
              <a:ext uri="{FF2B5EF4-FFF2-40B4-BE49-F238E27FC236}">
                <a16:creationId xmlns:a16="http://schemas.microsoft.com/office/drawing/2014/main" id="{FDE09CA3-3E1E-44DF-9E52-0E35F632FCFD}"/>
              </a:ext>
            </a:extLst>
          </p:cNvPr>
          <p:cNvSpPr>
            <a:spLocks xmlns:a="http://schemas.openxmlformats.org/drawingml/2006/main" noGrp="1"/>
          </p:cNvSpPr>
          <p:nvPr/>
        </p:nvSpPr>
        <p:spPr>
          <a:xfrm xmlns:a="http://schemas.openxmlformats.org/drawingml/2006/main">
            <a:off x="4362450" y="1866900"/>
            <a:ext cx="3124200" cy="12763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Say pain and function improved, but avoid disease-modifying language. The patient feels better; the joint disease is not reversed.</a:t>
            </a:r>
          </a:p>
        </p:txBody>
      </p:sp>
      <p:sp>
        <p:nvSpPr>
          <p:cNvPr id="14" name="">
            <a:extLst xmlns:a="http://schemas.openxmlformats.org/drawingml/2006/main">
              <a:ext uri="{FF2B5EF4-FFF2-40B4-BE49-F238E27FC236}">
                <a16:creationId xmlns:a16="http://schemas.microsoft.com/office/drawing/2014/main" id="{5E90D9F0-DEE7-43AF-B7E6-1670203D643A}"/>
              </a:ext>
            </a:extLst>
          </p:cNvPr>
          <p:cNvSpPr>
            <a:spLocks xmlns:a="http://schemas.openxmlformats.org/drawingml/2006/main" noGrp="1"/>
          </p:cNvSpPr>
          <p:nvPr/>
        </p:nvSpPr>
        <p:spPr>
          <a:xfrm xmlns:a="http://schemas.openxmlformats.org/drawingml/2006/main">
            <a:off x="7848600" y="1466850"/>
            <a:ext cx="3733800" cy="1771650"/>
          </a:xfrm>
          <a:prstGeom xmlns:a="http://schemas.openxmlformats.org/drawingml/2006/main" prst="roundRect">
            <a:avLst>
              <a:gd name="adj" fmla="val 430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D6D94AB6-A89A-44AB-B65C-595F7A86B171}"/>
              </a:ext>
            </a:extLst>
          </p:cNvPr>
          <p:cNvSpPr>
            <a:spLocks xmlns:a="http://schemas.openxmlformats.org/drawingml/2006/main" noGrp="1"/>
          </p:cNvSpPr>
          <p:nvPr/>
        </p:nvSpPr>
        <p:spPr>
          <a:xfrm xmlns:a="http://schemas.openxmlformats.org/drawingml/2006/main">
            <a:off x="7981950" y="158115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Comparator discipline</a:t>
            </a:r>
          </a:p>
        </p:txBody>
      </p:sp>
      <p:sp>
        <p:nvSpPr>
          <p:cNvPr id="16" name="">
            <a:extLst xmlns:a="http://schemas.openxmlformats.org/drawingml/2006/main">
              <a:ext uri="{FF2B5EF4-FFF2-40B4-BE49-F238E27FC236}">
                <a16:creationId xmlns:a16="http://schemas.microsoft.com/office/drawing/2014/main" id="{4CBED82B-BEF0-447A-92EA-1447A23135B1}"/>
              </a:ext>
            </a:extLst>
          </p:cNvPr>
          <p:cNvSpPr>
            <a:spLocks xmlns:a="http://schemas.openxmlformats.org/drawingml/2006/main" noGrp="1"/>
          </p:cNvSpPr>
          <p:nvPr/>
        </p:nvSpPr>
        <p:spPr>
          <a:xfrm xmlns:a="http://schemas.openxmlformats.org/drawingml/2006/main">
            <a:off x="7981950" y="1866900"/>
            <a:ext cx="3467100" cy="12763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The interpretation depends on dose equivalence, trial duration, baseline pain, rescue medication, and whether the comparator was fairly selected.</a:t>
            </a:r>
          </a:p>
        </p:txBody>
      </p:sp>
      <p:sp>
        <p:nvSpPr>
          <p:cNvPr id="17" name="">
            <a:extLst xmlns:a="http://schemas.openxmlformats.org/drawingml/2006/main">
              <a:ext uri="{FF2B5EF4-FFF2-40B4-BE49-F238E27FC236}">
                <a16:creationId xmlns:a16="http://schemas.microsoft.com/office/drawing/2014/main" id="{232ACC69-931A-400C-9BE9-85CE0A9CFF34}"/>
              </a:ext>
            </a:extLst>
          </p:cNvPr>
          <p:cNvSpPr>
            <a:spLocks xmlns:a="http://schemas.openxmlformats.org/drawingml/2006/main" noGrp="1"/>
          </p:cNvSpPr>
          <p:nvPr/>
        </p:nvSpPr>
        <p:spPr>
          <a:xfrm xmlns:a="http://schemas.openxmlformats.org/drawingml/2006/main">
            <a:off x="1028700" y="3638550"/>
            <a:ext cx="10134600"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089E269F-1B11-422C-AF86-F47E4E309EFB}"/>
              </a:ext>
            </a:extLst>
          </p:cNvPr>
          <p:cNvSpPr>
            <a:spLocks xmlns:a="http://schemas.openxmlformats.org/drawingml/2006/main" noGrp="1"/>
          </p:cNvSpPr>
          <p:nvPr/>
        </p:nvSpPr>
        <p:spPr>
          <a:xfrm xmlns:a="http://schemas.openxmlformats.org/drawingml/2006/main">
            <a:off x="1162050" y="3752850"/>
            <a:ext cx="98679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HCP takeaway</a:t>
            </a:r>
          </a:p>
        </p:txBody>
      </p:sp>
      <p:sp>
        <p:nvSpPr>
          <p:cNvPr id="19" name="">
            <a:extLst xmlns:a="http://schemas.openxmlformats.org/drawingml/2006/main">
              <a:ext uri="{FF2B5EF4-FFF2-40B4-BE49-F238E27FC236}">
                <a16:creationId xmlns:a16="http://schemas.microsoft.com/office/drawing/2014/main" id="{90DF33D1-F011-4A57-A976-CEB2C35A7436}"/>
              </a:ext>
            </a:extLst>
          </p:cNvPr>
          <p:cNvSpPr>
            <a:spLocks xmlns:a="http://schemas.openxmlformats.org/drawingml/2006/main" noGrp="1"/>
          </p:cNvSpPr>
          <p:nvPr/>
        </p:nvSpPr>
        <p:spPr>
          <a:xfrm xmlns:a="http://schemas.openxmlformats.org/drawingml/2006/main">
            <a:off x="1162050" y="4038600"/>
            <a:ext cx="98679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95" b="0">
                <a:solidFill>
                  <a:srgbClr val="24313A"/>
                </a:solidFill>
                <a:latin typeface="Aptos"/>
                <a:ea typeface="Aptos"/>
                <a:cs typeface="Aptos"/>
              </a:defRPr>
            </a:pPr>
            <a:r>
              <a:rPr sz="1095" b="0">
                <a:solidFill>
                  <a:srgbClr val="24313A"/>
                </a:solidFill>
                <a:latin typeface="Aptos"/>
                <a:ea typeface="Aptos"/>
                <a:cs typeface="Aptos"/>
              </a:rPr>
              <a:t>For osteoarthritis, aceclofenac sits as a symptom-focused NSAID option with credible efficacy data, but the decision still rests on patient selection and the class safety conversation.</a:t>
            </a:r>
          </a:p>
        </p:txBody>
      </p:sp>
    </p:spTree>
    <p:extLst>
      <p:ext uri="{BB962C8B-B14F-4D97-AF65-F5344CB8AC3E}">
        <p14:creationId xmlns:p14="http://schemas.microsoft.com/office/powerpoint/2010/main" val="643907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5B8207-027B-43E5-9E58-085B87D7CD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0937853-A644-4AFB-9EF3-8467C0E974A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6148E67A-DE80-4697-85D4-AB4D99D21E25}"/>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Rheumatoid arthritis and inflammatory arthritis evidence</a:t>
            </a:r>
          </a:p>
        </p:txBody>
      </p:sp>
      <p:sp>
        <p:nvSpPr>
          <p:cNvPr id="4" name="">
            <a:extLst xmlns:a="http://schemas.openxmlformats.org/drawingml/2006/main">
              <a:ext uri="{FF2B5EF4-FFF2-40B4-BE49-F238E27FC236}">
                <a16:creationId xmlns:a16="http://schemas.microsoft.com/office/drawing/2014/main" id="{677C1758-6D2F-4ACB-9F34-C6FDDCF38A27}"/>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HCP should understand that aceclofenac improves symptoms in inflammatory arthritis, but it is not the disease-control therapy.</a:t>
            </a:r>
          </a:p>
        </p:txBody>
      </p:sp>
      <p:sp>
        <p:nvSpPr>
          <p:cNvPr id="5" name="">
            <a:extLst xmlns:a="http://schemas.openxmlformats.org/drawingml/2006/main">
              <a:ext uri="{FF2B5EF4-FFF2-40B4-BE49-F238E27FC236}">
                <a16:creationId xmlns:a16="http://schemas.microsoft.com/office/drawing/2014/main" id="{B41C1E18-7FAC-4519-A107-6455AF8F6375}"/>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4147095E-542C-4FC7-BB4B-2DEA16B0222F}"/>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8853164; PMC8643213; Acedol PI</a:t>
            </a:r>
          </a:p>
        </p:txBody>
      </p:sp>
      <p:sp>
        <p:nvSpPr>
          <p:cNvPr id="7" name="">
            <a:extLst xmlns:a="http://schemas.openxmlformats.org/drawingml/2006/main">
              <a:ext uri="{FF2B5EF4-FFF2-40B4-BE49-F238E27FC236}">
                <a16:creationId xmlns:a16="http://schemas.microsoft.com/office/drawing/2014/main" id="{62073EA9-C7F7-4E8E-A0EC-4C1B3EB5B208}"/>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9/25</a:t>
            </a:r>
          </a:p>
        </p:txBody>
      </p:sp>
      <p:sp>
        <p:nvSpPr>
          <p:cNvPr id="8" name="">
            <a:extLst xmlns:a="http://schemas.openxmlformats.org/drawingml/2006/main">
              <a:ext uri="{FF2B5EF4-FFF2-40B4-BE49-F238E27FC236}">
                <a16:creationId xmlns:a16="http://schemas.microsoft.com/office/drawing/2014/main" id="{588EDA70-F0B1-42A1-8468-C492A2467412}"/>
              </a:ext>
            </a:extLst>
          </p:cNvPr>
          <p:cNvSpPr>
            <a:spLocks xmlns:a="http://schemas.openxmlformats.org/drawingml/2006/main" noGrp="1"/>
          </p:cNvSpPr>
          <p:nvPr/>
        </p:nvSpPr>
        <p:spPr>
          <a:xfrm xmlns:a="http://schemas.openxmlformats.org/drawingml/2006/main">
            <a:off x="609600" y="1485900"/>
            <a:ext cx="3390900" cy="1638300"/>
          </a:xfrm>
          <a:prstGeom xmlns:a="http://schemas.openxmlformats.org/drawingml/2006/main" prst="roundRect">
            <a:avLst>
              <a:gd name="adj" fmla="val 4651"/>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BBB39E95-86E4-484C-B582-C4BB9C82C75A}"/>
              </a:ext>
            </a:extLst>
          </p:cNvPr>
          <p:cNvSpPr>
            <a:spLocks xmlns:a="http://schemas.openxmlformats.org/drawingml/2006/main" noGrp="1"/>
          </p:cNvSpPr>
          <p:nvPr/>
        </p:nvSpPr>
        <p:spPr>
          <a:xfrm xmlns:a="http://schemas.openxmlformats.org/drawingml/2006/main">
            <a:off x="742950" y="1600200"/>
            <a:ext cx="31242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RA trial signal</a:t>
            </a:r>
          </a:p>
        </p:txBody>
      </p:sp>
      <p:sp>
        <p:nvSpPr>
          <p:cNvPr id="10" name="">
            <a:extLst xmlns:a="http://schemas.openxmlformats.org/drawingml/2006/main">
              <a:ext uri="{FF2B5EF4-FFF2-40B4-BE49-F238E27FC236}">
                <a16:creationId xmlns:a16="http://schemas.microsoft.com/office/drawing/2014/main" id="{2CF73DE3-EBDA-4FE4-81CF-ED21462BD8A8}"/>
              </a:ext>
            </a:extLst>
          </p:cNvPr>
          <p:cNvSpPr>
            <a:spLocks xmlns:a="http://schemas.openxmlformats.org/drawingml/2006/main" noGrp="1"/>
          </p:cNvSpPr>
          <p:nvPr/>
        </p:nvSpPr>
        <p:spPr>
          <a:xfrm xmlns:a="http://schemas.openxmlformats.org/drawingml/2006/main">
            <a:off x="742950" y="1885950"/>
            <a:ext cx="3124200" cy="11430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48" b="0">
                <a:solidFill>
                  <a:srgbClr val="24313A"/>
                </a:solidFill>
                <a:latin typeface="Aptos"/>
                <a:ea typeface="Aptos"/>
                <a:cs typeface="Aptos"/>
              </a:defRPr>
            </a:pPr>
            <a:r>
              <a:rPr sz="848" b="0">
                <a:solidFill>
                  <a:srgbClr val="24313A"/>
                </a:solidFill>
                <a:latin typeface="Aptos"/>
                <a:ea typeface="Aptos"/>
                <a:cs typeface="Aptos"/>
              </a:rPr>
              <a:t>In a 4-week multicentre double-blind study, aceclofenac 100 mg twice daily improved the Ritchie articular index, morning stiffness, joint swelling, functional class, and pain.</a:t>
            </a:r>
          </a:p>
        </p:txBody>
      </p:sp>
      <p:sp>
        <p:nvSpPr>
          <p:cNvPr id="11" name="">
            <a:extLst xmlns:a="http://schemas.openxmlformats.org/drawingml/2006/main">
              <a:ext uri="{FF2B5EF4-FFF2-40B4-BE49-F238E27FC236}">
                <a16:creationId xmlns:a16="http://schemas.microsoft.com/office/drawing/2014/main" id="{50778713-A447-4C70-BF46-E654B3A94116}"/>
              </a:ext>
            </a:extLst>
          </p:cNvPr>
          <p:cNvSpPr>
            <a:spLocks xmlns:a="http://schemas.openxmlformats.org/drawingml/2006/main" noGrp="1"/>
          </p:cNvSpPr>
          <p:nvPr/>
        </p:nvSpPr>
        <p:spPr>
          <a:xfrm xmlns:a="http://schemas.openxmlformats.org/drawingml/2006/main">
            <a:off x="4229100" y="1485900"/>
            <a:ext cx="3390900" cy="1638300"/>
          </a:xfrm>
          <a:prstGeom xmlns:a="http://schemas.openxmlformats.org/drawingml/2006/main" prst="roundRect">
            <a:avLst>
              <a:gd name="adj" fmla="val 4651"/>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B0331E5F-92E4-4EC8-A51D-A32C6C97F001}"/>
              </a:ext>
            </a:extLst>
          </p:cNvPr>
          <p:cNvSpPr>
            <a:spLocks xmlns:a="http://schemas.openxmlformats.org/drawingml/2006/main" noGrp="1"/>
          </p:cNvSpPr>
          <p:nvPr/>
        </p:nvSpPr>
        <p:spPr>
          <a:xfrm xmlns:a="http://schemas.openxmlformats.org/drawingml/2006/main">
            <a:off x="4362450" y="1600200"/>
            <a:ext cx="31242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Clinical meaning</a:t>
            </a:r>
          </a:p>
        </p:txBody>
      </p:sp>
      <p:sp>
        <p:nvSpPr>
          <p:cNvPr id="13" name="">
            <a:extLst xmlns:a="http://schemas.openxmlformats.org/drawingml/2006/main">
              <a:ext uri="{FF2B5EF4-FFF2-40B4-BE49-F238E27FC236}">
                <a16:creationId xmlns:a16="http://schemas.microsoft.com/office/drawing/2014/main" id="{92BF7A56-ABAE-41CF-A910-2E07279EB992}"/>
              </a:ext>
            </a:extLst>
          </p:cNvPr>
          <p:cNvSpPr>
            <a:spLocks xmlns:a="http://schemas.openxmlformats.org/drawingml/2006/main" noGrp="1"/>
          </p:cNvSpPr>
          <p:nvPr/>
        </p:nvSpPr>
        <p:spPr>
          <a:xfrm xmlns:a="http://schemas.openxmlformats.org/drawingml/2006/main">
            <a:off x="4362450" y="1885950"/>
            <a:ext cx="3124200" cy="11430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48" b="0">
                <a:solidFill>
                  <a:srgbClr val="24313A"/>
                </a:solidFill>
                <a:latin typeface="Aptos"/>
                <a:ea typeface="Aptos"/>
                <a:cs typeface="Aptos"/>
              </a:defRPr>
            </a:pPr>
            <a:r>
              <a:rPr sz="848" b="0">
                <a:solidFill>
                  <a:srgbClr val="24313A"/>
                </a:solidFill>
                <a:latin typeface="Aptos"/>
                <a:ea typeface="Aptos"/>
                <a:cs typeface="Aptos"/>
              </a:rPr>
              <a:t>The slide should make clear that symptom relief can be meaningful even when the disease mechanism needs DMARD-based control.</a:t>
            </a:r>
          </a:p>
        </p:txBody>
      </p:sp>
      <p:sp>
        <p:nvSpPr>
          <p:cNvPr id="14" name="">
            <a:extLst xmlns:a="http://schemas.openxmlformats.org/drawingml/2006/main">
              <a:ext uri="{FF2B5EF4-FFF2-40B4-BE49-F238E27FC236}">
                <a16:creationId xmlns:a16="http://schemas.microsoft.com/office/drawing/2014/main" id="{7F8DB842-B95F-4894-B00A-24AA50FDB96E}"/>
              </a:ext>
            </a:extLst>
          </p:cNvPr>
          <p:cNvSpPr>
            <a:spLocks xmlns:a="http://schemas.openxmlformats.org/drawingml/2006/main" noGrp="1"/>
          </p:cNvSpPr>
          <p:nvPr/>
        </p:nvSpPr>
        <p:spPr>
          <a:xfrm xmlns:a="http://schemas.openxmlformats.org/drawingml/2006/main">
            <a:off x="7848600" y="1485900"/>
            <a:ext cx="3733800" cy="1638300"/>
          </a:xfrm>
          <a:prstGeom xmlns:a="http://schemas.openxmlformats.org/drawingml/2006/main" prst="roundRect">
            <a:avLst>
              <a:gd name="adj" fmla="val 465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DB841E7E-EFD5-4CA9-8381-4BDF5F35DC2C}"/>
              </a:ext>
            </a:extLst>
          </p:cNvPr>
          <p:cNvSpPr>
            <a:spLocks xmlns:a="http://schemas.openxmlformats.org/drawingml/2006/main" noGrp="1"/>
          </p:cNvSpPr>
          <p:nvPr/>
        </p:nvSpPr>
        <p:spPr>
          <a:xfrm xmlns:a="http://schemas.openxmlformats.org/drawingml/2006/main">
            <a:off x="7981950" y="160020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Place in the conversation</a:t>
            </a:r>
          </a:p>
        </p:txBody>
      </p:sp>
      <p:sp>
        <p:nvSpPr>
          <p:cNvPr id="16" name="">
            <a:extLst xmlns:a="http://schemas.openxmlformats.org/drawingml/2006/main">
              <a:ext uri="{FF2B5EF4-FFF2-40B4-BE49-F238E27FC236}">
                <a16:creationId xmlns:a16="http://schemas.microsoft.com/office/drawing/2014/main" id="{A6FADFAC-6E6C-47A0-BAD7-7E56D44204EB}"/>
              </a:ext>
            </a:extLst>
          </p:cNvPr>
          <p:cNvSpPr>
            <a:spLocks xmlns:a="http://schemas.openxmlformats.org/drawingml/2006/main" noGrp="1"/>
          </p:cNvSpPr>
          <p:nvPr/>
        </p:nvSpPr>
        <p:spPr>
          <a:xfrm xmlns:a="http://schemas.openxmlformats.org/drawingml/2006/main">
            <a:off x="7981950" y="1885950"/>
            <a:ext cx="3467100" cy="11430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48" b="0">
                <a:solidFill>
                  <a:srgbClr val="24313A"/>
                </a:solidFill>
                <a:latin typeface="Aptos"/>
                <a:ea typeface="Aptos"/>
                <a:cs typeface="Aptos"/>
              </a:defRPr>
            </a:pPr>
            <a:r>
              <a:rPr sz="848" b="0">
                <a:solidFill>
                  <a:srgbClr val="24313A"/>
                </a:solidFill>
                <a:latin typeface="Aptos"/>
                <a:ea typeface="Aptos"/>
                <a:cs typeface="Aptos"/>
              </a:rPr>
              <a:t>The HCP uses an NSAID for symptom control, then continues the disease-specific plan separately.</a:t>
            </a:r>
          </a:p>
        </p:txBody>
      </p:sp>
      <p:sp>
        <p:nvSpPr>
          <p:cNvPr id="17" name="">
            <a:extLst xmlns:a="http://schemas.openxmlformats.org/drawingml/2006/main">
              <a:ext uri="{FF2B5EF4-FFF2-40B4-BE49-F238E27FC236}">
                <a16:creationId xmlns:a16="http://schemas.microsoft.com/office/drawing/2014/main" id="{361BC223-E388-4D39-8667-767EA1282585}"/>
              </a:ext>
            </a:extLst>
          </p:cNvPr>
          <p:cNvSpPr>
            <a:spLocks xmlns:a="http://schemas.openxmlformats.org/drawingml/2006/main" noGrp="1"/>
          </p:cNvSpPr>
          <p:nvPr/>
        </p:nvSpPr>
        <p:spPr>
          <a:xfrm xmlns:a="http://schemas.openxmlformats.org/drawingml/2006/main">
            <a:off x="914400" y="3638550"/>
            <a:ext cx="1036320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998" b="0">
                <a:solidFill>
                  <a:srgbClr val="24313A"/>
                </a:solidFill>
                <a:latin typeface="Aptos"/>
                <a:ea typeface="Aptos"/>
                <a:cs typeface="Aptos"/>
              </a:defRPr>
            </a:pPr>
            <a:r>
              <a:rPr sz="998" b="0">
                <a:solidFill>
                  <a:srgbClr val="24313A"/>
                </a:solidFill>
                <a:latin typeface="Aptos"/>
                <a:ea typeface="Aptos"/>
                <a:cs typeface="Aptos"/>
              </a:rPr>
              <a:t>- This evidence belongs to symptomatic control, not disease modification.</a:t>
            </a:r>
          </a:p>
          <a:p xmlns:a="http://schemas.openxmlformats.org/drawingml/2006/main">
            <a:r>
              <a:t/>
            </a:r>
          </a:p>
          <a:p xmlns:a="http://schemas.openxmlformats.org/drawingml/2006/main">
            <a:pPr algn="l">
              <a:defRPr sz="998" b="0">
                <a:solidFill>
                  <a:srgbClr val="24313A"/>
                </a:solidFill>
                <a:latin typeface="Aptos"/>
                <a:ea typeface="Aptos"/>
                <a:cs typeface="Aptos"/>
              </a:defRPr>
            </a:pPr>
            <a:r>
              <a:rPr sz="998" b="0">
                <a:solidFill>
                  <a:srgbClr val="24313A"/>
                </a:solidFill>
                <a:latin typeface="Aptos"/>
                <a:ea typeface="Aptos"/>
                <a:cs typeface="Aptos"/>
              </a:rPr>
              <a:t>- Choice still depends on GI, renal, cardiovascular, and bleeding risk.</a:t>
            </a:r>
          </a:p>
          <a:p xmlns:a="http://schemas.openxmlformats.org/drawingml/2006/main">
            <a:r>
              <a:t/>
            </a:r>
          </a:p>
          <a:p xmlns:a="http://schemas.openxmlformats.org/drawingml/2006/main">
            <a:pPr algn="l">
              <a:defRPr sz="998" b="0">
                <a:solidFill>
                  <a:srgbClr val="24313A"/>
                </a:solidFill>
                <a:latin typeface="Aptos"/>
                <a:ea typeface="Aptos"/>
                <a:cs typeface="Aptos"/>
              </a:defRPr>
            </a:pPr>
            <a:r>
              <a:rPr sz="998" b="0">
                <a:solidFill>
                  <a:srgbClr val="24313A"/>
                </a:solidFill>
                <a:latin typeface="Aptos"/>
                <a:ea typeface="Aptos"/>
                <a:cs typeface="Aptos"/>
              </a:rPr>
              <a:t>- If the patient needs DMARD escalation, the NSAID does not replace that discussion.</a:t>
            </a:r>
          </a:p>
        </p:txBody>
      </p:sp>
    </p:spTree>
    <p:extLst>
      <p:ext uri="{BB962C8B-B14F-4D97-AF65-F5344CB8AC3E}">
        <p14:creationId xmlns:p14="http://schemas.microsoft.com/office/powerpoint/2010/main" val="12705947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31658F-ACE3-45F2-B878-155FB57F30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553639B1-5754-44D8-85FA-B0A8E43965F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4CEDF13D-C731-43F3-9539-5A574CED8FD7}"/>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Axial disease and acute low back pain</a:t>
            </a:r>
          </a:p>
        </p:txBody>
      </p:sp>
      <p:sp>
        <p:nvSpPr>
          <p:cNvPr id="4" name="">
            <a:extLst xmlns:a="http://schemas.openxmlformats.org/drawingml/2006/main">
              <a:ext uri="{FF2B5EF4-FFF2-40B4-BE49-F238E27FC236}">
                <a16:creationId xmlns:a16="http://schemas.microsoft.com/office/drawing/2014/main" id="{7EB90F0B-543D-4E1A-BDAA-D4270B1E2F6D}"/>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NSAIDs are first-line symptom therapy in many axial pain settings, but they do not change the underlying disease course.</a:t>
            </a:r>
          </a:p>
        </p:txBody>
      </p:sp>
      <p:sp>
        <p:nvSpPr>
          <p:cNvPr id="5" name="">
            <a:extLst xmlns:a="http://schemas.openxmlformats.org/drawingml/2006/main">
              <a:ext uri="{FF2B5EF4-FFF2-40B4-BE49-F238E27FC236}">
                <a16:creationId xmlns:a16="http://schemas.microsoft.com/office/drawing/2014/main" id="{1EC3F798-A9BF-42B9-9CE5-60149D6B78FA}"/>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D851BF57-063F-42A5-9713-FC31410886A9}"/>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PubMed 26186173; PubMed 12740678; PubMed 32341838</a:t>
            </a:r>
          </a:p>
        </p:txBody>
      </p:sp>
      <p:sp>
        <p:nvSpPr>
          <p:cNvPr id="7" name="">
            <a:extLst xmlns:a="http://schemas.openxmlformats.org/drawingml/2006/main">
              <a:ext uri="{FF2B5EF4-FFF2-40B4-BE49-F238E27FC236}">
                <a16:creationId xmlns:a16="http://schemas.microsoft.com/office/drawing/2014/main" id="{D70DB971-11D5-4F72-806F-3CA05DE03AAF}"/>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10/25</a:t>
            </a:r>
          </a:p>
        </p:txBody>
      </p:sp>
      <p:graphicFrame>
        <p:nvGraphicFramePr>
          <p:cNvPr id="8" name=""/>
          <p:cNvGraphicFramePr/>
          <p:nvPr/>
        </p:nvGraphicFramePr>
        <p:xfrm>
          <a:off xmlns:a="http://schemas.openxmlformats.org/drawingml/2006/main" x="609600" y="1485900"/>
          <a:ext xmlns:a="http://schemas.openxmlformats.org/drawingml/2006/main" cx="7200900" cy="2724150"/>
        </p:xfrm>
        <a:graphic xmlns:a="http://schemas.openxmlformats.org/drawingml/2006/main">
          <a:graphicData uri="http://schemas.openxmlformats.org/drawingml/2006/table">
            <a:tbl>
              <a:tblPr/>
              <a:tblGrid>
                <a:gridCol w="1584198"/>
                <a:gridCol w="5616702"/>
              </a:tblGrid>
              <a:tr h="454025">
                <a:tc>
                  <a:txBody>
                    <a:bodyPr/>
                    <a:lstStyle/>
                    <a:p>
                      <a:r>
                        <a:rPr sz="750" b="1">
                          <a:solidFill>
                            <a:srgbClr val="FFFFFF"/>
                          </a:solidFill>
                          <a:latin typeface="Aptos"/>
                          <a:ea typeface="Aptos"/>
                          <a:cs typeface="Aptos"/>
                        </a:rPr>
                        <a:t>Question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Evidence anchor</a:t>
                      </a:r>
                    </a:p>
                  </a:txBody>
                  <a:tcPr marL="91440" marR="91440" marT="45720" marB="45720">
                    <a:lnB w="9525">
                      <a:solidFill>
                        <a:srgbClr val="FFFFFF"/>
                      </a:solidFill>
                    </a:lnB>
                    <a:solidFill>
                      <a:srgbClr val="16324F"/>
                    </a:solidFill>
                  </a:tcPr>
                </a:tc>
              </a:tr>
              <a:tr h="454025">
                <a:tc>
                  <a:txBody>
                    <a:bodyPr/>
                    <a:lstStyle/>
                    <a:p>
                      <a:r>
                        <a:t>What do NSAIDs do?</a:t>
                      </a:r>
                    </a:p>
                  </a:txBody>
                  <a:tcPr marL="91440" marR="91440" marT="45720" marB="45720"/>
                </a:tc>
                <a:tc>
                  <a:txBody>
                    <a:bodyPr/>
                    <a:lstStyle/>
                    <a:p>
                      <a:r>
                        <a:t>Improve pain and function in axial spondyloarthritis / inflammatory back pain</a:t>
                      </a:r>
                    </a:p>
                  </a:txBody>
                  <a:tcPr marL="91440" marR="91440" marT="45720" marB="45720"/>
                </a:tc>
              </a:tr>
              <a:tr h="454025">
                <a:tc>
                  <a:txBody>
                    <a:bodyPr/>
                    <a:lstStyle/>
                    <a:p>
                      <a:r>
                        <a:t>How large is the effect?</a:t>
                      </a:r>
                    </a:p>
                  </a:txBody>
                  <a:tcPr marL="91440" marR="91440" marT="45720" marB="45720"/>
                </a:tc>
                <a:tc>
                  <a:txBody>
                    <a:bodyPr/>
                    <a:lstStyle/>
                    <a:p>
                      <a:r>
                        <a:t>Guideline-level evidence shows meaningful pain relief and functional benefit in the class</a:t>
                      </a:r>
                    </a:p>
                  </a:txBody>
                  <a:tcPr marL="91440" marR="91440" marT="45720" marB="45720"/>
                </a:tc>
              </a:tr>
              <a:tr h="454025">
                <a:tc>
                  <a:txBody>
                    <a:bodyPr/>
                    <a:lstStyle/>
                    <a:p>
                      <a:r>
                        <a:t>What is the limitation?</a:t>
                      </a:r>
                    </a:p>
                  </a:txBody>
                  <a:tcPr marL="91440" marR="91440" marT="45720" marB="45720"/>
                </a:tc>
                <a:tc>
                  <a:txBody>
                    <a:bodyPr/>
                    <a:lstStyle/>
                    <a:p>
                      <a:r>
                        <a:t>NSAIDs do not alter radiographic progression in a dependable way</a:t>
                      </a:r>
                    </a:p>
                  </a:txBody>
                  <a:tcPr marL="91440" marR="91440" marT="45720" marB="45720"/>
                </a:tc>
              </a:tr>
              <a:tr h="454025">
                <a:tc>
                  <a:txBody>
                    <a:bodyPr/>
                    <a:lstStyle/>
                    <a:p>
                      <a:r>
                        <a:t>What about acute low back pain?</a:t>
                      </a:r>
                    </a:p>
                  </a:txBody>
                  <a:tcPr marL="91440" marR="91440" marT="45720" marB="45720"/>
                </a:tc>
                <a:tc>
                  <a:txBody>
                    <a:bodyPr/>
                    <a:lstStyle/>
                    <a:p>
                      <a:r>
                        <a:t>Short-term trial data support symptomatic use where appropriate</a:t>
                      </a:r>
                    </a:p>
                  </a:txBody>
                  <a:tcPr marL="91440" marR="91440" marT="45720" marB="45720"/>
                </a:tc>
              </a:tr>
              <a:tr h="454025">
                <a:tc>
                  <a:txBody>
                    <a:bodyPr/>
                    <a:lstStyle/>
                    <a:p>
                      <a:r>
                        <a:t>What should HCPs remember?</a:t>
                      </a:r>
                    </a:p>
                  </a:txBody>
                  <a:tcPr marL="91440" marR="91440" marT="45720" marB="45720"/>
                </a:tc>
                <a:tc>
                  <a:txBody>
                    <a:bodyPr/>
                    <a:lstStyle/>
                    <a:p>
                      <a:r>
                        <a:t>Pain relief is the target; patient risk stratification still drives the choice</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A59AB060-8915-421E-B651-C3B31BB47F55}"/>
              </a:ext>
            </a:extLst>
          </p:cNvPr>
          <p:cNvSpPr>
            <a:spLocks xmlns:a="http://schemas.openxmlformats.org/drawingml/2006/main" noGrp="1"/>
          </p:cNvSpPr>
          <p:nvPr/>
        </p:nvSpPr>
        <p:spPr>
          <a:xfrm xmlns:a="http://schemas.openxmlformats.org/drawingml/2006/main">
            <a:off x="8115300" y="1524000"/>
            <a:ext cx="3467100" cy="1238250"/>
          </a:xfrm>
          <a:prstGeom xmlns:a="http://schemas.openxmlformats.org/drawingml/2006/main" prst="roundRect">
            <a:avLst>
              <a:gd name="adj" fmla="val 6154"/>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E08B3F38-C7B4-4CAE-897D-F0B0E3807875}"/>
              </a:ext>
            </a:extLst>
          </p:cNvPr>
          <p:cNvSpPr>
            <a:spLocks xmlns:a="http://schemas.openxmlformats.org/drawingml/2006/main" noGrp="1"/>
          </p:cNvSpPr>
          <p:nvPr/>
        </p:nvSpPr>
        <p:spPr>
          <a:xfrm xmlns:a="http://schemas.openxmlformats.org/drawingml/2006/main">
            <a:off x="8248650" y="1638300"/>
            <a:ext cx="3200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Balanced message</a:t>
            </a:r>
          </a:p>
        </p:txBody>
      </p:sp>
      <p:sp>
        <p:nvSpPr>
          <p:cNvPr id="11" name="">
            <a:extLst xmlns:a="http://schemas.openxmlformats.org/drawingml/2006/main">
              <a:ext uri="{FF2B5EF4-FFF2-40B4-BE49-F238E27FC236}">
                <a16:creationId xmlns:a16="http://schemas.microsoft.com/office/drawing/2014/main" id="{D5302DBA-1833-4920-B457-AF676FCAEBA1}"/>
              </a:ext>
            </a:extLst>
          </p:cNvPr>
          <p:cNvSpPr>
            <a:spLocks xmlns:a="http://schemas.openxmlformats.org/drawingml/2006/main" noGrp="1"/>
          </p:cNvSpPr>
          <p:nvPr/>
        </p:nvSpPr>
        <p:spPr>
          <a:xfrm xmlns:a="http://schemas.openxmlformats.org/drawingml/2006/main">
            <a:off x="8248650" y="1924050"/>
            <a:ext cx="3200400" cy="7429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The science supports symptom relief, but it does not justify disease-modifying language.</a:t>
            </a:r>
          </a:p>
        </p:txBody>
      </p:sp>
      <p:sp>
        <p:nvSpPr>
          <p:cNvPr id="12" name="">
            <a:extLst xmlns:a="http://schemas.openxmlformats.org/drawingml/2006/main">
              <a:ext uri="{FF2B5EF4-FFF2-40B4-BE49-F238E27FC236}">
                <a16:creationId xmlns:a16="http://schemas.microsoft.com/office/drawing/2014/main" id="{B5283EC0-C7D2-4830-9744-93613A32443D}"/>
              </a:ext>
            </a:extLst>
          </p:cNvPr>
          <p:cNvSpPr>
            <a:spLocks xmlns:a="http://schemas.openxmlformats.org/drawingml/2006/main" noGrp="1"/>
          </p:cNvSpPr>
          <p:nvPr/>
        </p:nvSpPr>
        <p:spPr>
          <a:xfrm xmlns:a="http://schemas.openxmlformats.org/drawingml/2006/main">
            <a:off x="8115300" y="2990850"/>
            <a:ext cx="3467100" cy="1219200"/>
          </a:xfrm>
          <a:prstGeom xmlns:a="http://schemas.openxmlformats.org/drawingml/2006/main" prst="roundRect">
            <a:avLst>
              <a:gd name="adj" fmla="val 6250"/>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EC706E3E-5437-4AC6-A0F4-35CB5F537865}"/>
              </a:ext>
            </a:extLst>
          </p:cNvPr>
          <p:cNvSpPr>
            <a:spLocks xmlns:a="http://schemas.openxmlformats.org/drawingml/2006/main" noGrp="1"/>
          </p:cNvSpPr>
          <p:nvPr/>
        </p:nvSpPr>
        <p:spPr>
          <a:xfrm xmlns:a="http://schemas.openxmlformats.org/drawingml/2006/main">
            <a:off x="8248650" y="3105150"/>
            <a:ext cx="3200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Practical use</a:t>
            </a:r>
          </a:p>
        </p:txBody>
      </p:sp>
      <p:sp>
        <p:nvSpPr>
          <p:cNvPr id="14" name="">
            <a:extLst xmlns:a="http://schemas.openxmlformats.org/drawingml/2006/main">
              <a:ext uri="{FF2B5EF4-FFF2-40B4-BE49-F238E27FC236}">
                <a16:creationId xmlns:a16="http://schemas.microsoft.com/office/drawing/2014/main" id="{44ED1EC3-D1ED-45A5-B26B-78A75F8BB2FB}"/>
              </a:ext>
            </a:extLst>
          </p:cNvPr>
          <p:cNvSpPr>
            <a:spLocks xmlns:a="http://schemas.openxmlformats.org/drawingml/2006/main" noGrp="1"/>
          </p:cNvSpPr>
          <p:nvPr/>
        </p:nvSpPr>
        <p:spPr>
          <a:xfrm xmlns:a="http://schemas.openxmlformats.org/drawingml/2006/main">
            <a:off x="8248650" y="3390900"/>
            <a:ext cx="3200400" cy="7239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0" b="0">
                <a:solidFill>
                  <a:srgbClr val="24313A"/>
                </a:solidFill>
                <a:latin typeface="Aptos"/>
                <a:ea typeface="Aptos"/>
                <a:cs typeface="Aptos"/>
              </a:defRPr>
            </a:pPr>
            <a:r>
              <a:rPr sz="870" b="0">
                <a:solidFill>
                  <a:srgbClr val="24313A"/>
                </a:solidFill>
                <a:latin typeface="Aptos"/>
                <a:ea typeface="Aptos"/>
                <a:cs typeface="Aptos"/>
              </a:rPr>
              <a:t>If the patient needs longer-term control, HCPs should follow the disease-specific pathway rather than rely on the NSAID alone.</a:t>
            </a:r>
          </a:p>
        </p:txBody>
      </p:sp>
    </p:spTree>
    <p:extLst>
      <p:ext uri="{BB962C8B-B14F-4D97-AF65-F5344CB8AC3E}">
        <p14:creationId xmlns:p14="http://schemas.microsoft.com/office/powerpoint/2010/main" val="15567263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DB9CAE-274C-4A84-A86D-A605AD0C05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9A37026-5AC5-49FC-8879-920CAAA3E51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5DBBF3C1-A788-4F7C-9827-804B4DDC22D4}"/>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Safety profile from the local PI</a:t>
            </a:r>
          </a:p>
        </p:txBody>
      </p:sp>
      <p:sp>
        <p:nvSpPr>
          <p:cNvPr id="4" name="">
            <a:extLst xmlns:a="http://schemas.openxmlformats.org/drawingml/2006/main">
              <a:ext uri="{FF2B5EF4-FFF2-40B4-BE49-F238E27FC236}">
                <a16:creationId xmlns:a16="http://schemas.microsoft.com/office/drawing/2014/main" id="{1F68097D-C2C3-4E53-9A42-6DEC97FF2C1C}"/>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slide should look like a medical briefing, not a warning footnote.</a:t>
            </a:r>
          </a:p>
        </p:txBody>
      </p:sp>
      <p:sp>
        <p:nvSpPr>
          <p:cNvPr id="5" name="">
            <a:extLst xmlns:a="http://schemas.openxmlformats.org/drawingml/2006/main">
              <a:ext uri="{FF2B5EF4-FFF2-40B4-BE49-F238E27FC236}">
                <a16:creationId xmlns:a16="http://schemas.microsoft.com/office/drawing/2014/main" id="{2263392C-34B4-46B8-A0FE-75C7861894E2}"/>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12FDE996-C803-4571-9B32-29C762F47926}"/>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Torrent PI 2617; Torrent PI 3073</a:t>
            </a:r>
          </a:p>
        </p:txBody>
      </p:sp>
      <p:sp>
        <p:nvSpPr>
          <p:cNvPr id="7" name="">
            <a:extLst xmlns:a="http://schemas.openxmlformats.org/drawingml/2006/main">
              <a:ext uri="{FF2B5EF4-FFF2-40B4-BE49-F238E27FC236}">
                <a16:creationId xmlns:a16="http://schemas.microsoft.com/office/drawing/2014/main" id="{E721B4A2-0247-406E-9E3D-F71E6F791DDE}"/>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11/25</a:t>
            </a:r>
          </a:p>
        </p:txBody>
      </p:sp>
      <p:sp>
        <p:nvSpPr>
          <p:cNvPr id="8" name="">
            <a:extLst xmlns:a="http://schemas.openxmlformats.org/drawingml/2006/main">
              <a:ext uri="{FF2B5EF4-FFF2-40B4-BE49-F238E27FC236}">
                <a16:creationId xmlns:a16="http://schemas.microsoft.com/office/drawing/2014/main" id="{1F4910E5-0378-4331-9A5E-2A0F7D0895BF}"/>
              </a:ext>
            </a:extLst>
          </p:cNvPr>
          <p:cNvSpPr>
            <a:spLocks xmlns:a="http://schemas.openxmlformats.org/drawingml/2006/main" noGrp="1"/>
          </p:cNvSpPr>
          <p:nvPr/>
        </p:nvSpPr>
        <p:spPr>
          <a:xfrm xmlns:a="http://schemas.openxmlformats.org/drawingml/2006/main">
            <a:off x="609600" y="1524000"/>
            <a:ext cx="3390900" cy="1752600"/>
          </a:xfrm>
          <a:prstGeom xmlns:a="http://schemas.openxmlformats.org/drawingml/2006/main" prst="roundRect">
            <a:avLst>
              <a:gd name="adj" fmla="val 4348"/>
            </a:avLst>
          </a:prstGeom>
          <a:solidFill xmlns:a="http://schemas.openxmlformats.org/drawingml/2006/main">
            <a:srgbClr val="FCE4D6"/>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6F1E9454-CD9E-4529-8228-31B753265A0D}"/>
              </a:ext>
            </a:extLst>
          </p:cNvPr>
          <p:cNvSpPr>
            <a:spLocks xmlns:a="http://schemas.openxmlformats.org/drawingml/2006/main" noGrp="1"/>
          </p:cNvSpPr>
          <p:nvPr/>
        </p:nvSpPr>
        <p:spPr>
          <a:xfrm xmlns:a="http://schemas.openxmlformats.org/drawingml/2006/main">
            <a:off x="74295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Common</a:t>
            </a:r>
          </a:p>
        </p:txBody>
      </p:sp>
      <p:sp>
        <p:nvSpPr>
          <p:cNvPr id="10" name="">
            <a:extLst xmlns:a="http://schemas.openxmlformats.org/drawingml/2006/main">
              <a:ext uri="{FF2B5EF4-FFF2-40B4-BE49-F238E27FC236}">
                <a16:creationId xmlns:a16="http://schemas.microsoft.com/office/drawing/2014/main" id="{244461C5-DECE-4013-AA70-8598EC0968A1}"/>
              </a:ext>
            </a:extLst>
          </p:cNvPr>
          <p:cNvSpPr>
            <a:spLocks xmlns:a="http://schemas.openxmlformats.org/drawingml/2006/main" noGrp="1"/>
          </p:cNvSpPr>
          <p:nvPr/>
        </p:nvSpPr>
        <p:spPr>
          <a:xfrm xmlns:a="http://schemas.openxmlformats.org/drawingml/2006/main">
            <a:off x="742950" y="1924050"/>
            <a:ext cx="3124200" cy="12573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Dyspepsia, abdominal pain, nausea, constipation, flatulence, gastritis, and dizziness are among the typical reported reactions.</a:t>
            </a:r>
          </a:p>
        </p:txBody>
      </p:sp>
      <p:sp>
        <p:nvSpPr>
          <p:cNvPr id="11" name="">
            <a:extLst xmlns:a="http://schemas.openxmlformats.org/drawingml/2006/main">
              <a:ext uri="{FF2B5EF4-FFF2-40B4-BE49-F238E27FC236}">
                <a16:creationId xmlns:a16="http://schemas.microsoft.com/office/drawing/2014/main" id="{52D94228-8404-40A4-9263-8EC002EC2E53}"/>
              </a:ext>
            </a:extLst>
          </p:cNvPr>
          <p:cNvSpPr>
            <a:spLocks xmlns:a="http://schemas.openxmlformats.org/drawingml/2006/main" noGrp="1"/>
          </p:cNvSpPr>
          <p:nvPr/>
        </p:nvSpPr>
        <p:spPr>
          <a:xfrm xmlns:a="http://schemas.openxmlformats.org/drawingml/2006/main">
            <a:off x="4229100" y="1524000"/>
            <a:ext cx="3390900" cy="1752600"/>
          </a:xfrm>
          <a:prstGeom xmlns:a="http://schemas.openxmlformats.org/drawingml/2006/main" prst="roundRect">
            <a:avLst>
              <a:gd name="adj" fmla="val 4348"/>
            </a:avLst>
          </a:prstGeom>
          <a:solidFill xmlns:a="http://schemas.openxmlformats.org/drawingml/2006/main">
            <a:srgbClr val="FFF2CC"/>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DD83354C-093A-40AD-A72C-7B9D2A5F9783}"/>
              </a:ext>
            </a:extLst>
          </p:cNvPr>
          <p:cNvSpPr>
            <a:spLocks xmlns:a="http://schemas.openxmlformats.org/drawingml/2006/main" noGrp="1"/>
          </p:cNvSpPr>
          <p:nvPr/>
        </p:nvSpPr>
        <p:spPr>
          <a:xfrm xmlns:a="http://schemas.openxmlformats.org/drawingml/2006/main">
            <a:off x="4362450" y="1638300"/>
            <a:ext cx="3124200" cy="266700"/>
          </a:xfrm>
          <a:prstGeom xmlns:a="http://schemas.openxmlformats.org/drawingml/2006/main" prst="rect">
            <a:avLst/>
          </a:prstGeom>
          <a:solidFill xmlns:a="http://schemas.openxmlformats.org/drawingml/2006/main">
            <a:srgbClr val="FFF2CC"/>
          </a:solidFill>
          <a:ln xmlns:a="http://schemas.openxmlformats.org/drawingml/2006/main" w="9525">
            <a:solidFill>
              <a:srgbClr val="FFF2CC"/>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Uncommon / rare</a:t>
            </a:r>
          </a:p>
        </p:txBody>
      </p:sp>
      <p:sp>
        <p:nvSpPr>
          <p:cNvPr id="13" name="">
            <a:extLst xmlns:a="http://schemas.openxmlformats.org/drawingml/2006/main">
              <a:ext uri="{FF2B5EF4-FFF2-40B4-BE49-F238E27FC236}">
                <a16:creationId xmlns:a16="http://schemas.microsoft.com/office/drawing/2014/main" id="{5084BAC0-5210-43F3-AB6F-F362EE7D80BD}"/>
              </a:ext>
            </a:extLst>
          </p:cNvPr>
          <p:cNvSpPr>
            <a:spLocks xmlns:a="http://schemas.openxmlformats.org/drawingml/2006/main" noGrp="1"/>
          </p:cNvSpPr>
          <p:nvPr/>
        </p:nvSpPr>
        <p:spPr>
          <a:xfrm xmlns:a="http://schemas.openxmlformats.org/drawingml/2006/main">
            <a:off x="4362450" y="1924050"/>
            <a:ext cx="3124200" cy="1257300"/>
          </a:xfrm>
          <a:prstGeom xmlns:a="http://schemas.openxmlformats.org/drawingml/2006/main" prst="rect">
            <a:avLst/>
          </a:prstGeom>
          <a:solidFill xmlns:a="http://schemas.openxmlformats.org/drawingml/2006/main">
            <a:srgbClr val="FFF2CC"/>
          </a:solidFill>
          <a:ln xmlns:a="http://schemas.openxmlformats.org/drawingml/2006/main" w="9525">
            <a:solidFill>
              <a:srgbClr val="FFF2CC"/>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Rash, pruritus, dermatitis, urticaria, blood urea or creatinine increase, angioedema, and hypersensitivity may occur.</a:t>
            </a:r>
          </a:p>
        </p:txBody>
      </p:sp>
      <p:sp>
        <p:nvSpPr>
          <p:cNvPr id="14" name="">
            <a:extLst xmlns:a="http://schemas.openxmlformats.org/drawingml/2006/main">
              <a:ext uri="{FF2B5EF4-FFF2-40B4-BE49-F238E27FC236}">
                <a16:creationId xmlns:a16="http://schemas.microsoft.com/office/drawing/2014/main" id="{8E621282-EC33-4ADD-9DA0-5934B5E3EC3D}"/>
              </a:ext>
            </a:extLst>
          </p:cNvPr>
          <p:cNvSpPr>
            <a:spLocks xmlns:a="http://schemas.openxmlformats.org/drawingml/2006/main" noGrp="1"/>
          </p:cNvSpPr>
          <p:nvPr/>
        </p:nvSpPr>
        <p:spPr>
          <a:xfrm xmlns:a="http://schemas.openxmlformats.org/drawingml/2006/main">
            <a:off x="7848600" y="1524000"/>
            <a:ext cx="3733800" cy="1752600"/>
          </a:xfrm>
          <a:prstGeom xmlns:a="http://schemas.openxmlformats.org/drawingml/2006/main" prst="roundRect">
            <a:avLst>
              <a:gd name="adj" fmla="val 4348"/>
            </a:avLst>
          </a:prstGeom>
          <a:solidFill xmlns:a="http://schemas.openxmlformats.org/drawingml/2006/main">
            <a:srgbClr val="F4F8FA"/>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C8E1414C-41FF-4024-B2DA-6FFAD003B4EA}"/>
              </a:ext>
            </a:extLst>
          </p:cNvPr>
          <p:cNvSpPr>
            <a:spLocks xmlns:a="http://schemas.openxmlformats.org/drawingml/2006/main" noGrp="1"/>
          </p:cNvSpPr>
          <p:nvPr/>
        </p:nvSpPr>
        <p:spPr>
          <a:xfrm xmlns:a="http://schemas.openxmlformats.org/drawingml/2006/main">
            <a:off x="7981950" y="1638300"/>
            <a:ext cx="34671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Serious but uncommon</a:t>
            </a:r>
          </a:p>
        </p:txBody>
      </p:sp>
      <p:sp>
        <p:nvSpPr>
          <p:cNvPr id="16" name="">
            <a:extLst xmlns:a="http://schemas.openxmlformats.org/drawingml/2006/main">
              <a:ext uri="{FF2B5EF4-FFF2-40B4-BE49-F238E27FC236}">
                <a16:creationId xmlns:a16="http://schemas.microsoft.com/office/drawing/2014/main" id="{99407DAC-D632-4EF1-9241-F713D663B069}"/>
              </a:ext>
            </a:extLst>
          </p:cNvPr>
          <p:cNvSpPr>
            <a:spLocks xmlns:a="http://schemas.openxmlformats.org/drawingml/2006/main" noGrp="1"/>
          </p:cNvSpPr>
          <p:nvPr/>
        </p:nvSpPr>
        <p:spPr>
          <a:xfrm xmlns:a="http://schemas.openxmlformats.org/drawingml/2006/main">
            <a:off x="7981950" y="1924050"/>
            <a:ext cx="3467100" cy="12573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24313A"/>
                </a:solidFill>
                <a:latin typeface="Aptos"/>
                <a:ea typeface="Aptos"/>
                <a:cs typeface="Aptos"/>
              </a:defRPr>
            </a:pPr>
            <a:r>
              <a:rPr sz="863" b="0">
                <a:solidFill>
                  <a:srgbClr val="24313A"/>
                </a:solidFill>
                <a:latin typeface="Aptos"/>
                <a:ea typeface="Aptos"/>
                <a:cs typeface="Aptos"/>
              </a:rPr>
              <a:t>GI bleeding, ulceration, renal failure, nephrotic syndrome, severe skin reactions, and cardiovascular events require immediate attention.</a:t>
            </a:r>
          </a:p>
        </p:txBody>
      </p:sp>
      <p:sp>
        <p:nvSpPr>
          <p:cNvPr id="17" name="">
            <a:extLst xmlns:a="http://schemas.openxmlformats.org/drawingml/2006/main">
              <a:ext uri="{FF2B5EF4-FFF2-40B4-BE49-F238E27FC236}">
                <a16:creationId xmlns:a16="http://schemas.microsoft.com/office/drawing/2014/main" id="{6D61DB05-9939-4055-96B5-A47D19EAA937}"/>
              </a:ext>
            </a:extLst>
          </p:cNvPr>
          <p:cNvSpPr>
            <a:spLocks xmlns:a="http://schemas.openxmlformats.org/drawingml/2006/main" noGrp="1"/>
          </p:cNvSpPr>
          <p:nvPr/>
        </p:nvSpPr>
        <p:spPr>
          <a:xfrm xmlns:a="http://schemas.openxmlformats.org/drawingml/2006/main">
            <a:off x="1028700" y="3657600"/>
            <a:ext cx="101346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B7295BD5-C93D-478C-8696-C1C83BBB9FC2}"/>
              </a:ext>
            </a:extLst>
          </p:cNvPr>
          <p:cNvSpPr>
            <a:spLocks xmlns:a="http://schemas.openxmlformats.org/drawingml/2006/main" noGrp="1"/>
          </p:cNvSpPr>
          <p:nvPr/>
        </p:nvSpPr>
        <p:spPr>
          <a:xfrm xmlns:a="http://schemas.openxmlformats.org/drawingml/2006/main">
            <a:off x="1162050" y="3771900"/>
            <a:ext cx="98679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Safe slide principle</a:t>
            </a:r>
          </a:p>
        </p:txBody>
      </p:sp>
      <p:sp>
        <p:nvSpPr>
          <p:cNvPr id="19" name="">
            <a:extLst xmlns:a="http://schemas.openxmlformats.org/drawingml/2006/main">
              <a:ext uri="{FF2B5EF4-FFF2-40B4-BE49-F238E27FC236}">
                <a16:creationId xmlns:a16="http://schemas.microsoft.com/office/drawing/2014/main" id="{74E26905-1630-4A16-8C95-0224F4591E50}"/>
              </a:ext>
            </a:extLst>
          </p:cNvPr>
          <p:cNvSpPr>
            <a:spLocks xmlns:a="http://schemas.openxmlformats.org/drawingml/2006/main" noGrp="1"/>
          </p:cNvSpPr>
          <p:nvPr/>
        </p:nvSpPr>
        <p:spPr>
          <a:xfrm xmlns:a="http://schemas.openxmlformats.org/drawingml/2006/main">
            <a:off x="1162050" y="4057650"/>
            <a:ext cx="98679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35" b="0">
                <a:solidFill>
                  <a:srgbClr val="24313A"/>
                </a:solidFill>
                <a:latin typeface="Aptos"/>
                <a:ea typeface="Aptos"/>
                <a:cs typeface="Aptos"/>
              </a:defRPr>
            </a:pPr>
            <a:r>
              <a:rPr sz="1035" b="0">
                <a:solidFill>
                  <a:srgbClr val="24313A"/>
                </a:solidFill>
                <a:latin typeface="Aptos"/>
                <a:ea typeface="Aptos"/>
                <a:cs typeface="Aptos"/>
              </a:rPr>
              <a:t>The honest scientific message is not that the drug is safe in all patients. It is that HCPs should recognise predictable NSAID risks, select patients well, and monitor actively.</a:t>
            </a:r>
          </a:p>
        </p:txBody>
      </p:sp>
    </p:spTree>
    <p:extLst>
      <p:ext uri="{BB962C8B-B14F-4D97-AF65-F5344CB8AC3E}">
        <p14:creationId xmlns:p14="http://schemas.microsoft.com/office/powerpoint/2010/main" val="543373662"/>
      </p:ext>
    </p:extLst>
  </p:cSld>
</p:sld>
</file>

<file path=ppt/slides/slide1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C2111B6-869A-43B8-8DAC-2324C329C6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21962293-43CC-4602-B5D2-9D3125D7FE3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0C2A9960-F188-43C1-B2DE-2CFA974E5E39}"/>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GI risk and mitigation</a:t>
            </a:r>
          </a:p>
        </p:txBody>
      </p:sp>
      <p:sp>
        <p:nvSpPr>
          <p:cNvPr id="4" name="">
            <a:extLst xmlns:a="http://schemas.openxmlformats.org/drawingml/2006/main">
              <a:ext uri="{FF2B5EF4-FFF2-40B4-BE49-F238E27FC236}">
                <a16:creationId xmlns:a16="http://schemas.microsoft.com/office/drawing/2014/main" id="{25CF151B-3B73-46BC-B727-B638DDA9E0DB}"/>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D6E3EA"/>
                </a:solidFill>
                <a:latin typeface="Aptos"/>
                <a:ea typeface="Aptos"/>
                <a:cs typeface="Aptos"/>
              </a:defRPr>
            </a:pPr>
            <a:r>
              <a:rPr sz="863" b="0">
                <a:solidFill>
                  <a:srgbClr val="D6E3EA"/>
                </a:solidFill>
                <a:latin typeface="Aptos"/>
                <a:ea typeface="Aptos"/>
                <a:cs typeface="Aptos"/>
              </a:rPr>
              <a:t>This is the familiar NSAID conversation, but the details matter.</a:t>
            </a:r>
          </a:p>
        </p:txBody>
      </p:sp>
      <p:sp>
        <p:nvSpPr>
          <p:cNvPr id="5" name="">
            <a:extLst xmlns:a="http://schemas.openxmlformats.org/drawingml/2006/main">
              <a:ext uri="{FF2B5EF4-FFF2-40B4-BE49-F238E27FC236}">
                <a16:creationId xmlns:a16="http://schemas.microsoft.com/office/drawing/2014/main" id="{0B96B6E0-9D95-457E-BB6E-42A47BFD400D}"/>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31536A"/>
          </a:solidFill>
          <a:ln xmlns:a="http://schemas.openxmlformats.org/drawingml/2006/main" w="0">
            <a:solidFill>
              <a:srgbClr val="31536A"/>
            </a:solidFill>
            <a:prstDash val="solid"/>
          </a:ln>
        </p:spPr>
      </p:sp>
      <p:sp>
        <p:nvSpPr>
          <p:cNvPr id="6" name="">
            <a:extLst xmlns:a="http://schemas.openxmlformats.org/drawingml/2006/main">
              <a:ext uri="{FF2B5EF4-FFF2-40B4-BE49-F238E27FC236}">
                <a16:creationId xmlns:a16="http://schemas.microsoft.com/office/drawing/2014/main" id="{B39ED778-9844-45DA-B7A7-237D064EDBD9}"/>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D6E3EA"/>
                </a:solidFill>
                <a:latin typeface="Aptos"/>
                <a:ea typeface="Aptos"/>
                <a:cs typeface="Aptos"/>
              </a:defRPr>
            </a:pPr>
            <a:r>
              <a:rPr sz="570" b="0">
                <a:solidFill>
                  <a:srgbClr val="D6E3EA"/>
                </a:solidFill>
                <a:latin typeface="Aptos"/>
                <a:ea typeface="Aptos"/>
                <a:cs typeface="Aptos"/>
              </a:rPr>
              <a:t>Refs: Acedol PI; Torrent PI 2617</a:t>
            </a:r>
          </a:p>
        </p:txBody>
      </p:sp>
      <p:sp>
        <p:nvSpPr>
          <p:cNvPr id="7" name="">
            <a:extLst xmlns:a="http://schemas.openxmlformats.org/drawingml/2006/main">
              <a:ext uri="{FF2B5EF4-FFF2-40B4-BE49-F238E27FC236}">
                <a16:creationId xmlns:a16="http://schemas.microsoft.com/office/drawing/2014/main" id="{0B76BEEF-CCF4-437D-A630-9056B31B892B}"/>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D6E3EA"/>
                </a:solidFill>
                <a:latin typeface="Aptos"/>
                <a:ea typeface="Aptos"/>
                <a:cs typeface="Aptos"/>
              </a:defRPr>
            </a:pPr>
            <a:r>
              <a:rPr sz="570" b="0">
                <a:solidFill>
                  <a:srgbClr val="D6E3EA"/>
                </a:solidFill>
                <a:latin typeface="Aptos"/>
                <a:ea typeface="Aptos"/>
                <a:cs typeface="Aptos"/>
              </a:rPr>
              <a:t>Slide 12/25</a:t>
            </a:r>
          </a:p>
        </p:txBody>
      </p:sp>
      <p:sp>
        <p:nvSpPr>
          <p:cNvPr id="8" name="">
            <a:extLst xmlns:a="http://schemas.openxmlformats.org/drawingml/2006/main">
              <a:ext uri="{FF2B5EF4-FFF2-40B4-BE49-F238E27FC236}">
                <a16:creationId xmlns:a16="http://schemas.microsoft.com/office/drawing/2014/main" id="{74F84430-EDFC-497A-947A-E735BEC7FC32}"/>
              </a:ext>
            </a:extLst>
          </p:cNvPr>
          <p:cNvSpPr>
            <a:spLocks xmlns:a="http://schemas.openxmlformats.org/drawingml/2006/main" noGrp="1"/>
          </p:cNvSpPr>
          <p:nvPr/>
        </p:nvSpPr>
        <p:spPr>
          <a:xfrm xmlns:a="http://schemas.openxmlformats.org/drawingml/2006/main">
            <a:off x="685800" y="1504950"/>
            <a:ext cx="6153150" cy="304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Ask about ulcer history, prior GI bleeding, H. pylori history, corticosteroids, anticoagulants, antiplatelets, SSRIs, and alcohol use.</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Use the lowest effective dose for the shortest effective duration consistent with the label.</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Consider gastroprotection in higher-risk patients where local practice supports it.</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Escalate melaena, haematemesis, persistent abdominal pain, and unexplained anaemia promptly.</a:t>
            </a:r>
          </a:p>
        </p:txBody>
      </p:sp>
      <p:sp>
        <p:nvSpPr>
          <p:cNvPr id="9" name="">
            <a:extLst xmlns:a="http://schemas.openxmlformats.org/drawingml/2006/main">
              <a:ext uri="{FF2B5EF4-FFF2-40B4-BE49-F238E27FC236}">
                <a16:creationId xmlns:a16="http://schemas.microsoft.com/office/drawing/2014/main" id="{E3E87ACE-ACBB-4164-8BD1-9E211402ABEE}"/>
              </a:ext>
            </a:extLst>
          </p:cNvPr>
          <p:cNvSpPr>
            <a:spLocks xmlns:a="http://schemas.openxmlformats.org/drawingml/2006/main" noGrp="1"/>
          </p:cNvSpPr>
          <p:nvPr/>
        </p:nvSpPr>
        <p:spPr>
          <a:xfrm xmlns:a="http://schemas.openxmlformats.org/drawingml/2006/main">
            <a:off x="7239000" y="1676400"/>
            <a:ext cx="3848100" cy="1695450"/>
          </a:xfrm>
          <a:prstGeom xmlns:a="http://schemas.openxmlformats.org/drawingml/2006/main" prst="roundRect">
            <a:avLst>
              <a:gd name="adj" fmla="val 4494"/>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9FA44B0F-C3E3-41B1-919B-DAAFE69ED6B8}"/>
              </a:ext>
            </a:extLst>
          </p:cNvPr>
          <p:cNvSpPr>
            <a:spLocks xmlns:a="http://schemas.openxmlformats.org/drawingml/2006/main" noGrp="1"/>
          </p:cNvSpPr>
          <p:nvPr/>
        </p:nvSpPr>
        <p:spPr>
          <a:xfrm xmlns:a="http://schemas.openxmlformats.org/drawingml/2006/main">
            <a:off x="7372350" y="1790700"/>
            <a:ext cx="3581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Message to the HCP</a:t>
            </a:r>
          </a:p>
        </p:txBody>
      </p:sp>
      <p:sp>
        <p:nvSpPr>
          <p:cNvPr id="11" name="">
            <a:extLst xmlns:a="http://schemas.openxmlformats.org/drawingml/2006/main">
              <a:ext uri="{FF2B5EF4-FFF2-40B4-BE49-F238E27FC236}">
                <a16:creationId xmlns:a16="http://schemas.microsoft.com/office/drawing/2014/main" id="{49DCB8DC-C0F2-4F9E-B24F-1CD8A835576B}"/>
              </a:ext>
            </a:extLst>
          </p:cNvPr>
          <p:cNvSpPr>
            <a:spLocks xmlns:a="http://schemas.openxmlformats.org/drawingml/2006/main" noGrp="1"/>
          </p:cNvSpPr>
          <p:nvPr/>
        </p:nvSpPr>
        <p:spPr>
          <a:xfrm xmlns:a="http://schemas.openxmlformats.org/drawingml/2006/main">
            <a:off x="7372350" y="2076450"/>
            <a:ext cx="3581400" cy="12001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Risk is modifiable, not invisible. The practical question is who can use an NSAID, under what monitoring, and for how long.</a:t>
            </a:r>
          </a:p>
        </p:txBody>
      </p:sp>
      <p:sp>
        <p:nvSpPr>
          <p:cNvPr id="12" name="">
            <a:extLst xmlns:a="http://schemas.openxmlformats.org/drawingml/2006/main">
              <a:ext uri="{FF2B5EF4-FFF2-40B4-BE49-F238E27FC236}">
                <a16:creationId xmlns:a16="http://schemas.microsoft.com/office/drawing/2014/main" id="{177AFA0E-4D7A-4DBD-AC70-6FFC452E5C3B}"/>
              </a:ext>
            </a:extLst>
          </p:cNvPr>
          <p:cNvSpPr>
            <a:spLocks xmlns:a="http://schemas.openxmlformats.org/drawingml/2006/main" noGrp="1"/>
          </p:cNvSpPr>
          <p:nvPr/>
        </p:nvSpPr>
        <p:spPr>
          <a:xfrm xmlns:a="http://schemas.openxmlformats.org/drawingml/2006/main">
            <a:off x="7239000" y="3543300"/>
            <a:ext cx="3848100" cy="1104900"/>
          </a:xfrm>
          <a:prstGeom xmlns:a="http://schemas.openxmlformats.org/drawingml/2006/main" prst="roundRect">
            <a:avLst>
              <a:gd name="adj" fmla="val 6897"/>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BED6DDC6-D7D7-47B6-82AB-C77C96C0B865}"/>
              </a:ext>
            </a:extLst>
          </p:cNvPr>
          <p:cNvSpPr>
            <a:spLocks xmlns:a="http://schemas.openxmlformats.org/drawingml/2006/main" noGrp="1"/>
          </p:cNvSpPr>
          <p:nvPr/>
        </p:nvSpPr>
        <p:spPr>
          <a:xfrm xmlns:a="http://schemas.openxmlformats.org/drawingml/2006/main">
            <a:off x="7372350" y="3657600"/>
            <a:ext cx="3581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Presentation style</a:t>
            </a:r>
          </a:p>
        </p:txBody>
      </p:sp>
      <p:sp>
        <p:nvSpPr>
          <p:cNvPr id="14" name="">
            <a:extLst xmlns:a="http://schemas.openxmlformats.org/drawingml/2006/main">
              <a:ext uri="{FF2B5EF4-FFF2-40B4-BE49-F238E27FC236}">
                <a16:creationId xmlns:a16="http://schemas.microsoft.com/office/drawing/2014/main" id="{B789A3EC-C181-4DE7-B6D7-992394730886}"/>
              </a:ext>
            </a:extLst>
          </p:cNvPr>
          <p:cNvSpPr>
            <a:spLocks xmlns:a="http://schemas.openxmlformats.org/drawingml/2006/main" noGrp="1"/>
          </p:cNvSpPr>
          <p:nvPr/>
        </p:nvSpPr>
        <p:spPr>
          <a:xfrm xmlns:a="http://schemas.openxmlformats.org/drawingml/2006/main">
            <a:off x="7372350" y="3943350"/>
            <a:ext cx="3581400" cy="6096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900" b="0">
                <a:solidFill>
                  <a:srgbClr val="24313A"/>
                </a:solidFill>
                <a:latin typeface="Aptos"/>
                <a:ea typeface="Aptos"/>
                <a:cs typeface="Aptos"/>
              </a:defRPr>
            </a:pPr>
            <a:r>
              <a:rPr sz="900" b="0">
                <a:solidFill>
                  <a:srgbClr val="24313A"/>
                </a:solidFill>
                <a:latin typeface="Aptos"/>
                <a:ea typeface="Aptos"/>
                <a:cs typeface="Aptos"/>
              </a:rPr>
              <a:t>Avoid vague caution language. Be concrete about triggers, monitoring, and stop rules.</a:t>
            </a:r>
          </a:p>
        </p:txBody>
      </p:sp>
      <p:sp>
        <p:nvSpPr>
          <p:cNvPr id="15" name="">
            <a:extLst xmlns:a="http://schemas.openxmlformats.org/drawingml/2006/main">
              <a:ext uri="{FF2B5EF4-FFF2-40B4-BE49-F238E27FC236}">
                <a16:creationId xmlns:a16="http://schemas.microsoft.com/office/drawing/2014/main" id="{E09FD641-0C7B-449A-9DB5-2785E7CD52A8}"/>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GI precautions should be clinical and actionable.</a:t>
            </a:r>
          </a:p>
        </p:txBody>
      </p:sp>
    </p:spTree>
    <p:extLst>
      <p:ext uri="{BB962C8B-B14F-4D97-AF65-F5344CB8AC3E}">
        <p14:creationId xmlns:p14="http://schemas.microsoft.com/office/powerpoint/2010/main" val="5203946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269FA34-B2D6-4436-BFCC-02BC762687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597E05A6-2326-41EE-8DE2-91BD1542551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761AC2CF-64F6-4457-9FB4-9D7DCB52E88A}"/>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Renal, cardiovascular, and hepatic cautions</a:t>
            </a:r>
          </a:p>
        </p:txBody>
      </p:sp>
      <p:sp>
        <p:nvSpPr>
          <p:cNvPr id="4" name="">
            <a:extLst xmlns:a="http://schemas.openxmlformats.org/drawingml/2006/main">
              <a:ext uri="{FF2B5EF4-FFF2-40B4-BE49-F238E27FC236}">
                <a16:creationId xmlns:a16="http://schemas.microsoft.com/office/drawing/2014/main" id="{933071E4-C69B-4855-935C-D477027D9467}"/>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good HCP talk shows the rest of the organ systems, not only the stomach.</a:t>
            </a:r>
          </a:p>
        </p:txBody>
      </p:sp>
      <p:sp>
        <p:nvSpPr>
          <p:cNvPr id="5" name="">
            <a:extLst xmlns:a="http://schemas.openxmlformats.org/drawingml/2006/main">
              <a:ext uri="{FF2B5EF4-FFF2-40B4-BE49-F238E27FC236}">
                <a16:creationId xmlns:a16="http://schemas.microsoft.com/office/drawing/2014/main" id="{31CBF825-CA8B-4119-A29E-CAA807CF58C3}"/>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03603ADA-490E-41AC-8650-DBACABE2D93D}"/>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Torrent PI 2617; Torrent PI 3073</a:t>
            </a:r>
          </a:p>
        </p:txBody>
      </p:sp>
      <p:sp>
        <p:nvSpPr>
          <p:cNvPr id="7" name="">
            <a:extLst xmlns:a="http://schemas.openxmlformats.org/drawingml/2006/main">
              <a:ext uri="{FF2B5EF4-FFF2-40B4-BE49-F238E27FC236}">
                <a16:creationId xmlns:a16="http://schemas.microsoft.com/office/drawing/2014/main" id="{F1B61440-13EE-4CF9-95E2-542713CA3805}"/>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13/25</a:t>
            </a:r>
          </a:p>
        </p:txBody>
      </p:sp>
      <p:sp>
        <p:nvSpPr>
          <p:cNvPr id="8" name="">
            <a:extLst xmlns:a="http://schemas.openxmlformats.org/drawingml/2006/main">
              <a:ext uri="{FF2B5EF4-FFF2-40B4-BE49-F238E27FC236}">
                <a16:creationId xmlns:a16="http://schemas.microsoft.com/office/drawing/2014/main" id="{239C5407-8BF1-460E-854A-118CB770857D}"/>
              </a:ext>
            </a:extLst>
          </p:cNvPr>
          <p:cNvSpPr>
            <a:spLocks xmlns:a="http://schemas.openxmlformats.org/drawingml/2006/main" noGrp="1"/>
          </p:cNvSpPr>
          <p:nvPr/>
        </p:nvSpPr>
        <p:spPr>
          <a:xfrm xmlns:a="http://schemas.openxmlformats.org/drawingml/2006/main">
            <a:off x="609600" y="1485900"/>
            <a:ext cx="3467100" cy="1809750"/>
          </a:xfrm>
          <a:prstGeom xmlns:a="http://schemas.openxmlformats.org/drawingml/2006/main" prst="roundRect">
            <a:avLst>
              <a:gd name="adj" fmla="val 4211"/>
            </a:avLst>
          </a:prstGeom>
          <a:solidFill xmlns:a="http://schemas.openxmlformats.org/drawingml/2006/main">
            <a:srgbClr val="F4F8F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5778A81F-C520-44B2-9CCC-AD0E4B59DA51}"/>
              </a:ext>
            </a:extLst>
          </p:cNvPr>
          <p:cNvSpPr>
            <a:spLocks xmlns:a="http://schemas.openxmlformats.org/drawingml/2006/main" noGrp="1"/>
          </p:cNvSpPr>
          <p:nvPr/>
        </p:nvSpPr>
        <p:spPr>
          <a:xfrm xmlns:a="http://schemas.openxmlformats.org/drawingml/2006/main">
            <a:off x="742950" y="1600200"/>
            <a:ext cx="32004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Renal</a:t>
            </a:r>
          </a:p>
        </p:txBody>
      </p:sp>
      <p:sp>
        <p:nvSpPr>
          <p:cNvPr id="10" name="">
            <a:extLst xmlns:a="http://schemas.openxmlformats.org/drawingml/2006/main">
              <a:ext uri="{FF2B5EF4-FFF2-40B4-BE49-F238E27FC236}">
                <a16:creationId xmlns:a16="http://schemas.microsoft.com/office/drawing/2014/main" id="{3EF618AD-2B4E-45A8-AF36-1C91590ACC50}"/>
              </a:ext>
            </a:extLst>
          </p:cNvPr>
          <p:cNvSpPr>
            <a:spLocks xmlns:a="http://schemas.openxmlformats.org/drawingml/2006/main" noGrp="1"/>
          </p:cNvSpPr>
          <p:nvPr/>
        </p:nvSpPr>
        <p:spPr>
          <a:xfrm xmlns:a="http://schemas.openxmlformats.org/drawingml/2006/main">
            <a:off x="742950" y="1885950"/>
            <a:ext cx="3200400" cy="13144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Caution is needed in dehydration, CKD, heart failure, diuretic use, ACEi/ARB use, and post-operative states because renal perfusion may fall.</a:t>
            </a:r>
          </a:p>
        </p:txBody>
      </p:sp>
      <p:sp>
        <p:nvSpPr>
          <p:cNvPr id="11" name="">
            <a:extLst xmlns:a="http://schemas.openxmlformats.org/drawingml/2006/main">
              <a:ext uri="{FF2B5EF4-FFF2-40B4-BE49-F238E27FC236}">
                <a16:creationId xmlns:a16="http://schemas.microsoft.com/office/drawing/2014/main" id="{685B491E-2FFD-4888-ACF6-5B605ACF206A}"/>
              </a:ext>
            </a:extLst>
          </p:cNvPr>
          <p:cNvSpPr>
            <a:spLocks xmlns:a="http://schemas.openxmlformats.org/drawingml/2006/main" noGrp="1"/>
          </p:cNvSpPr>
          <p:nvPr/>
        </p:nvSpPr>
        <p:spPr>
          <a:xfrm xmlns:a="http://schemas.openxmlformats.org/drawingml/2006/main">
            <a:off x="4362450" y="1485900"/>
            <a:ext cx="3467100" cy="1809750"/>
          </a:xfrm>
          <a:prstGeom xmlns:a="http://schemas.openxmlformats.org/drawingml/2006/main" prst="roundRect">
            <a:avLst>
              <a:gd name="adj" fmla="val 4211"/>
            </a:avLst>
          </a:prstGeom>
          <a:solidFill xmlns:a="http://schemas.openxmlformats.org/drawingml/2006/main">
            <a:srgbClr val="EAF4F7"/>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B065D1AD-47E2-4E94-B156-BF7EC921D531}"/>
              </a:ext>
            </a:extLst>
          </p:cNvPr>
          <p:cNvSpPr>
            <a:spLocks xmlns:a="http://schemas.openxmlformats.org/drawingml/2006/main" noGrp="1"/>
          </p:cNvSpPr>
          <p:nvPr/>
        </p:nvSpPr>
        <p:spPr>
          <a:xfrm xmlns:a="http://schemas.openxmlformats.org/drawingml/2006/main">
            <a:off x="4495800" y="1600200"/>
            <a:ext cx="3200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Cardiovascular</a:t>
            </a:r>
          </a:p>
        </p:txBody>
      </p:sp>
      <p:sp>
        <p:nvSpPr>
          <p:cNvPr id="13" name="">
            <a:extLst xmlns:a="http://schemas.openxmlformats.org/drawingml/2006/main">
              <a:ext uri="{FF2B5EF4-FFF2-40B4-BE49-F238E27FC236}">
                <a16:creationId xmlns:a16="http://schemas.microsoft.com/office/drawing/2014/main" id="{FCF19E08-4EF4-4071-A176-C73029BAE507}"/>
              </a:ext>
            </a:extLst>
          </p:cNvPr>
          <p:cNvSpPr>
            <a:spLocks xmlns:a="http://schemas.openxmlformats.org/drawingml/2006/main" noGrp="1"/>
          </p:cNvSpPr>
          <p:nvPr/>
        </p:nvSpPr>
        <p:spPr>
          <a:xfrm xmlns:a="http://schemas.openxmlformats.org/drawingml/2006/main">
            <a:off x="4495800" y="1885950"/>
            <a:ext cx="3200400" cy="13144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Hypertension, oedema, and heart failure are class concerns; use is cautious in patients with significant CV disease or risk factors.</a:t>
            </a:r>
          </a:p>
        </p:txBody>
      </p:sp>
      <p:sp>
        <p:nvSpPr>
          <p:cNvPr id="14" name="">
            <a:extLst xmlns:a="http://schemas.openxmlformats.org/drawingml/2006/main">
              <a:ext uri="{FF2B5EF4-FFF2-40B4-BE49-F238E27FC236}">
                <a16:creationId xmlns:a16="http://schemas.microsoft.com/office/drawing/2014/main" id="{082DCF52-0108-446D-A420-93374EF22612}"/>
              </a:ext>
            </a:extLst>
          </p:cNvPr>
          <p:cNvSpPr>
            <a:spLocks xmlns:a="http://schemas.openxmlformats.org/drawingml/2006/main" noGrp="1"/>
          </p:cNvSpPr>
          <p:nvPr/>
        </p:nvSpPr>
        <p:spPr>
          <a:xfrm xmlns:a="http://schemas.openxmlformats.org/drawingml/2006/main">
            <a:off x="8115300" y="1485900"/>
            <a:ext cx="3467100" cy="1809750"/>
          </a:xfrm>
          <a:prstGeom xmlns:a="http://schemas.openxmlformats.org/drawingml/2006/main" prst="roundRect">
            <a:avLst>
              <a:gd name="adj" fmla="val 421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88D88662-E46F-4325-A892-CAF9F9705509}"/>
              </a:ext>
            </a:extLst>
          </p:cNvPr>
          <p:cNvSpPr>
            <a:spLocks xmlns:a="http://schemas.openxmlformats.org/drawingml/2006/main" noGrp="1"/>
          </p:cNvSpPr>
          <p:nvPr/>
        </p:nvSpPr>
        <p:spPr>
          <a:xfrm xmlns:a="http://schemas.openxmlformats.org/drawingml/2006/main">
            <a:off x="8248650" y="1600200"/>
            <a:ext cx="32004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Hepatic</a:t>
            </a:r>
          </a:p>
        </p:txBody>
      </p:sp>
      <p:sp>
        <p:nvSpPr>
          <p:cNvPr id="16" name="">
            <a:extLst xmlns:a="http://schemas.openxmlformats.org/drawingml/2006/main">
              <a:ext uri="{FF2B5EF4-FFF2-40B4-BE49-F238E27FC236}">
                <a16:creationId xmlns:a16="http://schemas.microsoft.com/office/drawing/2014/main" id="{9E0EAE6B-3A23-45E6-A6D4-DADB133EEB3D}"/>
              </a:ext>
            </a:extLst>
          </p:cNvPr>
          <p:cNvSpPr>
            <a:spLocks xmlns:a="http://schemas.openxmlformats.org/drawingml/2006/main" noGrp="1"/>
          </p:cNvSpPr>
          <p:nvPr/>
        </p:nvSpPr>
        <p:spPr>
          <a:xfrm xmlns:a="http://schemas.openxmlformats.org/drawingml/2006/main">
            <a:off x="8248650" y="1885950"/>
            <a:ext cx="3200400" cy="13144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If LFTs persistently worsen, or if liver-disease symptoms appear, the drug should be stopped and reassessed.</a:t>
            </a:r>
          </a:p>
        </p:txBody>
      </p:sp>
      <p:sp>
        <p:nvSpPr>
          <p:cNvPr id="17" name="">
            <a:extLst xmlns:a="http://schemas.openxmlformats.org/drawingml/2006/main">
              <a:ext uri="{FF2B5EF4-FFF2-40B4-BE49-F238E27FC236}">
                <a16:creationId xmlns:a16="http://schemas.microsoft.com/office/drawing/2014/main" id="{F9C66E8F-2BA3-4024-9EDC-FE7F6BDAD4C7}"/>
              </a:ext>
            </a:extLst>
          </p:cNvPr>
          <p:cNvSpPr>
            <a:spLocks xmlns:a="http://schemas.openxmlformats.org/drawingml/2006/main" noGrp="1"/>
          </p:cNvSpPr>
          <p:nvPr/>
        </p:nvSpPr>
        <p:spPr>
          <a:xfrm xmlns:a="http://schemas.openxmlformats.org/drawingml/2006/main">
            <a:off x="990600" y="3733800"/>
            <a:ext cx="102108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4623441A-FC01-463C-9496-BCEB7C89E9DE}"/>
              </a:ext>
            </a:extLst>
          </p:cNvPr>
          <p:cNvSpPr>
            <a:spLocks xmlns:a="http://schemas.openxmlformats.org/drawingml/2006/main" noGrp="1"/>
          </p:cNvSpPr>
          <p:nvPr/>
        </p:nvSpPr>
        <p:spPr>
          <a:xfrm xmlns:a="http://schemas.openxmlformats.org/drawingml/2006/main">
            <a:off x="1123950" y="38481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Clinical guidance</a:t>
            </a:r>
          </a:p>
        </p:txBody>
      </p:sp>
      <p:sp>
        <p:nvSpPr>
          <p:cNvPr id="19" name="">
            <a:extLst xmlns:a="http://schemas.openxmlformats.org/drawingml/2006/main">
              <a:ext uri="{FF2B5EF4-FFF2-40B4-BE49-F238E27FC236}">
                <a16:creationId xmlns:a16="http://schemas.microsoft.com/office/drawing/2014/main" id="{7837BBA9-AE90-432D-8A56-290DF7CC95AD}"/>
              </a:ext>
            </a:extLst>
          </p:cNvPr>
          <p:cNvSpPr>
            <a:spLocks xmlns:a="http://schemas.openxmlformats.org/drawingml/2006/main" noGrp="1"/>
          </p:cNvSpPr>
          <p:nvPr/>
        </p:nvSpPr>
        <p:spPr>
          <a:xfrm xmlns:a="http://schemas.openxmlformats.org/drawingml/2006/main">
            <a:off x="1123950" y="4133850"/>
            <a:ext cx="99441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35" b="0">
                <a:solidFill>
                  <a:srgbClr val="24313A"/>
                </a:solidFill>
                <a:latin typeface="Aptos"/>
                <a:ea typeface="Aptos"/>
                <a:cs typeface="Aptos"/>
              </a:defRPr>
            </a:pPr>
            <a:r>
              <a:rPr sz="1035" b="0">
                <a:solidFill>
                  <a:srgbClr val="24313A"/>
                </a:solidFill>
                <a:latin typeface="Aptos"/>
                <a:ea typeface="Aptos"/>
                <a:cs typeface="Aptos"/>
              </a:rPr>
              <a:t>The right scientific framing is not 'NSAIDs are risky' but 'here is which risk is relevant, how to monitor it, and when to stop'.</a:t>
            </a:r>
          </a:p>
        </p:txBody>
      </p:sp>
    </p:spTree>
    <p:extLst>
      <p:ext uri="{BB962C8B-B14F-4D97-AF65-F5344CB8AC3E}">
        <p14:creationId xmlns:p14="http://schemas.microsoft.com/office/powerpoint/2010/main" val="16574952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09CFA5-970A-413E-8B6F-4094756C36B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F69246C-C238-4225-84DF-083518B3537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CFE32FBB-D082-4AE0-9588-FCBC1513E906}"/>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Drug interactions and concomitant therapy checks</a:t>
            </a:r>
          </a:p>
        </p:txBody>
      </p:sp>
      <p:sp>
        <p:nvSpPr>
          <p:cNvPr id="4" name="">
            <a:extLst xmlns:a="http://schemas.openxmlformats.org/drawingml/2006/main">
              <a:ext uri="{FF2B5EF4-FFF2-40B4-BE49-F238E27FC236}">
                <a16:creationId xmlns:a16="http://schemas.microsoft.com/office/drawing/2014/main" id="{4A64F7B7-541E-478A-B9AC-A0D416C75923}"/>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NSAID interactions are often about the full regimen and comorbidity profile.</a:t>
            </a:r>
          </a:p>
        </p:txBody>
      </p:sp>
      <p:sp>
        <p:nvSpPr>
          <p:cNvPr id="5" name="">
            <a:extLst xmlns:a="http://schemas.openxmlformats.org/drawingml/2006/main">
              <a:ext uri="{FF2B5EF4-FFF2-40B4-BE49-F238E27FC236}">
                <a16:creationId xmlns:a16="http://schemas.microsoft.com/office/drawing/2014/main" id="{2DD25CC8-8300-4B3B-917D-774C7D41F150}"/>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DED74AD5-A0AE-49F1-81E2-DF94482501CB}"/>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Torrent PI 2617</a:t>
            </a:r>
          </a:p>
        </p:txBody>
      </p:sp>
      <p:sp>
        <p:nvSpPr>
          <p:cNvPr id="7" name="">
            <a:extLst xmlns:a="http://schemas.openxmlformats.org/drawingml/2006/main">
              <a:ext uri="{FF2B5EF4-FFF2-40B4-BE49-F238E27FC236}">
                <a16:creationId xmlns:a16="http://schemas.microsoft.com/office/drawing/2014/main" id="{98ADC690-E4A1-4DA4-A65C-7DD509375E23}"/>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14/25</a:t>
            </a:r>
          </a:p>
        </p:txBody>
      </p:sp>
      <p:graphicFrame>
        <p:nvGraphicFramePr>
          <p:cNvPr id="8" name=""/>
          <p:cNvGraphicFramePr/>
          <p:nvPr/>
        </p:nvGraphicFramePr>
        <p:xfrm>
          <a:off xmlns:a="http://schemas.openxmlformats.org/drawingml/2006/main" x="609600" y="1485900"/>
          <a:ext xmlns:a="http://schemas.openxmlformats.org/drawingml/2006/main" cx="7029450" cy="2724150"/>
        </p:xfrm>
        <a:graphic xmlns:a="http://schemas.openxmlformats.org/drawingml/2006/main">
          <a:graphicData uri="http://schemas.openxmlformats.org/drawingml/2006/table">
            <a:tbl>
              <a:tblPr/>
              <a:tblGrid>
                <a:gridCol w="2249424"/>
                <a:gridCol w="4780026"/>
              </a:tblGrid>
              <a:tr h="454025">
                <a:tc>
                  <a:txBody>
                    <a:bodyPr/>
                    <a:lstStyle/>
                    <a:p>
                      <a:r>
                        <a:rPr sz="750" b="1">
                          <a:solidFill>
                            <a:srgbClr val="FFFFFF"/>
                          </a:solidFill>
                          <a:latin typeface="Aptos"/>
                          <a:ea typeface="Aptos"/>
                          <a:cs typeface="Aptos"/>
                        </a:rPr>
                        <a:t>Interaction class</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Why it matters</a:t>
                      </a:r>
                    </a:p>
                  </a:txBody>
                  <a:tcPr marL="91440" marR="91440" marT="45720" marB="45720">
                    <a:lnB w="9525">
                      <a:solidFill>
                        <a:srgbClr val="FFFFFF"/>
                      </a:solidFill>
                    </a:lnB>
                    <a:solidFill>
                      <a:srgbClr val="16324F"/>
                    </a:solidFill>
                  </a:tcPr>
                </a:tc>
              </a:tr>
              <a:tr h="454025">
                <a:tc>
                  <a:txBody>
                    <a:bodyPr/>
                    <a:lstStyle/>
                    <a:p>
                      <a:r>
                        <a:t>Anticoagulants / antiplatelets</a:t>
                      </a:r>
                    </a:p>
                  </a:txBody>
                  <a:tcPr marL="91440" marR="91440" marT="45720" marB="45720"/>
                </a:tc>
                <a:tc>
                  <a:txBody>
                    <a:bodyPr/>
                    <a:lstStyle/>
                    <a:p>
                      <a:r>
                        <a:t>Bleeding risk rises</a:t>
                      </a:r>
                    </a:p>
                  </a:txBody>
                  <a:tcPr marL="91440" marR="91440" marT="45720" marB="45720"/>
                </a:tc>
              </a:tr>
              <a:tr h="454025">
                <a:tc>
                  <a:txBody>
                    <a:bodyPr/>
                    <a:lstStyle/>
                    <a:p>
                      <a:r>
                        <a:t>Other NSAIDs / COX-2s</a:t>
                      </a:r>
                    </a:p>
                  </a:txBody>
                  <a:tcPr marL="91440" marR="91440" marT="45720" marB="45720"/>
                </a:tc>
                <a:tc>
                  <a:txBody>
                    <a:bodyPr/>
                    <a:lstStyle/>
                    <a:p>
                      <a:r>
                        <a:t>Duplicate toxicity without added benefit</a:t>
                      </a:r>
                    </a:p>
                  </a:txBody>
                  <a:tcPr marL="91440" marR="91440" marT="45720" marB="45720"/>
                </a:tc>
              </a:tr>
              <a:tr h="454025">
                <a:tc>
                  <a:txBody>
                    <a:bodyPr/>
                    <a:lstStyle/>
                    <a:p>
                      <a:r>
                        <a:t>ACEi / ARB + diuretic</a:t>
                      </a:r>
                    </a:p>
                  </a:txBody>
                  <a:tcPr marL="91440" marR="91440" marT="45720" marB="45720"/>
                </a:tc>
                <a:tc>
                  <a:txBody>
                    <a:bodyPr/>
                    <a:lstStyle/>
                    <a:p>
                      <a:r>
                        <a:t>Renal perfusion and AKI concern</a:t>
                      </a:r>
                    </a:p>
                  </a:txBody>
                  <a:tcPr marL="91440" marR="91440" marT="45720" marB="45720"/>
                </a:tc>
              </a:tr>
              <a:tr h="454025">
                <a:tc>
                  <a:txBody>
                    <a:bodyPr/>
                    <a:lstStyle/>
                    <a:p>
                      <a:r>
                        <a:t>Lithium / methotrexate</a:t>
                      </a:r>
                    </a:p>
                  </a:txBody>
                  <a:tcPr marL="91440" marR="91440" marT="45720" marB="45720"/>
                </a:tc>
                <a:tc>
                  <a:txBody>
                    <a:bodyPr/>
                    <a:lstStyle/>
                    <a:p>
                      <a:r>
                        <a:t>Potential exposure increase and toxicity</a:t>
                      </a:r>
                    </a:p>
                  </a:txBody>
                  <a:tcPr marL="91440" marR="91440" marT="45720" marB="45720"/>
                </a:tc>
              </a:tr>
              <a:tr h="454025">
                <a:tc>
                  <a:txBody>
                    <a:bodyPr/>
                    <a:lstStyle/>
                    <a:p>
                      <a:r>
                        <a:t>Steroids / SSRIs / alcohol</a:t>
                      </a:r>
                    </a:p>
                  </a:txBody>
                  <a:tcPr marL="91440" marR="91440" marT="45720" marB="45720"/>
                </a:tc>
                <a:tc>
                  <a:txBody>
                    <a:bodyPr/>
                    <a:lstStyle/>
                    <a:p>
                      <a:r>
                        <a:t>GI risk may rise further</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78689CA2-D71F-4762-A063-3E871D81EEAB}"/>
              </a:ext>
            </a:extLst>
          </p:cNvPr>
          <p:cNvSpPr>
            <a:spLocks xmlns:a="http://schemas.openxmlformats.org/drawingml/2006/main" noGrp="1"/>
          </p:cNvSpPr>
          <p:nvPr/>
        </p:nvSpPr>
        <p:spPr>
          <a:xfrm xmlns:a="http://schemas.openxmlformats.org/drawingml/2006/main">
            <a:off x="7905750" y="1524000"/>
            <a:ext cx="3695700" cy="1676400"/>
          </a:xfrm>
          <a:prstGeom xmlns:a="http://schemas.openxmlformats.org/drawingml/2006/main" prst="roundRect">
            <a:avLst>
              <a:gd name="adj" fmla="val 4545"/>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C3B3AF8E-1F49-4E2C-9396-C9D7E983C760}"/>
              </a:ext>
            </a:extLst>
          </p:cNvPr>
          <p:cNvSpPr>
            <a:spLocks xmlns:a="http://schemas.openxmlformats.org/drawingml/2006/main" noGrp="1"/>
          </p:cNvSpPr>
          <p:nvPr/>
        </p:nvSpPr>
        <p:spPr>
          <a:xfrm xmlns:a="http://schemas.openxmlformats.org/drawingml/2006/main">
            <a:off x="8039100" y="1638300"/>
            <a:ext cx="34290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What the HCP needs</a:t>
            </a:r>
          </a:p>
        </p:txBody>
      </p:sp>
      <p:sp>
        <p:nvSpPr>
          <p:cNvPr id="11" name="">
            <a:extLst xmlns:a="http://schemas.openxmlformats.org/drawingml/2006/main">
              <a:ext uri="{FF2B5EF4-FFF2-40B4-BE49-F238E27FC236}">
                <a16:creationId xmlns:a16="http://schemas.microsoft.com/office/drawing/2014/main" id="{20D7568B-4E72-44AC-8516-11D1B8DDE40D}"/>
              </a:ext>
            </a:extLst>
          </p:cNvPr>
          <p:cNvSpPr>
            <a:spLocks xmlns:a="http://schemas.openxmlformats.org/drawingml/2006/main" noGrp="1"/>
          </p:cNvSpPr>
          <p:nvPr/>
        </p:nvSpPr>
        <p:spPr>
          <a:xfrm xmlns:a="http://schemas.openxmlformats.org/drawingml/2006/main">
            <a:off x="8039100" y="1924050"/>
            <a:ext cx="3429000" cy="11811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A short medication review before starting an NSAID is a genuine clinical safety step, not a checkbox.</a:t>
            </a:r>
          </a:p>
        </p:txBody>
      </p:sp>
      <p:sp>
        <p:nvSpPr>
          <p:cNvPr id="12" name="">
            <a:extLst xmlns:a="http://schemas.openxmlformats.org/drawingml/2006/main">
              <a:ext uri="{FF2B5EF4-FFF2-40B4-BE49-F238E27FC236}">
                <a16:creationId xmlns:a16="http://schemas.microsoft.com/office/drawing/2014/main" id="{8D51B472-3DAE-4A58-AC67-1BA2CF850A53}"/>
              </a:ext>
            </a:extLst>
          </p:cNvPr>
          <p:cNvSpPr>
            <a:spLocks xmlns:a="http://schemas.openxmlformats.org/drawingml/2006/main" noGrp="1"/>
          </p:cNvSpPr>
          <p:nvPr/>
        </p:nvSpPr>
        <p:spPr>
          <a:xfrm xmlns:a="http://schemas.openxmlformats.org/drawingml/2006/main">
            <a:off x="7905750" y="3371850"/>
            <a:ext cx="3695700" cy="1123950"/>
          </a:xfrm>
          <a:prstGeom xmlns:a="http://schemas.openxmlformats.org/drawingml/2006/main" prst="roundRect">
            <a:avLst>
              <a:gd name="adj" fmla="val 6780"/>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A173BA7C-7DFE-42E6-B714-8083198A7998}"/>
              </a:ext>
            </a:extLst>
          </p:cNvPr>
          <p:cNvSpPr>
            <a:spLocks xmlns:a="http://schemas.openxmlformats.org/drawingml/2006/main" noGrp="1"/>
          </p:cNvSpPr>
          <p:nvPr/>
        </p:nvSpPr>
        <p:spPr>
          <a:xfrm xmlns:a="http://schemas.openxmlformats.org/drawingml/2006/main">
            <a:off x="8039100" y="3486150"/>
            <a:ext cx="34290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Tip</a:t>
            </a:r>
          </a:p>
        </p:txBody>
      </p:sp>
      <p:sp>
        <p:nvSpPr>
          <p:cNvPr id="14" name="">
            <a:extLst xmlns:a="http://schemas.openxmlformats.org/drawingml/2006/main">
              <a:ext uri="{FF2B5EF4-FFF2-40B4-BE49-F238E27FC236}">
                <a16:creationId xmlns:a16="http://schemas.microsoft.com/office/drawing/2014/main" id="{CA3C115D-1266-468B-A6EB-995C49C13AFB}"/>
              </a:ext>
            </a:extLst>
          </p:cNvPr>
          <p:cNvSpPr>
            <a:spLocks xmlns:a="http://schemas.openxmlformats.org/drawingml/2006/main" noGrp="1"/>
          </p:cNvSpPr>
          <p:nvPr/>
        </p:nvSpPr>
        <p:spPr>
          <a:xfrm xmlns:a="http://schemas.openxmlformats.org/drawingml/2006/main">
            <a:off x="8039100" y="3771900"/>
            <a:ext cx="3429000" cy="6286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slide should end with a question: 'What else is the patient taking and what organ systems are already vulnerable?'</a:t>
            </a:r>
          </a:p>
        </p:txBody>
      </p:sp>
    </p:spTree>
    <p:extLst>
      <p:ext uri="{BB962C8B-B14F-4D97-AF65-F5344CB8AC3E}">
        <p14:creationId xmlns:p14="http://schemas.microsoft.com/office/powerpoint/2010/main" val="13731134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CA5161-E736-43CE-B891-4099EA8CDA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AD0AC48-D249-4BE5-AEB2-586F3C976B9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3144D760-7D2C-420A-AB3C-5C211964A99F}"/>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Dosing and administration</a:t>
            </a:r>
          </a:p>
        </p:txBody>
      </p:sp>
      <p:sp>
        <p:nvSpPr>
          <p:cNvPr id="4" name="">
            <a:extLst xmlns:a="http://schemas.openxmlformats.org/drawingml/2006/main">
              <a:ext uri="{FF2B5EF4-FFF2-40B4-BE49-F238E27FC236}">
                <a16:creationId xmlns:a16="http://schemas.microsoft.com/office/drawing/2014/main" id="{26C50160-84B1-4E3C-954A-E7CAAC8BF43F}"/>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This slide should be based on the approved label, not memory.</a:t>
            </a:r>
          </a:p>
        </p:txBody>
      </p:sp>
      <p:sp>
        <p:nvSpPr>
          <p:cNvPr id="5" name="">
            <a:extLst xmlns:a="http://schemas.openxmlformats.org/drawingml/2006/main">
              <a:ext uri="{FF2B5EF4-FFF2-40B4-BE49-F238E27FC236}">
                <a16:creationId xmlns:a16="http://schemas.microsoft.com/office/drawing/2014/main" id="{D76E21BD-B9CF-41CE-AF8E-D059C58CD91C}"/>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D0D91C11-6E8A-4954-BC63-FF6CDE75A55A}"/>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Torrent PI 2617</a:t>
            </a:r>
          </a:p>
        </p:txBody>
      </p:sp>
      <p:sp>
        <p:nvSpPr>
          <p:cNvPr id="7" name="">
            <a:extLst xmlns:a="http://schemas.openxmlformats.org/drawingml/2006/main">
              <a:ext uri="{FF2B5EF4-FFF2-40B4-BE49-F238E27FC236}">
                <a16:creationId xmlns:a16="http://schemas.microsoft.com/office/drawing/2014/main" id="{7F3F5FC9-9FE6-4852-A56B-9B1E5CF536B0}"/>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15/25</a:t>
            </a:r>
          </a:p>
        </p:txBody>
      </p:sp>
      <p:sp>
        <p:nvSpPr>
          <p:cNvPr id="8" name="">
            <a:extLst xmlns:a="http://schemas.openxmlformats.org/drawingml/2006/main">
              <a:ext uri="{FF2B5EF4-FFF2-40B4-BE49-F238E27FC236}">
                <a16:creationId xmlns:a16="http://schemas.microsoft.com/office/drawing/2014/main" id="{28D5CD80-872B-43FF-BCAF-83CFDAE7DF5D}"/>
              </a:ext>
            </a:extLst>
          </p:cNvPr>
          <p:cNvSpPr>
            <a:spLocks xmlns:a="http://schemas.openxmlformats.org/drawingml/2006/main" noGrp="1"/>
          </p:cNvSpPr>
          <p:nvPr/>
        </p:nvSpPr>
        <p:spPr>
          <a:xfrm xmlns:a="http://schemas.openxmlformats.org/drawingml/2006/main">
            <a:off x="609600" y="1485900"/>
            <a:ext cx="3429000" cy="1714500"/>
          </a:xfrm>
          <a:prstGeom xmlns:a="http://schemas.openxmlformats.org/drawingml/2006/main" prst="roundRect">
            <a:avLst>
              <a:gd name="adj" fmla="val 4444"/>
            </a:avLst>
          </a:prstGeom>
          <a:solidFill xmlns:a="http://schemas.openxmlformats.org/drawingml/2006/main">
            <a:srgbClr val="F4F8F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A1E02B52-3697-4586-A07D-C801E2A53445}"/>
              </a:ext>
            </a:extLst>
          </p:cNvPr>
          <p:cNvSpPr>
            <a:spLocks xmlns:a="http://schemas.openxmlformats.org/drawingml/2006/main" noGrp="1"/>
          </p:cNvSpPr>
          <p:nvPr/>
        </p:nvSpPr>
        <p:spPr>
          <a:xfrm xmlns:a="http://schemas.openxmlformats.org/drawingml/2006/main">
            <a:off x="742950" y="1600200"/>
            <a:ext cx="31623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Dose principle</a:t>
            </a:r>
          </a:p>
        </p:txBody>
      </p:sp>
      <p:sp>
        <p:nvSpPr>
          <p:cNvPr id="10" name="">
            <a:extLst xmlns:a="http://schemas.openxmlformats.org/drawingml/2006/main">
              <a:ext uri="{FF2B5EF4-FFF2-40B4-BE49-F238E27FC236}">
                <a16:creationId xmlns:a16="http://schemas.microsoft.com/office/drawing/2014/main" id="{B118251C-56A0-44E4-A5C3-A7A1AB129DC6}"/>
              </a:ext>
            </a:extLst>
          </p:cNvPr>
          <p:cNvSpPr>
            <a:spLocks xmlns:a="http://schemas.openxmlformats.org/drawingml/2006/main" noGrp="1"/>
          </p:cNvSpPr>
          <p:nvPr/>
        </p:nvSpPr>
        <p:spPr>
          <a:xfrm xmlns:a="http://schemas.openxmlformats.org/drawingml/2006/main">
            <a:off x="742950" y="1885950"/>
            <a:ext cx="3162300" cy="12192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Acedol PI describes 100 mg twice daily by mouth. Dose frequency may vary by local market and formulation.</a:t>
            </a:r>
          </a:p>
        </p:txBody>
      </p:sp>
      <p:sp>
        <p:nvSpPr>
          <p:cNvPr id="11" name="">
            <a:extLst xmlns:a="http://schemas.openxmlformats.org/drawingml/2006/main">
              <a:ext uri="{FF2B5EF4-FFF2-40B4-BE49-F238E27FC236}">
                <a16:creationId xmlns:a16="http://schemas.microsoft.com/office/drawing/2014/main" id="{B135E768-CAA4-4083-9C8A-7F668641E6BA}"/>
              </a:ext>
            </a:extLst>
          </p:cNvPr>
          <p:cNvSpPr>
            <a:spLocks xmlns:a="http://schemas.openxmlformats.org/drawingml/2006/main" noGrp="1"/>
          </p:cNvSpPr>
          <p:nvPr/>
        </p:nvSpPr>
        <p:spPr>
          <a:xfrm xmlns:a="http://schemas.openxmlformats.org/drawingml/2006/main">
            <a:off x="4229100" y="1485900"/>
            <a:ext cx="3429000" cy="1714500"/>
          </a:xfrm>
          <a:prstGeom xmlns:a="http://schemas.openxmlformats.org/drawingml/2006/main" prst="roundRect">
            <a:avLst>
              <a:gd name="adj" fmla="val 4444"/>
            </a:avLst>
          </a:prstGeom>
          <a:solidFill xmlns:a="http://schemas.openxmlformats.org/drawingml/2006/main">
            <a:srgbClr val="EAF4F7"/>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9CD360BC-B681-420E-9984-EAE430D00BCD}"/>
              </a:ext>
            </a:extLst>
          </p:cNvPr>
          <p:cNvSpPr>
            <a:spLocks xmlns:a="http://schemas.openxmlformats.org/drawingml/2006/main" noGrp="1"/>
          </p:cNvSpPr>
          <p:nvPr/>
        </p:nvSpPr>
        <p:spPr>
          <a:xfrm xmlns:a="http://schemas.openxmlformats.org/drawingml/2006/main">
            <a:off x="4362450" y="1600200"/>
            <a:ext cx="31623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Administration</a:t>
            </a:r>
          </a:p>
        </p:txBody>
      </p:sp>
      <p:sp>
        <p:nvSpPr>
          <p:cNvPr id="13" name="">
            <a:extLst xmlns:a="http://schemas.openxmlformats.org/drawingml/2006/main">
              <a:ext uri="{FF2B5EF4-FFF2-40B4-BE49-F238E27FC236}">
                <a16:creationId xmlns:a16="http://schemas.microsoft.com/office/drawing/2014/main" id="{4BB9E140-6622-4415-B1B4-26B8F16E6ADE}"/>
              </a:ext>
            </a:extLst>
          </p:cNvPr>
          <p:cNvSpPr>
            <a:spLocks xmlns:a="http://schemas.openxmlformats.org/drawingml/2006/main" noGrp="1"/>
          </p:cNvSpPr>
          <p:nvPr/>
        </p:nvSpPr>
        <p:spPr>
          <a:xfrm xmlns:a="http://schemas.openxmlformats.org/drawingml/2006/main">
            <a:off x="4362450" y="1885950"/>
            <a:ext cx="3162300" cy="12192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tablet is swallowed whole with liquid. Local PI should specify timing with or without food, if relevant.</a:t>
            </a:r>
          </a:p>
        </p:txBody>
      </p:sp>
      <p:sp>
        <p:nvSpPr>
          <p:cNvPr id="14" name="">
            <a:extLst xmlns:a="http://schemas.openxmlformats.org/drawingml/2006/main">
              <a:ext uri="{FF2B5EF4-FFF2-40B4-BE49-F238E27FC236}">
                <a16:creationId xmlns:a16="http://schemas.microsoft.com/office/drawing/2014/main" id="{D111DCE0-7284-46CF-BE5C-6DF8246B59DE}"/>
              </a:ext>
            </a:extLst>
          </p:cNvPr>
          <p:cNvSpPr>
            <a:spLocks xmlns:a="http://schemas.openxmlformats.org/drawingml/2006/main" noGrp="1"/>
          </p:cNvSpPr>
          <p:nvPr/>
        </p:nvSpPr>
        <p:spPr>
          <a:xfrm xmlns:a="http://schemas.openxmlformats.org/drawingml/2006/main">
            <a:off x="7848600" y="1485900"/>
            <a:ext cx="3733800" cy="1714500"/>
          </a:xfrm>
          <a:prstGeom xmlns:a="http://schemas.openxmlformats.org/drawingml/2006/main" prst="roundRect">
            <a:avLst>
              <a:gd name="adj" fmla="val 4444"/>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D3C1849E-6511-40E9-9FC4-BF7B19739F77}"/>
              </a:ext>
            </a:extLst>
          </p:cNvPr>
          <p:cNvSpPr>
            <a:spLocks xmlns:a="http://schemas.openxmlformats.org/drawingml/2006/main" noGrp="1"/>
          </p:cNvSpPr>
          <p:nvPr/>
        </p:nvSpPr>
        <p:spPr>
          <a:xfrm xmlns:a="http://schemas.openxmlformats.org/drawingml/2006/main">
            <a:off x="7981950" y="160020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Adjustments</a:t>
            </a:r>
          </a:p>
        </p:txBody>
      </p:sp>
      <p:sp>
        <p:nvSpPr>
          <p:cNvPr id="16" name="">
            <a:extLst xmlns:a="http://schemas.openxmlformats.org/drawingml/2006/main">
              <a:ext uri="{FF2B5EF4-FFF2-40B4-BE49-F238E27FC236}">
                <a16:creationId xmlns:a16="http://schemas.microsoft.com/office/drawing/2014/main" id="{3EED0354-935F-412A-ABDE-1C7BCDBB97BB}"/>
              </a:ext>
            </a:extLst>
          </p:cNvPr>
          <p:cNvSpPr>
            <a:spLocks xmlns:a="http://schemas.openxmlformats.org/drawingml/2006/main" noGrp="1"/>
          </p:cNvSpPr>
          <p:nvPr/>
        </p:nvSpPr>
        <p:spPr>
          <a:xfrm xmlns:a="http://schemas.openxmlformats.org/drawingml/2006/main">
            <a:off x="7981950" y="1885950"/>
            <a:ext cx="3467100" cy="12192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Elderly patients do not need a PK-based dose change, but they need closer adverse-event vigilance. Hepatic impairment may justify a lower starting dose.</a:t>
            </a:r>
          </a:p>
        </p:txBody>
      </p:sp>
      <p:sp>
        <p:nvSpPr>
          <p:cNvPr id="17" name="">
            <a:extLst xmlns:a="http://schemas.openxmlformats.org/drawingml/2006/main">
              <a:ext uri="{FF2B5EF4-FFF2-40B4-BE49-F238E27FC236}">
                <a16:creationId xmlns:a16="http://schemas.microsoft.com/office/drawing/2014/main" id="{BA5C6B85-7266-4F86-A668-BBC12C1D9AC9}"/>
              </a:ext>
            </a:extLst>
          </p:cNvPr>
          <p:cNvSpPr>
            <a:spLocks xmlns:a="http://schemas.openxmlformats.org/drawingml/2006/main" noGrp="1"/>
          </p:cNvSpPr>
          <p:nvPr/>
        </p:nvSpPr>
        <p:spPr>
          <a:xfrm xmlns:a="http://schemas.openxmlformats.org/drawingml/2006/main">
            <a:off x="990600" y="3695700"/>
            <a:ext cx="102108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2EE6F81A-60FB-496E-AF21-C62CC4956463}"/>
              </a:ext>
            </a:extLst>
          </p:cNvPr>
          <p:cNvSpPr>
            <a:spLocks xmlns:a="http://schemas.openxmlformats.org/drawingml/2006/main" noGrp="1"/>
          </p:cNvSpPr>
          <p:nvPr/>
        </p:nvSpPr>
        <p:spPr>
          <a:xfrm xmlns:a="http://schemas.openxmlformats.org/drawingml/2006/main">
            <a:off x="1123950" y="38100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Deck message</a:t>
            </a:r>
          </a:p>
        </p:txBody>
      </p:sp>
      <p:sp>
        <p:nvSpPr>
          <p:cNvPr id="19" name="">
            <a:extLst xmlns:a="http://schemas.openxmlformats.org/drawingml/2006/main">
              <a:ext uri="{FF2B5EF4-FFF2-40B4-BE49-F238E27FC236}">
                <a16:creationId xmlns:a16="http://schemas.microsoft.com/office/drawing/2014/main" id="{F6E39ED2-512D-4D86-8CC6-5C2BFE0338E4}"/>
              </a:ext>
            </a:extLst>
          </p:cNvPr>
          <p:cNvSpPr>
            <a:spLocks xmlns:a="http://schemas.openxmlformats.org/drawingml/2006/main" noGrp="1"/>
          </p:cNvSpPr>
          <p:nvPr/>
        </p:nvSpPr>
        <p:spPr>
          <a:xfrm xmlns:a="http://schemas.openxmlformats.org/drawingml/2006/main">
            <a:off x="1123950" y="4095750"/>
            <a:ext cx="99441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The role of the slide is to make dosing practical and compliant, not to invent an off-label universal regimen.</a:t>
            </a:r>
          </a:p>
        </p:txBody>
      </p:sp>
    </p:spTree>
    <p:extLst>
      <p:ext uri="{BB962C8B-B14F-4D97-AF65-F5344CB8AC3E}">
        <p14:creationId xmlns:p14="http://schemas.microsoft.com/office/powerpoint/2010/main" val="40966230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231A25-B6F8-4E77-A90D-61CAB45FDF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FE90AB9-D074-45D6-A8D9-F94EE204A12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19CB14E2-1AB6-4BFB-A440-0C3D4A2BBC4A}"/>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Special populations and risk modifiers</a:t>
            </a:r>
          </a:p>
        </p:txBody>
      </p:sp>
      <p:sp>
        <p:nvSpPr>
          <p:cNvPr id="4" name="">
            <a:extLst xmlns:a="http://schemas.openxmlformats.org/drawingml/2006/main">
              <a:ext uri="{FF2B5EF4-FFF2-40B4-BE49-F238E27FC236}">
                <a16:creationId xmlns:a16="http://schemas.microsoft.com/office/drawing/2014/main" id="{00A3F9D9-55ED-4FC9-85E6-54B479E76728}"/>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deck should remind HCPs that NSAID risk is not evenly distributed across patients.</a:t>
            </a:r>
          </a:p>
        </p:txBody>
      </p:sp>
      <p:sp>
        <p:nvSpPr>
          <p:cNvPr id="5" name="">
            <a:extLst xmlns:a="http://schemas.openxmlformats.org/drawingml/2006/main">
              <a:ext uri="{FF2B5EF4-FFF2-40B4-BE49-F238E27FC236}">
                <a16:creationId xmlns:a16="http://schemas.microsoft.com/office/drawing/2014/main" id="{5A7E386D-D9A8-4B46-86BE-B125C0CA954A}"/>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70A46067-004B-4FD9-8B62-0FF5ABDCB88D}"/>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Torrent PI 2617</a:t>
            </a:r>
          </a:p>
        </p:txBody>
      </p:sp>
      <p:sp>
        <p:nvSpPr>
          <p:cNvPr id="7" name="">
            <a:extLst xmlns:a="http://schemas.openxmlformats.org/drawingml/2006/main">
              <a:ext uri="{FF2B5EF4-FFF2-40B4-BE49-F238E27FC236}">
                <a16:creationId xmlns:a16="http://schemas.microsoft.com/office/drawing/2014/main" id="{2579553E-5631-47DC-8816-5AE7DA0FFC80}"/>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16/25</a:t>
            </a:r>
          </a:p>
        </p:txBody>
      </p:sp>
      <p:graphicFrame>
        <p:nvGraphicFramePr>
          <p:cNvPr id="8" name=""/>
          <p:cNvGraphicFramePr/>
          <p:nvPr/>
        </p:nvGraphicFramePr>
        <p:xfrm>
          <a:off xmlns:a="http://schemas.openxmlformats.org/drawingml/2006/main" x="609600" y="1524000"/>
          <a:ext xmlns:a="http://schemas.openxmlformats.org/drawingml/2006/main" cx="6800850" cy="2667000"/>
        </p:xfrm>
        <a:graphic xmlns:a="http://schemas.openxmlformats.org/drawingml/2006/main">
          <a:graphicData uri="http://schemas.openxmlformats.org/drawingml/2006/table">
            <a:tbl>
              <a:tblPr/>
              <a:tblGrid>
                <a:gridCol w="2176272"/>
                <a:gridCol w="4624578"/>
              </a:tblGrid>
              <a:tr h="444500">
                <a:tc>
                  <a:txBody>
                    <a:bodyPr/>
                    <a:lstStyle/>
                    <a:p>
                      <a:r>
                        <a:rPr sz="750" b="1">
                          <a:solidFill>
                            <a:srgbClr val="FFFFFF"/>
                          </a:solidFill>
                          <a:latin typeface="Aptos"/>
                          <a:ea typeface="Aptos"/>
                          <a:cs typeface="Aptos"/>
                        </a:rPr>
                        <a:t>Population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Practical question</a:t>
                      </a:r>
                    </a:p>
                  </a:txBody>
                  <a:tcPr marL="91440" marR="91440" marT="45720" marB="45720">
                    <a:lnB w="9525">
                      <a:solidFill>
                        <a:srgbClr val="FFFFFF"/>
                      </a:solidFill>
                    </a:lnB>
                    <a:solidFill>
                      <a:srgbClr val="16324F"/>
                    </a:solidFill>
                  </a:tcPr>
                </a:tc>
              </a:tr>
              <a:tr h="444500">
                <a:tc>
                  <a:txBody>
                    <a:bodyPr/>
                    <a:lstStyle/>
                    <a:p>
                      <a:r>
                        <a:t>Older adults</a:t>
                      </a:r>
                    </a:p>
                  </a:txBody>
                  <a:tcPr marL="91440" marR="91440" marT="45720" marB="45720"/>
                </a:tc>
                <a:tc>
                  <a:txBody>
                    <a:bodyPr/>
                    <a:lstStyle/>
                    <a:p>
                      <a:r>
                        <a:t>Is GI, renal, or blood-pressure risk higher?</a:t>
                      </a:r>
                    </a:p>
                  </a:txBody>
                  <a:tcPr marL="91440" marR="91440" marT="45720" marB="45720"/>
                </a:tc>
              </a:tr>
              <a:tr h="444500">
                <a:tc>
                  <a:txBody>
                    <a:bodyPr/>
                    <a:lstStyle/>
                    <a:p>
                      <a:r>
                        <a:t>CKD / dehydration</a:t>
                      </a:r>
                    </a:p>
                  </a:txBody>
                  <a:tcPr marL="91440" marR="91440" marT="45720" marB="45720"/>
                </a:tc>
                <a:tc>
                  <a:txBody>
                    <a:bodyPr/>
                    <a:lstStyle/>
                    <a:p>
                      <a:r>
                        <a:t>Will renal perfusion be affected?</a:t>
                      </a:r>
                    </a:p>
                  </a:txBody>
                  <a:tcPr marL="91440" marR="91440" marT="45720" marB="45720"/>
                </a:tc>
              </a:tr>
              <a:tr h="444500">
                <a:tc>
                  <a:txBody>
                    <a:bodyPr/>
                    <a:lstStyle/>
                    <a:p>
                      <a:r>
                        <a:t>Hepatic impairment</a:t>
                      </a:r>
                    </a:p>
                  </a:txBody>
                  <a:tcPr marL="91440" marR="91440" marT="45720" marB="45720"/>
                </a:tc>
                <a:tc>
                  <a:txBody>
                    <a:bodyPr/>
                    <a:lstStyle/>
                    <a:p>
                      <a:r>
                        <a:t>Does local labeling require a lower dose or avoidance?</a:t>
                      </a:r>
                    </a:p>
                  </a:txBody>
                  <a:tcPr marL="91440" marR="91440" marT="45720" marB="45720"/>
                </a:tc>
              </a:tr>
              <a:tr h="444500">
                <a:tc>
                  <a:txBody>
                    <a:bodyPr/>
                    <a:lstStyle/>
                    <a:p>
                      <a:r>
                        <a:t>Pregnancy / lactation</a:t>
                      </a:r>
                    </a:p>
                  </a:txBody>
                  <a:tcPr marL="91440" marR="91440" marT="45720" marB="45720"/>
                </a:tc>
                <a:tc>
                  <a:txBody>
                    <a:bodyPr/>
                    <a:lstStyle/>
                    <a:p>
                      <a:r>
                        <a:t>Is the patient in a trimester or lactation state where NSAID use is discouraged?</a:t>
                      </a:r>
                    </a:p>
                  </a:txBody>
                  <a:tcPr marL="91440" marR="91440" marT="45720" marB="45720"/>
                </a:tc>
              </a:tr>
              <a:tr h="444500">
                <a:tc>
                  <a:txBody>
                    <a:bodyPr/>
                    <a:lstStyle/>
                    <a:p>
                      <a:r>
                        <a:t>Children / adolescents</a:t>
                      </a:r>
                    </a:p>
                  </a:txBody>
                  <a:tcPr marL="91440" marR="91440" marT="45720" marB="45720"/>
                </a:tc>
                <a:tc>
                  <a:txBody>
                    <a:bodyPr/>
                    <a:lstStyle/>
                    <a:p>
                      <a:r>
                        <a:t>Is use approved at all in the target market?</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806F741D-2F33-4F31-9EF4-207455FBF0B2}"/>
              </a:ext>
            </a:extLst>
          </p:cNvPr>
          <p:cNvSpPr>
            <a:spLocks xmlns:a="http://schemas.openxmlformats.org/drawingml/2006/main" noGrp="1"/>
          </p:cNvSpPr>
          <p:nvPr/>
        </p:nvSpPr>
        <p:spPr>
          <a:xfrm xmlns:a="http://schemas.openxmlformats.org/drawingml/2006/main">
            <a:off x="7829550" y="1524000"/>
            <a:ext cx="3771900" cy="1695450"/>
          </a:xfrm>
          <a:prstGeom xmlns:a="http://schemas.openxmlformats.org/drawingml/2006/main" prst="roundRect">
            <a:avLst>
              <a:gd name="adj" fmla="val 4494"/>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831197F6-430A-4367-AD3D-8A9C25417F54}"/>
              </a:ext>
            </a:extLst>
          </p:cNvPr>
          <p:cNvSpPr>
            <a:spLocks xmlns:a="http://schemas.openxmlformats.org/drawingml/2006/main" noGrp="1"/>
          </p:cNvSpPr>
          <p:nvPr/>
        </p:nvSpPr>
        <p:spPr>
          <a:xfrm xmlns:a="http://schemas.openxmlformats.org/drawingml/2006/main">
            <a:off x="7962900" y="1638300"/>
            <a:ext cx="35052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Rule of thumb</a:t>
            </a:r>
          </a:p>
        </p:txBody>
      </p:sp>
      <p:sp>
        <p:nvSpPr>
          <p:cNvPr id="11" name="">
            <a:extLst xmlns:a="http://schemas.openxmlformats.org/drawingml/2006/main">
              <a:ext uri="{FF2B5EF4-FFF2-40B4-BE49-F238E27FC236}">
                <a16:creationId xmlns:a16="http://schemas.microsoft.com/office/drawing/2014/main" id="{19452FD2-85DB-4CD7-8F7F-08B319B62519}"/>
              </a:ext>
            </a:extLst>
          </p:cNvPr>
          <p:cNvSpPr>
            <a:spLocks xmlns:a="http://schemas.openxmlformats.org/drawingml/2006/main" noGrp="1"/>
          </p:cNvSpPr>
          <p:nvPr/>
        </p:nvSpPr>
        <p:spPr>
          <a:xfrm xmlns:a="http://schemas.openxmlformats.org/drawingml/2006/main">
            <a:off x="7962900" y="1924050"/>
            <a:ext cx="3505200" cy="12001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When a population is high risk or under-defined, the slide should direct the HCP back to the approved PI and individual clinical judgment.</a:t>
            </a:r>
          </a:p>
        </p:txBody>
      </p:sp>
      <p:sp>
        <p:nvSpPr>
          <p:cNvPr id="12" name="">
            <a:extLst xmlns:a="http://schemas.openxmlformats.org/drawingml/2006/main">
              <a:ext uri="{FF2B5EF4-FFF2-40B4-BE49-F238E27FC236}">
                <a16:creationId xmlns:a16="http://schemas.microsoft.com/office/drawing/2014/main" id="{EDE3DE4A-DE4F-43F7-9585-6D2E9E2A7486}"/>
              </a:ext>
            </a:extLst>
          </p:cNvPr>
          <p:cNvSpPr>
            <a:spLocks xmlns:a="http://schemas.openxmlformats.org/drawingml/2006/main" noGrp="1"/>
          </p:cNvSpPr>
          <p:nvPr/>
        </p:nvSpPr>
        <p:spPr>
          <a:xfrm xmlns:a="http://schemas.openxmlformats.org/drawingml/2006/main">
            <a:off x="7829550" y="3409950"/>
            <a:ext cx="3771900" cy="1047750"/>
          </a:xfrm>
          <a:prstGeom xmlns:a="http://schemas.openxmlformats.org/drawingml/2006/main" prst="roundRect">
            <a:avLst>
              <a:gd name="adj" fmla="val 7273"/>
            </a:avLst>
          </a:prstGeom>
          <a:solidFill xmlns:a="http://schemas.openxmlformats.org/drawingml/2006/main">
            <a:srgbClr val="F4F8F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A0561D4E-95C4-4562-AE85-6BAC8804C7C7}"/>
              </a:ext>
            </a:extLst>
          </p:cNvPr>
          <p:cNvSpPr>
            <a:spLocks xmlns:a="http://schemas.openxmlformats.org/drawingml/2006/main" noGrp="1"/>
          </p:cNvSpPr>
          <p:nvPr/>
        </p:nvSpPr>
        <p:spPr>
          <a:xfrm xmlns:a="http://schemas.openxmlformats.org/drawingml/2006/main">
            <a:off x="7962900" y="3524250"/>
            <a:ext cx="35052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Do not overgeneralize</a:t>
            </a:r>
          </a:p>
        </p:txBody>
      </p:sp>
      <p:sp>
        <p:nvSpPr>
          <p:cNvPr id="14" name="">
            <a:extLst xmlns:a="http://schemas.openxmlformats.org/drawingml/2006/main">
              <a:ext uri="{FF2B5EF4-FFF2-40B4-BE49-F238E27FC236}">
                <a16:creationId xmlns:a16="http://schemas.microsoft.com/office/drawing/2014/main" id="{69CD5E80-6AE8-4EA0-9930-F8E8000BDDB9}"/>
              </a:ext>
            </a:extLst>
          </p:cNvPr>
          <p:cNvSpPr>
            <a:spLocks xmlns:a="http://schemas.openxmlformats.org/drawingml/2006/main" noGrp="1"/>
          </p:cNvSpPr>
          <p:nvPr/>
        </p:nvSpPr>
        <p:spPr>
          <a:xfrm xmlns:a="http://schemas.openxmlformats.org/drawingml/2006/main">
            <a:off x="7962900" y="3810000"/>
            <a:ext cx="3505200" cy="5524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adult dosing rule cannot be casually copied into pregnancy, paediatrics, or organ impairment.</a:t>
            </a:r>
          </a:p>
        </p:txBody>
      </p:sp>
    </p:spTree>
    <p:extLst>
      <p:ext uri="{BB962C8B-B14F-4D97-AF65-F5344CB8AC3E}">
        <p14:creationId xmlns:p14="http://schemas.microsoft.com/office/powerpoint/2010/main" val="1515172928"/>
      </p:ext>
    </p:extLst>
  </p:cSld>
</p:sld>
</file>

<file path=ppt/slides/slide17.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8EA966D-89B8-4DFE-A742-84800BD42D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B7FB79DD-1C43-4BDB-97EE-DA64874E053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9C7C2320-26B2-413A-9AFC-6A52D08706BB}"/>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Practical patient selection</a:t>
            </a:r>
          </a:p>
        </p:txBody>
      </p:sp>
      <p:sp>
        <p:nvSpPr>
          <p:cNvPr id="4" name="">
            <a:extLst xmlns:a="http://schemas.openxmlformats.org/drawingml/2006/main">
              <a:ext uri="{FF2B5EF4-FFF2-40B4-BE49-F238E27FC236}">
                <a16:creationId xmlns:a16="http://schemas.microsoft.com/office/drawing/2014/main" id="{C4D43D60-2477-4502-9E67-18049159D6A0}"/>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D6E3EA"/>
                </a:solidFill>
                <a:latin typeface="Aptos"/>
                <a:ea typeface="Aptos"/>
                <a:cs typeface="Aptos"/>
              </a:defRPr>
            </a:pPr>
            <a:r>
              <a:rPr sz="863" b="0">
                <a:solidFill>
                  <a:srgbClr val="D6E3EA"/>
                </a:solidFill>
                <a:latin typeface="Aptos"/>
                <a:ea typeface="Aptos"/>
                <a:cs typeface="Aptos"/>
              </a:rPr>
              <a:t>A good HCP deck should clearly separate the patients who benefit from those who need another strategy.</a:t>
            </a:r>
          </a:p>
        </p:txBody>
      </p:sp>
      <p:sp>
        <p:nvSpPr>
          <p:cNvPr id="5" name="">
            <a:extLst xmlns:a="http://schemas.openxmlformats.org/drawingml/2006/main">
              <a:ext uri="{FF2B5EF4-FFF2-40B4-BE49-F238E27FC236}">
                <a16:creationId xmlns:a16="http://schemas.microsoft.com/office/drawing/2014/main" id="{DF31463C-3760-4E31-9F0C-62758F8E8703}"/>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31536A"/>
          </a:solidFill>
          <a:ln xmlns:a="http://schemas.openxmlformats.org/drawingml/2006/main" w="0">
            <a:solidFill>
              <a:srgbClr val="31536A"/>
            </a:solidFill>
            <a:prstDash val="solid"/>
          </a:ln>
        </p:spPr>
      </p:sp>
      <p:sp>
        <p:nvSpPr>
          <p:cNvPr id="6" name="">
            <a:extLst xmlns:a="http://schemas.openxmlformats.org/drawingml/2006/main">
              <a:ext uri="{FF2B5EF4-FFF2-40B4-BE49-F238E27FC236}">
                <a16:creationId xmlns:a16="http://schemas.microsoft.com/office/drawing/2014/main" id="{50114BAD-BB82-4F9A-978E-5C96999AF7FD}"/>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D6E3EA"/>
                </a:solidFill>
                <a:latin typeface="Aptos"/>
                <a:ea typeface="Aptos"/>
                <a:cs typeface="Aptos"/>
              </a:defRPr>
            </a:pPr>
            <a:r>
              <a:rPr sz="570" b="0">
                <a:solidFill>
                  <a:srgbClr val="D6E3EA"/>
                </a:solidFill>
                <a:latin typeface="Aptos"/>
                <a:ea typeface="Aptos"/>
                <a:cs typeface="Aptos"/>
              </a:rPr>
              <a:t>Refs: Acedol PI; PubMed 26186173; PubMed 31908149</a:t>
            </a:r>
          </a:p>
        </p:txBody>
      </p:sp>
      <p:sp>
        <p:nvSpPr>
          <p:cNvPr id="7" name="">
            <a:extLst xmlns:a="http://schemas.openxmlformats.org/drawingml/2006/main">
              <a:ext uri="{FF2B5EF4-FFF2-40B4-BE49-F238E27FC236}">
                <a16:creationId xmlns:a16="http://schemas.microsoft.com/office/drawing/2014/main" id="{39D6AFCF-0F50-44CE-BD77-FC6068B7CFBE}"/>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D6E3EA"/>
                </a:solidFill>
                <a:latin typeface="Aptos"/>
                <a:ea typeface="Aptos"/>
                <a:cs typeface="Aptos"/>
              </a:defRPr>
            </a:pPr>
            <a:r>
              <a:rPr sz="570" b="0">
                <a:solidFill>
                  <a:srgbClr val="D6E3EA"/>
                </a:solidFill>
                <a:latin typeface="Aptos"/>
                <a:ea typeface="Aptos"/>
                <a:cs typeface="Aptos"/>
              </a:rPr>
              <a:t>Slide 17/25</a:t>
            </a:r>
          </a:p>
        </p:txBody>
      </p:sp>
      <p:sp>
        <p:nvSpPr>
          <p:cNvPr id="8" name="">
            <a:extLst xmlns:a="http://schemas.openxmlformats.org/drawingml/2006/main">
              <a:ext uri="{FF2B5EF4-FFF2-40B4-BE49-F238E27FC236}">
                <a16:creationId xmlns:a16="http://schemas.microsoft.com/office/drawing/2014/main" id="{85C1F23B-9AFE-4DAB-BBBB-34B3E91CAB16}"/>
              </a:ext>
            </a:extLst>
          </p:cNvPr>
          <p:cNvSpPr>
            <a:spLocks xmlns:a="http://schemas.openxmlformats.org/drawingml/2006/main" noGrp="1"/>
          </p:cNvSpPr>
          <p:nvPr/>
        </p:nvSpPr>
        <p:spPr>
          <a:xfrm xmlns:a="http://schemas.openxmlformats.org/drawingml/2006/main">
            <a:off x="609600" y="1504950"/>
            <a:ext cx="5219700" cy="2038350"/>
          </a:xfrm>
          <a:prstGeom xmlns:a="http://schemas.openxmlformats.org/drawingml/2006/main" prst="roundRect">
            <a:avLst>
              <a:gd name="adj" fmla="val 3738"/>
            </a:avLst>
          </a:prstGeom>
          <a:solidFill xmlns:a="http://schemas.openxmlformats.org/drawingml/2006/main">
            <a:srgbClr val="E6F4E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3BA81831-A123-41E8-B931-95C700E37E6C}"/>
              </a:ext>
            </a:extLst>
          </p:cNvPr>
          <p:cNvSpPr>
            <a:spLocks xmlns:a="http://schemas.openxmlformats.org/drawingml/2006/main" noGrp="1"/>
          </p:cNvSpPr>
          <p:nvPr/>
        </p:nvSpPr>
        <p:spPr>
          <a:xfrm xmlns:a="http://schemas.openxmlformats.org/drawingml/2006/main">
            <a:off x="742950" y="1619250"/>
            <a:ext cx="49530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Reasonable candidates</a:t>
            </a:r>
          </a:p>
        </p:txBody>
      </p:sp>
      <p:sp>
        <p:nvSpPr>
          <p:cNvPr id="10" name="">
            <a:extLst xmlns:a="http://schemas.openxmlformats.org/drawingml/2006/main">
              <a:ext uri="{FF2B5EF4-FFF2-40B4-BE49-F238E27FC236}">
                <a16:creationId xmlns:a16="http://schemas.microsoft.com/office/drawing/2014/main" id="{D24A5F48-CA03-49CF-B92F-7A2F07DF829B}"/>
              </a:ext>
            </a:extLst>
          </p:cNvPr>
          <p:cNvSpPr>
            <a:spLocks xmlns:a="http://schemas.openxmlformats.org/drawingml/2006/main" noGrp="1"/>
          </p:cNvSpPr>
          <p:nvPr/>
        </p:nvSpPr>
        <p:spPr>
          <a:xfrm xmlns:a="http://schemas.openxmlformats.org/drawingml/2006/main">
            <a:off x="742950" y="1905000"/>
            <a:ext cx="4953000" cy="15430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907" b="0">
                <a:solidFill>
                  <a:srgbClr val="24313A"/>
                </a:solidFill>
                <a:latin typeface="Aptos"/>
                <a:ea typeface="Aptos"/>
                <a:cs typeface="Aptos"/>
              </a:defRPr>
            </a:pPr>
            <a:r>
              <a:rPr sz="907" b="0">
                <a:solidFill>
                  <a:srgbClr val="24313A"/>
                </a:solidFill>
                <a:latin typeface="Aptos"/>
                <a:ea typeface="Aptos"/>
                <a:cs typeface="Aptos"/>
              </a:rPr>
              <a:t>Patients with inflammatory pain, osteoarthritis, or short-term musculoskeletal pain who need an NSAID and have an acceptable GI, renal, hepatic, and cardiovascular profile.</a:t>
            </a:r>
          </a:p>
        </p:txBody>
      </p:sp>
      <p:sp>
        <p:nvSpPr>
          <p:cNvPr id="11" name="">
            <a:extLst xmlns:a="http://schemas.openxmlformats.org/drawingml/2006/main">
              <a:ext uri="{FF2B5EF4-FFF2-40B4-BE49-F238E27FC236}">
                <a16:creationId xmlns:a16="http://schemas.microsoft.com/office/drawing/2014/main" id="{210E8293-2052-4EC2-94B6-6510FC89D3A6}"/>
              </a:ext>
            </a:extLst>
          </p:cNvPr>
          <p:cNvSpPr>
            <a:spLocks xmlns:a="http://schemas.openxmlformats.org/drawingml/2006/main" noGrp="1"/>
          </p:cNvSpPr>
          <p:nvPr/>
        </p:nvSpPr>
        <p:spPr>
          <a:xfrm xmlns:a="http://schemas.openxmlformats.org/drawingml/2006/main">
            <a:off x="6076950" y="1504950"/>
            <a:ext cx="5505450" cy="2038350"/>
          </a:xfrm>
          <a:prstGeom xmlns:a="http://schemas.openxmlformats.org/drawingml/2006/main" prst="roundRect">
            <a:avLst>
              <a:gd name="adj" fmla="val 3738"/>
            </a:avLst>
          </a:prstGeom>
          <a:solidFill xmlns:a="http://schemas.openxmlformats.org/drawingml/2006/main">
            <a:srgbClr val="FCE4D6"/>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8AA739E1-C308-4E6D-992A-4508DB31FDEE}"/>
              </a:ext>
            </a:extLst>
          </p:cNvPr>
          <p:cNvSpPr>
            <a:spLocks xmlns:a="http://schemas.openxmlformats.org/drawingml/2006/main" noGrp="1"/>
          </p:cNvSpPr>
          <p:nvPr/>
        </p:nvSpPr>
        <p:spPr>
          <a:xfrm xmlns:a="http://schemas.openxmlformats.org/drawingml/2006/main">
            <a:off x="6210300" y="1619250"/>
            <a:ext cx="523875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Be cautious or avoid</a:t>
            </a:r>
          </a:p>
        </p:txBody>
      </p:sp>
      <p:sp>
        <p:nvSpPr>
          <p:cNvPr id="13" name="">
            <a:extLst xmlns:a="http://schemas.openxmlformats.org/drawingml/2006/main">
              <a:ext uri="{FF2B5EF4-FFF2-40B4-BE49-F238E27FC236}">
                <a16:creationId xmlns:a16="http://schemas.microsoft.com/office/drawing/2014/main" id="{5A2357E0-C7E3-4367-A9E2-A2F95E7948E4}"/>
              </a:ext>
            </a:extLst>
          </p:cNvPr>
          <p:cNvSpPr>
            <a:spLocks xmlns:a="http://schemas.openxmlformats.org/drawingml/2006/main" noGrp="1"/>
          </p:cNvSpPr>
          <p:nvPr/>
        </p:nvSpPr>
        <p:spPr>
          <a:xfrm xmlns:a="http://schemas.openxmlformats.org/drawingml/2006/main">
            <a:off x="6210300" y="1905000"/>
            <a:ext cx="5238750" cy="154305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l">
              <a:defRPr sz="907" b="0">
                <a:solidFill>
                  <a:srgbClr val="24313A"/>
                </a:solidFill>
                <a:latin typeface="Aptos"/>
                <a:ea typeface="Aptos"/>
                <a:cs typeface="Aptos"/>
              </a:defRPr>
            </a:pPr>
            <a:r>
              <a:rPr sz="907" b="0">
                <a:solidFill>
                  <a:srgbClr val="24313A"/>
                </a:solidFill>
                <a:latin typeface="Aptos"/>
                <a:ea typeface="Aptos"/>
                <a:cs typeface="Aptos"/>
              </a:rPr>
              <a:t>Active ulcer disease, prior GI bleed, significant renal impairment, uncontrolled cardiovascular disease, pregnancy-related risk, and any situation where the approved label advises against use.</a:t>
            </a:r>
          </a:p>
        </p:txBody>
      </p:sp>
      <p:sp>
        <p:nvSpPr>
          <p:cNvPr id="14" name="">
            <a:extLst xmlns:a="http://schemas.openxmlformats.org/drawingml/2006/main">
              <a:ext uri="{FF2B5EF4-FFF2-40B4-BE49-F238E27FC236}">
                <a16:creationId xmlns:a16="http://schemas.microsoft.com/office/drawing/2014/main" id="{EF3B5F4F-2396-4952-9CD4-BC9AF128AE31}"/>
              </a:ext>
            </a:extLst>
          </p:cNvPr>
          <p:cNvSpPr>
            <a:spLocks xmlns:a="http://schemas.openxmlformats.org/drawingml/2006/main" noGrp="1"/>
          </p:cNvSpPr>
          <p:nvPr/>
        </p:nvSpPr>
        <p:spPr>
          <a:xfrm xmlns:a="http://schemas.openxmlformats.org/drawingml/2006/main">
            <a:off x="990600" y="4000500"/>
            <a:ext cx="102108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A9B1E37D-2717-4570-B596-DFFA9F3CDD55}"/>
              </a:ext>
            </a:extLst>
          </p:cNvPr>
          <p:cNvSpPr>
            <a:spLocks xmlns:a="http://schemas.openxmlformats.org/drawingml/2006/main" noGrp="1"/>
          </p:cNvSpPr>
          <p:nvPr/>
        </p:nvSpPr>
        <p:spPr>
          <a:xfrm xmlns:a="http://schemas.openxmlformats.org/drawingml/2006/main">
            <a:off x="1123950" y="41148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Decision rule</a:t>
            </a:r>
          </a:p>
        </p:txBody>
      </p:sp>
      <p:sp>
        <p:nvSpPr>
          <p:cNvPr id="16" name="">
            <a:extLst xmlns:a="http://schemas.openxmlformats.org/drawingml/2006/main">
              <a:ext uri="{FF2B5EF4-FFF2-40B4-BE49-F238E27FC236}">
                <a16:creationId xmlns:a16="http://schemas.microsoft.com/office/drawing/2014/main" id="{67F8F103-ACE2-4282-916F-8E821B2A5A8E}"/>
              </a:ext>
            </a:extLst>
          </p:cNvPr>
          <p:cNvSpPr>
            <a:spLocks xmlns:a="http://schemas.openxmlformats.org/drawingml/2006/main" noGrp="1"/>
          </p:cNvSpPr>
          <p:nvPr/>
        </p:nvSpPr>
        <p:spPr>
          <a:xfrm xmlns:a="http://schemas.openxmlformats.org/drawingml/2006/main">
            <a:off x="1123950" y="4400550"/>
            <a:ext cx="99441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Use the smallest effective exposure for the shortest effective time, and let the approved PI and the patient profile drive the final choice.</a:t>
            </a:r>
          </a:p>
        </p:txBody>
      </p:sp>
    </p:spTree>
    <p:extLst>
      <p:ext uri="{BB962C8B-B14F-4D97-AF65-F5344CB8AC3E}">
        <p14:creationId xmlns:p14="http://schemas.microsoft.com/office/powerpoint/2010/main" val="16038387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5E63A8C-A896-439F-A8E1-0F834E1D11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08221A30-3CCB-4BB2-8B14-07C90DD5D37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D4351661-8688-48F6-B358-D84EC461E692}"/>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Where aceclofenac fits in therapy</a:t>
            </a:r>
          </a:p>
        </p:txBody>
      </p:sp>
      <p:sp>
        <p:nvSpPr>
          <p:cNvPr id="4" name="">
            <a:extLst xmlns:a="http://schemas.openxmlformats.org/drawingml/2006/main">
              <a:ext uri="{FF2B5EF4-FFF2-40B4-BE49-F238E27FC236}">
                <a16:creationId xmlns:a16="http://schemas.microsoft.com/office/drawing/2014/main" id="{833D9F2C-9F5E-4DBA-B6DA-3684CDAD15F2}"/>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Place-in-therapy slides should be balanced, guideline-aware, and clinically honest.</a:t>
            </a:r>
          </a:p>
        </p:txBody>
      </p:sp>
      <p:sp>
        <p:nvSpPr>
          <p:cNvPr id="5" name="">
            <a:extLst xmlns:a="http://schemas.openxmlformats.org/drawingml/2006/main">
              <a:ext uri="{FF2B5EF4-FFF2-40B4-BE49-F238E27FC236}">
                <a16:creationId xmlns:a16="http://schemas.microsoft.com/office/drawing/2014/main" id="{6D648265-0FAB-44FA-BC29-59AFA579A6AC}"/>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7DE3CEDF-79FC-4953-AFED-9D727880745B}"/>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PMC5335881; PubMed 31908149; PubMed 26186173</a:t>
            </a:r>
          </a:p>
        </p:txBody>
      </p:sp>
      <p:sp>
        <p:nvSpPr>
          <p:cNvPr id="7" name="">
            <a:extLst xmlns:a="http://schemas.openxmlformats.org/drawingml/2006/main">
              <a:ext uri="{FF2B5EF4-FFF2-40B4-BE49-F238E27FC236}">
                <a16:creationId xmlns:a16="http://schemas.microsoft.com/office/drawing/2014/main" id="{C4832207-D720-4A43-A576-DF5B7957B1C8}"/>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18/25</a:t>
            </a:r>
          </a:p>
        </p:txBody>
      </p:sp>
      <p:sp>
        <p:nvSpPr>
          <p:cNvPr id="8" name="">
            <a:extLst xmlns:a="http://schemas.openxmlformats.org/drawingml/2006/main">
              <a:ext uri="{FF2B5EF4-FFF2-40B4-BE49-F238E27FC236}">
                <a16:creationId xmlns:a16="http://schemas.microsoft.com/office/drawing/2014/main" id="{FCF4BD6C-E197-49B3-9DF6-C1C126384999}"/>
              </a:ext>
            </a:extLst>
          </p:cNvPr>
          <p:cNvSpPr>
            <a:spLocks xmlns:a="http://schemas.openxmlformats.org/drawingml/2006/main" noGrp="1"/>
          </p:cNvSpPr>
          <p:nvPr/>
        </p:nvSpPr>
        <p:spPr>
          <a:xfrm xmlns:a="http://schemas.openxmlformats.org/drawingml/2006/main">
            <a:off x="609600" y="1466850"/>
            <a:ext cx="3429000" cy="1771650"/>
          </a:xfrm>
          <a:prstGeom xmlns:a="http://schemas.openxmlformats.org/drawingml/2006/main" prst="roundRect">
            <a:avLst>
              <a:gd name="adj" fmla="val 4301"/>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B5FB3515-4E97-4384-BFF7-DDCAD4550B3C}"/>
              </a:ext>
            </a:extLst>
          </p:cNvPr>
          <p:cNvSpPr>
            <a:spLocks xmlns:a="http://schemas.openxmlformats.org/drawingml/2006/main" noGrp="1"/>
          </p:cNvSpPr>
          <p:nvPr/>
        </p:nvSpPr>
        <p:spPr>
          <a:xfrm xmlns:a="http://schemas.openxmlformats.org/drawingml/2006/main">
            <a:off x="742950" y="1581150"/>
            <a:ext cx="31623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Core role</a:t>
            </a:r>
          </a:p>
        </p:txBody>
      </p:sp>
      <p:sp>
        <p:nvSpPr>
          <p:cNvPr id="10" name="">
            <a:extLst xmlns:a="http://schemas.openxmlformats.org/drawingml/2006/main">
              <a:ext uri="{FF2B5EF4-FFF2-40B4-BE49-F238E27FC236}">
                <a16:creationId xmlns:a16="http://schemas.microsoft.com/office/drawing/2014/main" id="{0BAC2887-61A6-4983-AFB4-B776E2BDFD0F}"/>
              </a:ext>
            </a:extLst>
          </p:cNvPr>
          <p:cNvSpPr>
            <a:spLocks xmlns:a="http://schemas.openxmlformats.org/drawingml/2006/main" noGrp="1"/>
          </p:cNvSpPr>
          <p:nvPr/>
        </p:nvSpPr>
        <p:spPr>
          <a:xfrm xmlns:a="http://schemas.openxmlformats.org/drawingml/2006/main">
            <a:off x="742950" y="1866900"/>
            <a:ext cx="3162300" cy="12763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Symptomatic relief in inflammatory pain or osteoarthritis where an NSAID is appropriate.</a:t>
            </a:r>
          </a:p>
        </p:txBody>
      </p:sp>
      <p:sp>
        <p:nvSpPr>
          <p:cNvPr id="11" name="">
            <a:extLst xmlns:a="http://schemas.openxmlformats.org/drawingml/2006/main">
              <a:ext uri="{FF2B5EF4-FFF2-40B4-BE49-F238E27FC236}">
                <a16:creationId xmlns:a16="http://schemas.microsoft.com/office/drawing/2014/main" id="{13432213-F522-4331-A798-56CB14A412A9}"/>
              </a:ext>
            </a:extLst>
          </p:cNvPr>
          <p:cNvSpPr>
            <a:spLocks xmlns:a="http://schemas.openxmlformats.org/drawingml/2006/main" noGrp="1"/>
          </p:cNvSpPr>
          <p:nvPr/>
        </p:nvSpPr>
        <p:spPr>
          <a:xfrm xmlns:a="http://schemas.openxmlformats.org/drawingml/2006/main">
            <a:off x="4229100" y="1466850"/>
            <a:ext cx="3429000" cy="1771650"/>
          </a:xfrm>
          <a:prstGeom xmlns:a="http://schemas.openxmlformats.org/drawingml/2006/main" prst="roundRect">
            <a:avLst>
              <a:gd name="adj" fmla="val 4301"/>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11ED12F2-0C9E-49C4-AA2F-F2D5EA0E6DD4}"/>
              </a:ext>
            </a:extLst>
          </p:cNvPr>
          <p:cNvSpPr>
            <a:spLocks xmlns:a="http://schemas.openxmlformats.org/drawingml/2006/main" noGrp="1"/>
          </p:cNvSpPr>
          <p:nvPr/>
        </p:nvSpPr>
        <p:spPr>
          <a:xfrm xmlns:a="http://schemas.openxmlformats.org/drawingml/2006/main">
            <a:off x="4362450" y="1581150"/>
            <a:ext cx="31623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Adjunctive role</a:t>
            </a:r>
          </a:p>
        </p:txBody>
      </p:sp>
      <p:sp>
        <p:nvSpPr>
          <p:cNvPr id="13" name="">
            <a:extLst xmlns:a="http://schemas.openxmlformats.org/drawingml/2006/main">
              <a:ext uri="{FF2B5EF4-FFF2-40B4-BE49-F238E27FC236}">
                <a16:creationId xmlns:a16="http://schemas.microsoft.com/office/drawing/2014/main" id="{C424E5AD-A790-4D12-BF13-1C1B2BDB8887}"/>
              </a:ext>
            </a:extLst>
          </p:cNvPr>
          <p:cNvSpPr>
            <a:spLocks xmlns:a="http://schemas.openxmlformats.org/drawingml/2006/main" noGrp="1"/>
          </p:cNvSpPr>
          <p:nvPr/>
        </p:nvSpPr>
        <p:spPr>
          <a:xfrm xmlns:a="http://schemas.openxmlformats.org/drawingml/2006/main">
            <a:off x="4362450" y="1866900"/>
            <a:ext cx="3162300" cy="127635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Can sit alongside non-pharmacologic measures and other approved interventions.</a:t>
            </a:r>
          </a:p>
        </p:txBody>
      </p:sp>
      <p:sp>
        <p:nvSpPr>
          <p:cNvPr id="14" name="">
            <a:extLst xmlns:a="http://schemas.openxmlformats.org/drawingml/2006/main">
              <a:ext uri="{FF2B5EF4-FFF2-40B4-BE49-F238E27FC236}">
                <a16:creationId xmlns:a16="http://schemas.microsoft.com/office/drawing/2014/main" id="{7FCC24F5-33B3-4F79-A5DA-54A67421D95B}"/>
              </a:ext>
            </a:extLst>
          </p:cNvPr>
          <p:cNvSpPr>
            <a:spLocks xmlns:a="http://schemas.openxmlformats.org/drawingml/2006/main" noGrp="1"/>
          </p:cNvSpPr>
          <p:nvPr/>
        </p:nvSpPr>
        <p:spPr>
          <a:xfrm xmlns:a="http://schemas.openxmlformats.org/drawingml/2006/main">
            <a:off x="7848600" y="1466850"/>
            <a:ext cx="3733800" cy="1771650"/>
          </a:xfrm>
          <a:prstGeom xmlns:a="http://schemas.openxmlformats.org/drawingml/2006/main" prst="roundRect">
            <a:avLst>
              <a:gd name="adj" fmla="val 4301"/>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732B06FC-AFFA-45BB-BB74-F8AA4B390B13}"/>
              </a:ext>
            </a:extLst>
          </p:cNvPr>
          <p:cNvSpPr>
            <a:spLocks xmlns:a="http://schemas.openxmlformats.org/drawingml/2006/main" noGrp="1"/>
          </p:cNvSpPr>
          <p:nvPr/>
        </p:nvSpPr>
        <p:spPr>
          <a:xfrm xmlns:a="http://schemas.openxmlformats.org/drawingml/2006/main">
            <a:off x="7981950" y="1581150"/>
            <a:ext cx="346710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Not the role</a:t>
            </a:r>
          </a:p>
        </p:txBody>
      </p:sp>
      <p:sp>
        <p:nvSpPr>
          <p:cNvPr id="16" name="">
            <a:extLst xmlns:a="http://schemas.openxmlformats.org/drawingml/2006/main">
              <a:ext uri="{FF2B5EF4-FFF2-40B4-BE49-F238E27FC236}">
                <a16:creationId xmlns:a16="http://schemas.microsoft.com/office/drawing/2014/main" id="{0740F385-4725-4A63-A373-94330F6584A1}"/>
              </a:ext>
            </a:extLst>
          </p:cNvPr>
          <p:cNvSpPr>
            <a:spLocks xmlns:a="http://schemas.openxmlformats.org/drawingml/2006/main" noGrp="1"/>
          </p:cNvSpPr>
          <p:nvPr/>
        </p:nvSpPr>
        <p:spPr>
          <a:xfrm xmlns:a="http://schemas.openxmlformats.org/drawingml/2006/main">
            <a:off x="7981950" y="1866900"/>
            <a:ext cx="3467100" cy="127635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Not a disease-modifying therapy and not a universal option for every pain syndrome.</a:t>
            </a:r>
          </a:p>
        </p:txBody>
      </p:sp>
      <p:sp>
        <p:nvSpPr>
          <p:cNvPr id="17" name="">
            <a:extLst xmlns:a="http://schemas.openxmlformats.org/drawingml/2006/main">
              <a:ext uri="{FF2B5EF4-FFF2-40B4-BE49-F238E27FC236}">
                <a16:creationId xmlns:a16="http://schemas.microsoft.com/office/drawing/2014/main" id="{5B1D7974-7AE0-4C42-8994-88443FE2C15F}"/>
              </a:ext>
            </a:extLst>
          </p:cNvPr>
          <p:cNvSpPr>
            <a:spLocks xmlns:a="http://schemas.openxmlformats.org/drawingml/2006/main" noGrp="1"/>
          </p:cNvSpPr>
          <p:nvPr/>
        </p:nvSpPr>
        <p:spPr>
          <a:xfrm xmlns:a="http://schemas.openxmlformats.org/drawingml/2006/main">
            <a:off x="990600" y="3657600"/>
            <a:ext cx="102108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FFD3EFDC-2689-4B1F-9094-41F883453565}"/>
              </a:ext>
            </a:extLst>
          </p:cNvPr>
          <p:cNvSpPr>
            <a:spLocks xmlns:a="http://schemas.openxmlformats.org/drawingml/2006/main" noGrp="1"/>
          </p:cNvSpPr>
          <p:nvPr/>
        </p:nvSpPr>
        <p:spPr>
          <a:xfrm xmlns:a="http://schemas.openxmlformats.org/drawingml/2006/main">
            <a:off x="1123950" y="37719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Balanced framing</a:t>
            </a:r>
          </a:p>
        </p:txBody>
      </p:sp>
      <p:sp>
        <p:nvSpPr>
          <p:cNvPr id="19" name="">
            <a:extLst xmlns:a="http://schemas.openxmlformats.org/drawingml/2006/main">
              <a:ext uri="{FF2B5EF4-FFF2-40B4-BE49-F238E27FC236}">
                <a16:creationId xmlns:a16="http://schemas.microsoft.com/office/drawing/2014/main" id="{A4A2A6AD-3779-4DD8-9F23-37D86024E48A}"/>
              </a:ext>
            </a:extLst>
          </p:cNvPr>
          <p:cNvSpPr>
            <a:spLocks xmlns:a="http://schemas.openxmlformats.org/drawingml/2006/main" noGrp="1"/>
          </p:cNvSpPr>
          <p:nvPr/>
        </p:nvSpPr>
        <p:spPr>
          <a:xfrm xmlns:a="http://schemas.openxmlformats.org/drawingml/2006/main">
            <a:off x="1123950" y="4057650"/>
            <a:ext cx="99441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35" b="0">
                <a:solidFill>
                  <a:srgbClr val="24313A"/>
                </a:solidFill>
                <a:latin typeface="Aptos"/>
                <a:ea typeface="Aptos"/>
                <a:cs typeface="Aptos"/>
              </a:defRPr>
            </a:pPr>
            <a:r>
              <a:rPr sz="1035" b="0">
                <a:solidFill>
                  <a:srgbClr val="24313A"/>
                </a:solidFill>
                <a:latin typeface="Aptos"/>
                <a:ea typeface="Aptos"/>
                <a:cs typeface="Aptos"/>
              </a:rPr>
              <a:t>The slide should help HCPs decide when aceclofenac is sensible, when another analgesic strategy may be better, and when disease-specific therapy or referral should take priority.</a:t>
            </a:r>
          </a:p>
        </p:txBody>
      </p:sp>
    </p:spTree>
    <p:extLst>
      <p:ext uri="{BB962C8B-B14F-4D97-AF65-F5344CB8AC3E}">
        <p14:creationId xmlns:p14="http://schemas.microsoft.com/office/powerpoint/2010/main" val="727096327"/>
      </p:ext>
    </p:extLst>
  </p:cSld>
</p:sld>
</file>

<file path=ppt/slides/slide19.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D157C6-3D0F-41C8-83B9-B475B1D7F8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862A16A1-A7DE-43BD-9352-8B3F0997A15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FC85EB44-8490-4F9D-8B7D-AF17F612989F}"/>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Non-pharmacologic context and combination care</a:t>
            </a:r>
          </a:p>
        </p:txBody>
      </p:sp>
      <p:sp>
        <p:nvSpPr>
          <p:cNvPr id="4" name="">
            <a:extLst xmlns:a="http://schemas.openxmlformats.org/drawingml/2006/main">
              <a:ext uri="{FF2B5EF4-FFF2-40B4-BE49-F238E27FC236}">
                <a16:creationId xmlns:a16="http://schemas.microsoft.com/office/drawing/2014/main" id="{51104B0B-9895-45E4-9435-B944898CC792}"/>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D6E3EA"/>
                </a:solidFill>
                <a:latin typeface="Aptos"/>
                <a:ea typeface="Aptos"/>
                <a:cs typeface="Aptos"/>
              </a:defRPr>
            </a:pPr>
            <a:r>
              <a:rPr sz="863" b="0">
                <a:solidFill>
                  <a:srgbClr val="D6E3EA"/>
                </a:solidFill>
                <a:latin typeface="Aptos"/>
                <a:ea typeface="Aptos"/>
                <a:cs typeface="Aptos"/>
              </a:rPr>
              <a:t>A good deck reminds HCPs that medicines are only one part of musculoskeletal care.</a:t>
            </a:r>
          </a:p>
        </p:txBody>
      </p:sp>
      <p:sp>
        <p:nvSpPr>
          <p:cNvPr id="5" name="">
            <a:extLst xmlns:a="http://schemas.openxmlformats.org/drawingml/2006/main">
              <a:ext uri="{FF2B5EF4-FFF2-40B4-BE49-F238E27FC236}">
                <a16:creationId xmlns:a16="http://schemas.microsoft.com/office/drawing/2014/main" id="{A666026B-12A4-46FD-AF1F-8B06F3D52FCC}"/>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31536A"/>
          </a:solidFill>
          <a:ln xmlns:a="http://schemas.openxmlformats.org/drawingml/2006/main" w="0">
            <a:solidFill>
              <a:srgbClr val="31536A"/>
            </a:solidFill>
            <a:prstDash val="solid"/>
          </a:ln>
        </p:spPr>
      </p:sp>
      <p:sp>
        <p:nvSpPr>
          <p:cNvPr id="6" name="">
            <a:extLst xmlns:a="http://schemas.openxmlformats.org/drawingml/2006/main">
              <a:ext uri="{FF2B5EF4-FFF2-40B4-BE49-F238E27FC236}">
                <a16:creationId xmlns:a16="http://schemas.microsoft.com/office/drawing/2014/main" id="{1691AAF4-4067-4C7D-B541-1C0841F58789}"/>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D6E3EA"/>
                </a:solidFill>
                <a:latin typeface="Aptos"/>
                <a:ea typeface="Aptos"/>
                <a:cs typeface="Aptos"/>
              </a:defRPr>
            </a:pPr>
            <a:r>
              <a:rPr sz="570" b="0">
                <a:solidFill>
                  <a:srgbClr val="D6E3EA"/>
                </a:solidFill>
                <a:latin typeface="Aptos"/>
                <a:ea typeface="Aptos"/>
                <a:cs typeface="Aptos"/>
              </a:rPr>
              <a:t>Refs: PubMed 31908149; PubMed 26186173</a:t>
            </a:r>
          </a:p>
        </p:txBody>
      </p:sp>
      <p:sp>
        <p:nvSpPr>
          <p:cNvPr id="7" name="">
            <a:extLst xmlns:a="http://schemas.openxmlformats.org/drawingml/2006/main">
              <a:ext uri="{FF2B5EF4-FFF2-40B4-BE49-F238E27FC236}">
                <a16:creationId xmlns:a16="http://schemas.microsoft.com/office/drawing/2014/main" id="{09BA070F-DE1B-458F-A8CD-8615CC37D06C}"/>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D6E3EA"/>
                </a:solidFill>
                <a:latin typeface="Aptos"/>
                <a:ea typeface="Aptos"/>
                <a:cs typeface="Aptos"/>
              </a:defRPr>
            </a:pPr>
            <a:r>
              <a:rPr sz="570" b="0">
                <a:solidFill>
                  <a:srgbClr val="D6E3EA"/>
                </a:solidFill>
                <a:latin typeface="Aptos"/>
                <a:ea typeface="Aptos"/>
                <a:cs typeface="Aptos"/>
              </a:rPr>
              <a:t>Slide 19/25</a:t>
            </a:r>
          </a:p>
        </p:txBody>
      </p:sp>
      <p:sp>
        <p:nvSpPr>
          <p:cNvPr id="8" name="">
            <a:extLst xmlns:a="http://schemas.openxmlformats.org/drawingml/2006/main">
              <a:ext uri="{FF2B5EF4-FFF2-40B4-BE49-F238E27FC236}">
                <a16:creationId xmlns:a16="http://schemas.microsoft.com/office/drawing/2014/main" id="{C7F1030F-6F14-4833-9FA6-342EEE6E1A4F}"/>
              </a:ext>
            </a:extLst>
          </p:cNvPr>
          <p:cNvSpPr>
            <a:spLocks xmlns:a="http://schemas.openxmlformats.org/drawingml/2006/main" noGrp="1"/>
          </p:cNvSpPr>
          <p:nvPr/>
        </p:nvSpPr>
        <p:spPr>
          <a:xfrm xmlns:a="http://schemas.openxmlformats.org/drawingml/2006/main">
            <a:off x="685800" y="1504950"/>
            <a:ext cx="6096000" cy="29146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Exercise, weight management, physiotherapy, and ergonomic advice remain important where appropriate.</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Analgesic therapy should be combined with lifestyle and mechanical management when indicated.</a:t>
            </a:r>
          </a:p>
          <a:p xmlns:a="http://schemas.openxmlformats.org/drawingml/2006/main">
            <a:r>
              <a:t/>
            </a:r>
          </a:p>
          <a:p xmlns:a="http://schemas.openxmlformats.org/drawingml/2006/main">
            <a:pPr algn="l">
              <a:defRPr sz="1065" b="0">
                <a:solidFill>
                  <a:srgbClr val="24313A"/>
                </a:solidFill>
                <a:latin typeface="Aptos"/>
                <a:ea typeface="Aptos"/>
                <a:cs typeface="Aptos"/>
              </a:defRPr>
            </a:pPr>
            <a:r>
              <a:rPr sz="1065" b="0">
                <a:solidFill>
                  <a:srgbClr val="24313A"/>
                </a:solidFill>
                <a:latin typeface="Aptos"/>
                <a:ea typeface="Aptos"/>
                <a:cs typeface="Aptos"/>
              </a:rPr>
              <a:t>- Medication can help symptoms, but the care plan should still address the underlying functional problem.</a:t>
            </a:r>
          </a:p>
        </p:txBody>
      </p:sp>
      <p:sp>
        <p:nvSpPr>
          <p:cNvPr id="9" name="">
            <a:extLst xmlns:a="http://schemas.openxmlformats.org/drawingml/2006/main">
              <a:ext uri="{FF2B5EF4-FFF2-40B4-BE49-F238E27FC236}">
                <a16:creationId xmlns:a16="http://schemas.microsoft.com/office/drawing/2014/main" id="{FEE80E43-6E20-44FE-87FC-801C2FD6C92D}"/>
              </a:ext>
            </a:extLst>
          </p:cNvPr>
          <p:cNvSpPr>
            <a:spLocks xmlns:a="http://schemas.openxmlformats.org/drawingml/2006/main" noGrp="1"/>
          </p:cNvSpPr>
          <p:nvPr/>
        </p:nvSpPr>
        <p:spPr>
          <a:xfrm xmlns:a="http://schemas.openxmlformats.org/drawingml/2006/main">
            <a:off x="7239000" y="1657350"/>
            <a:ext cx="3848100" cy="1771650"/>
          </a:xfrm>
          <a:prstGeom xmlns:a="http://schemas.openxmlformats.org/drawingml/2006/main" prst="roundRect">
            <a:avLst>
              <a:gd name="adj" fmla="val 4301"/>
            </a:avLst>
          </a:prstGeom>
          <a:solidFill xmlns:a="http://schemas.openxmlformats.org/drawingml/2006/main">
            <a:srgbClr val="EAF4F7"/>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9CC166F5-A24D-48BB-AF1D-AA5BADA4895B}"/>
              </a:ext>
            </a:extLst>
          </p:cNvPr>
          <p:cNvSpPr>
            <a:spLocks xmlns:a="http://schemas.openxmlformats.org/drawingml/2006/main" noGrp="1"/>
          </p:cNvSpPr>
          <p:nvPr/>
        </p:nvSpPr>
        <p:spPr>
          <a:xfrm xmlns:a="http://schemas.openxmlformats.org/drawingml/2006/main">
            <a:off x="7372350" y="1771650"/>
            <a:ext cx="358140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Why this matters</a:t>
            </a:r>
          </a:p>
        </p:txBody>
      </p:sp>
      <p:sp>
        <p:nvSpPr>
          <p:cNvPr id="11" name="">
            <a:extLst xmlns:a="http://schemas.openxmlformats.org/drawingml/2006/main">
              <a:ext uri="{FF2B5EF4-FFF2-40B4-BE49-F238E27FC236}">
                <a16:creationId xmlns:a16="http://schemas.microsoft.com/office/drawing/2014/main" id="{853E6B92-829F-4779-A3E8-D86231857539}"/>
              </a:ext>
            </a:extLst>
          </p:cNvPr>
          <p:cNvSpPr>
            <a:spLocks xmlns:a="http://schemas.openxmlformats.org/drawingml/2006/main" noGrp="1"/>
          </p:cNvSpPr>
          <p:nvPr/>
        </p:nvSpPr>
        <p:spPr>
          <a:xfrm xmlns:a="http://schemas.openxmlformats.org/drawingml/2006/main">
            <a:off x="7372350" y="2057400"/>
            <a:ext cx="3581400" cy="127635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The slide prevents the deck from sounding as if medication alone solves OA or axial pain.</a:t>
            </a:r>
          </a:p>
        </p:txBody>
      </p:sp>
      <p:sp>
        <p:nvSpPr>
          <p:cNvPr id="12" name="">
            <a:extLst xmlns:a="http://schemas.openxmlformats.org/drawingml/2006/main">
              <a:ext uri="{FF2B5EF4-FFF2-40B4-BE49-F238E27FC236}">
                <a16:creationId xmlns:a16="http://schemas.microsoft.com/office/drawing/2014/main" id="{9A54DF93-1F70-48CE-8006-32FBF007560F}"/>
              </a:ext>
            </a:extLst>
          </p:cNvPr>
          <p:cNvSpPr>
            <a:spLocks xmlns:a="http://schemas.openxmlformats.org/drawingml/2006/main" noGrp="1"/>
          </p:cNvSpPr>
          <p:nvPr/>
        </p:nvSpPr>
        <p:spPr>
          <a:xfrm xmlns:a="http://schemas.openxmlformats.org/drawingml/2006/main">
            <a:off x="7239000" y="3638550"/>
            <a:ext cx="3848100" cy="1047750"/>
          </a:xfrm>
          <a:prstGeom xmlns:a="http://schemas.openxmlformats.org/drawingml/2006/main" prst="roundRect">
            <a:avLst>
              <a:gd name="adj" fmla="val 7273"/>
            </a:avLst>
          </a:prstGeom>
          <a:solidFill xmlns:a="http://schemas.openxmlformats.org/drawingml/2006/main">
            <a:srgbClr val="E6F4EA"/>
          </a:solidFill>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ACF2F3C0-15C8-4881-9F33-AE26C9A3218C}"/>
              </a:ext>
            </a:extLst>
          </p:cNvPr>
          <p:cNvSpPr>
            <a:spLocks xmlns:a="http://schemas.openxmlformats.org/drawingml/2006/main" noGrp="1"/>
          </p:cNvSpPr>
          <p:nvPr/>
        </p:nvSpPr>
        <p:spPr>
          <a:xfrm xmlns:a="http://schemas.openxmlformats.org/drawingml/2006/main">
            <a:off x="7372350" y="3752850"/>
            <a:ext cx="3581400" cy="26670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Takeaway</a:t>
            </a:r>
          </a:p>
        </p:txBody>
      </p:sp>
      <p:sp>
        <p:nvSpPr>
          <p:cNvPr id="14" name="">
            <a:extLst xmlns:a="http://schemas.openxmlformats.org/drawingml/2006/main">
              <a:ext uri="{FF2B5EF4-FFF2-40B4-BE49-F238E27FC236}">
                <a16:creationId xmlns:a16="http://schemas.microsoft.com/office/drawing/2014/main" id="{E6C53086-EFA6-41CF-BE8A-09112C935504}"/>
              </a:ext>
            </a:extLst>
          </p:cNvPr>
          <p:cNvSpPr>
            <a:spLocks xmlns:a="http://schemas.openxmlformats.org/drawingml/2006/main" noGrp="1"/>
          </p:cNvSpPr>
          <p:nvPr/>
        </p:nvSpPr>
        <p:spPr>
          <a:xfrm xmlns:a="http://schemas.openxmlformats.org/drawingml/2006/main">
            <a:off x="7372350" y="4038600"/>
            <a:ext cx="3581400" cy="552450"/>
          </a:xfrm>
          <a:prstGeom xmlns:a="http://schemas.openxmlformats.org/drawingml/2006/main" prst="rect">
            <a:avLst/>
          </a:prstGeom>
          <a:solidFill xmlns:a="http://schemas.openxmlformats.org/drawingml/2006/main">
            <a:srgbClr val="E6F4EA"/>
          </a:solidFill>
          <a:ln xmlns:a="http://schemas.openxmlformats.org/drawingml/2006/main" w="9525">
            <a:solidFill>
              <a:srgbClr val="E6F4E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A scientific HCP deck should reinforce multimodal care and realistic expectations.</a:t>
            </a:r>
          </a:p>
        </p:txBody>
      </p:sp>
    </p:spTree>
    <p:extLst>
      <p:ext uri="{BB962C8B-B14F-4D97-AF65-F5344CB8AC3E}">
        <p14:creationId xmlns:p14="http://schemas.microsoft.com/office/powerpoint/2010/main" val="137573987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119B3A-ACC5-4163-85BE-B988E6B437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57CD6077-D09B-4A14-9129-D59C400C5EF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7F12CE68-5558-426D-8A2E-135285059065}"/>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Counselling points for HCP discussion</a:t>
            </a:r>
          </a:p>
        </p:txBody>
      </p:sp>
      <p:sp>
        <p:nvSpPr>
          <p:cNvPr id="4" name="">
            <a:extLst xmlns:a="http://schemas.openxmlformats.org/drawingml/2006/main">
              <a:ext uri="{FF2B5EF4-FFF2-40B4-BE49-F238E27FC236}">
                <a16:creationId xmlns:a16="http://schemas.microsoft.com/office/drawing/2014/main" id="{7023D083-3294-4558-8EF2-4DFFABD2716B}"/>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These are the practical messages a clinician can use when deciding whether to use an NSAID.</a:t>
            </a:r>
          </a:p>
        </p:txBody>
      </p:sp>
      <p:sp>
        <p:nvSpPr>
          <p:cNvPr id="5" name="">
            <a:extLst xmlns:a="http://schemas.openxmlformats.org/drawingml/2006/main">
              <a:ext uri="{FF2B5EF4-FFF2-40B4-BE49-F238E27FC236}">
                <a16:creationId xmlns:a16="http://schemas.microsoft.com/office/drawing/2014/main" id="{AF46AAE2-0851-4F12-AB87-E7C8909CCA38}"/>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207314D0-ABFB-4AFA-B9E2-99E95DDE9E9F}"/>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Torrent PI 2617</a:t>
            </a:r>
          </a:p>
        </p:txBody>
      </p:sp>
      <p:sp>
        <p:nvSpPr>
          <p:cNvPr id="7" name="">
            <a:extLst xmlns:a="http://schemas.openxmlformats.org/drawingml/2006/main">
              <a:ext uri="{FF2B5EF4-FFF2-40B4-BE49-F238E27FC236}">
                <a16:creationId xmlns:a16="http://schemas.microsoft.com/office/drawing/2014/main" id="{9201B89F-C23E-418D-90E3-DAF8C5AC5BAF}"/>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20/25</a:t>
            </a:r>
          </a:p>
        </p:txBody>
      </p:sp>
      <p:sp>
        <p:nvSpPr>
          <p:cNvPr id="8" name="">
            <a:extLst xmlns:a="http://schemas.openxmlformats.org/drawingml/2006/main">
              <a:ext uri="{FF2B5EF4-FFF2-40B4-BE49-F238E27FC236}">
                <a16:creationId xmlns:a16="http://schemas.microsoft.com/office/drawing/2014/main" id="{93B7448C-E5DA-4654-83AC-99C72928DDD1}"/>
              </a:ext>
            </a:extLst>
          </p:cNvPr>
          <p:cNvSpPr>
            <a:spLocks xmlns:a="http://schemas.openxmlformats.org/drawingml/2006/main" noGrp="1"/>
          </p:cNvSpPr>
          <p:nvPr/>
        </p:nvSpPr>
        <p:spPr>
          <a:xfrm xmlns:a="http://schemas.openxmlformats.org/drawingml/2006/main">
            <a:off x="609600" y="1524000"/>
            <a:ext cx="4762500" cy="1752600"/>
          </a:xfrm>
          <a:prstGeom xmlns:a="http://schemas.openxmlformats.org/drawingml/2006/main" prst="roundRect">
            <a:avLst>
              <a:gd name="adj" fmla="val 4348"/>
            </a:avLst>
          </a:prstGeom>
          <a:solidFill xmlns:a="http://schemas.openxmlformats.org/drawingml/2006/main">
            <a:srgbClr val="F4F8FA"/>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DF17B54F-B91D-4873-B909-B81A257A6F28}"/>
              </a:ext>
            </a:extLst>
          </p:cNvPr>
          <p:cNvSpPr>
            <a:spLocks xmlns:a="http://schemas.openxmlformats.org/drawingml/2006/main" noGrp="1"/>
          </p:cNvSpPr>
          <p:nvPr/>
        </p:nvSpPr>
        <p:spPr>
          <a:xfrm xmlns:a="http://schemas.openxmlformats.org/drawingml/2006/main">
            <a:off x="742950" y="1638300"/>
            <a:ext cx="449580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Discuss benefit</a:t>
            </a:r>
          </a:p>
        </p:txBody>
      </p:sp>
      <p:sp>
        <p:nvSpPr>
          <p:cNvPr id="10" name="">
            <a:extLst xmlns:a="http://schemas.openxmlformats.org/drawingml/2006/main">
              <a:ext uri="{FF2B5EF4-FFF2-40B4-BE49-F238E27FC236}">
                <a16:creationId xmlns:a16="http://schemas.microsoft.com/office/drawing/2014/main" id="{CC7180FB-B2A1-4FF0-9223-E11961C98500}"/>
              </a:ext>
            </a:extLst>
          </p:cNvPr>
          <p:cNvSpPr>
            <a:spLocks xmlns:a="http://schemas.openxmlformats.org/drawingml/2006/main" noGrp="1"/>
          </p:cNvSpPr>
          <p:nvPr/>
        </p:nvSpPr>
        <p:spPr>
          <a:xfrm xmlns:a="http://schemas.openxmlformats.org/drawingml/2006/main">
            <a:off x="742950" y="1924050"/>
            <a:ext cx="4495800" cy="12573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915" b="0">
                <a:solidFill>
                  <a:srgbClr val="24313A"/>
                </a:solidFill>
                <a:latin typeface="Aptos"/>
                <a:ea typeface="Aptos"/>
                <a:cs typeface="Aptos"/>
              </a:defRPr>
            </a:pPr>
            <a:r>
              <a:rPr sz="915" b="0">
                <a:solidFill>
                  <a:srgbClr val="24313A"/>
                </a:solidFill>
                <a:latin typeface="Aptos"/>
                <a:ea typeface="Aptos"/>
                <a:cs typeface="Aptos"/>
              </a:rPr>
              <a:t>Expected symptom relief, function goals, and time-limited use.</a:t>
            </a:r>
          </a:p>
        </p:txBody>
      </p:sp>
      <p:sp>
        <p:nvSpPr>
          <p:cNvPr id="11" name="">
            <a:extLst xmlns:a="http://schemas.openxmlformats.org/drawingml/2006/main">
              <a:ext uri="{FF2B5EF4-FFF2-40B4-BE49-F238E27FC236}">
                <a16:creationId xmlns:a16="http://schemas.microsoft.com/office/drawing/2014/main" id="{8B07DAB0-651F-4692-B466-C4627D790A84}"/>
              </a:ext>
            </a:extLst>
          </p:cNvPr>
          <p:cNvSpPr>
            <a:spLocks xmlns:a="http://schemas.openxmlformats.org/drawingml/2006/main" noGrp="1"/>
          </p:cNvSpPr>
          <p:nvPr/>
        </p:nvSpPr>
        <p:spPr>
          <a:xfrm xmlns:a="http://schemas.openxmlformats.org/drawingml/2006/main">
            <a:off x="5772150" y="1524000"/>
            <a:ext cx="5810250" cy="1752600"/>
          </a:xfrm>
          <a:prstGeom xmlns:a="http://schemas.openxmlformats.org/drawingml/2006/main" prst="roundRect">
            <a:avLst>
              <a:gd name="adj" fmla="val 4348"/>
            </a:avLst>
          </a:prstGeom>
          <a:solidFill xmlns:a="http://schemas.openxmlformats.org/drawingml/2006/main">
            <a:srgbClr val="EAF4F7"/>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BAA15DD9-46A4-4393-9708-AEABAD2E1D00}"/>
              </a:ext>
            </a:extLst>
          </p:cNvPr>
          <p:cNvSpPr>
            <a:spLocks xmlns:a="http://schemas.openxmlformats.org/drawingml/2006/main" noGrp="1"/>
          </p:cNvSpPr>
          <p:nvPr/>
        </p:nvSpPr>
        <p:spPr>
          <a:xfrm xmlns:a="http://schemas.openxmlformats.org/drawingml/2006/main">
            <a:off x="5905500" y="1638300"/>
            <a:ext cx="554355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Discuss risk</a:t>
            </a:r>
          </a:p>
        </p:txBody>
      </p:sp>
      <p:sp>
        <p:nvSpPr>
          <p:cNvPr id="13" name="">
            <a:extLst xmlns:a="http://schemas.openxmlformats.org/drawingml/2006/main">
              <a:ext uri="{FF2B5EF4-FFF2-40B4-BE49-F238E27FC236}">
                <a16:creationId xmlns:a16="http://schemas.microsoft.com/office/drawing/2014/main" id="{636CBDCA-B8F8-46D3-A6AB-91C95414D114}"/>
              </a:ext>
            </a:extLst>
          </p:cNvPr>
          <p:cNvSpPr>
            <a:spLocks xmlns:a="http://schemas.openxmlformats.org/drawingml/2006/main" noGrp="1"/>
          </p:cNvSpPr>
          <p:nvPr/>
        </p:nvSpPr>
        <p:spPr>
          <a:xfrm xmlns:a="http://schemas.openxmlformats.org/drawingml/2006/main">
            <a:off x="5905500" y="1924050"/>
            <a:ext cx="5543550" cy="12573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915" b="0">
                <a:solidFill>
                  <a:srgbClr val="24313A"/>
                </a:solidFill>
                <a:latin typeface="Aptos"/>
                <a:ea typeface="Aptos"/>
                <a:cs typeface="Aptos"/>
              </a:defRPr>
            </a:pPr>
            <a:r>
              <a:rPr sz="915" b="0">
                <a:solidFill>
                  <a:srgbClr val="24313A"/>
                </a:solidFill>
                <a:latin typeface="Aptos"/>
                <a:ea typeface="Aptos"/>
                <a:cs typeface="Aptos"/>
              </a:rPr>
              <a:t>GI, renal, cardiovascular, and hepatic warning signs plus concomitant therapy checks.</a:t>
            </a:r>
          </a:p>
        </p:txBody>
      </p:sp>
      <p:sp>
        <p:nvSpPr>
          <p:cNvPr id="14" name="">
            <a:extLst xmlns:a="http://schemas.openxmlformats.org/drawingml/2006/main">
              <a:ext uri="{FF2B5EF4-FFF2-40B4-BE49-F238E27FC236}">
                <a16:creationId xmlns:a16="http://schemas.microsoft.com/office/drawing/2014/main" id="{1F9AB2FF-4C64-4A44-BFB0-0606D01E9D1A}"/>
              </a:ext>
            </a:extLst>
          </p:cNvPr>
          <p:cNvSpPr>
            <a:spLocks xmlns:a="http://schemas.openxmlformats.org/drawingml/2006/main" noGrp="1"/>
          </p:cNvSpPr>
          <p:nvPr/>
        </p:nvSpPr>
        <p:spPr>
          <a:xfrm xmlns:a="http://schemas.openxmlformats.org/drawingml/2006/main">
            <a:off x="990600" y="3714750"/>
            <a:ext cx="1021080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2A9C5460-1ACB-4526-B8F3-CD43255C4073}"/>
              </a:ext>
            </a:extLst>
          </p:cNvPr>
          <p:cNvSpPr>
            <a:spLocks xmlns:a="http://schemas.openxmlformats.org/drawingml/2006/main" noGrp="1"/>
          </p:cNvSpPr>
          <p:nvPr/>
        </p:nvSpPr>
        <p:spPr>
          <a:xfrm xmlns:a="http://schemas.openxmlformats.org/drawingml/2006/main">
            <a:off x="1123950" y="382905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Counselling style</a:t>
            </a:r>
          </a:p>
        </p:txBody>
      </p:sp>
      <p:sp>
        <p:nvSpPr>
          <p:cNvPr id="16" name="">
            <a:extLst xmlns:a="http://schemas.openxmlformats.org/drawingml/2006/main">
              <a:ext uri="{FF2B5EF4-FFF2-40B4-BE49-F238E27FC236}">
                <a16:creationId xmlns:a16="http://schemas.microsoft.com/office/drawing/2014/main" id="{38BEE274-5F10-4D63-B0E1-673D74CAC9C4}"/>
              </a:ext>
            </a:extLst>
          </p:cNvPr>
          <p:cNvSpPr>
            <a:spLocks xmlns:a="http://schemas.openxmlformats.org/drawingml/2006/main" noGrp="1"/>
          </p:cNvSpPr>
          <p:nvPr/>
        </p:nvSpPr>
        <p:spPr>
          <a:xfrm xmlns:a="http://schemas.openxmlformats.org/drawingml/2006/main">
            <a:off x="1123950" y="4114800"/>
            <a:ext cx="99441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The HCP should leave with a quick, repeatable safety script that supports the patient without overpromising the drug.</a:t>
            </a:r>
          </a:p>
        </p:txBody>
      </p:sp>
    </p:spTree>
    <p:extLst>
      <p:ext uri="{BB962C8B-B14F-4D97-AF65-F5344CB8AC3E}">
        <p14:creationId xmlns:p14="http://schemas.microsoft.com/office/powerpoint/2010/main" val="45055005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07912F-3936-4CA7-A4C7-75879B6E26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0C72C3FA-50F7-4969-AFC5-CC0F1F13003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76B6C3BD-B1E3-4D70-9F62-EE5C393D7869}"/>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Frequently asked HCP questions</a:t>
            </a:r>
          </a:p>
        </p:txBody>
      </p:sp>
      <p:sp>
        <p:nvSpPr>
          <p:cNvPr id="4" name="">
            <a:extLst xmlns:a="http://schemas.openxmlformats.org/drawingml/2006/main">
              <a:ext uri="{FF2B5EF4-FFF2-40B4-BE49-F238E27FC236}">
                <a16:creationId xmlns:a16="http://schemas.microsoft.com/office/drawing/2014/main" id="{4AFF3404-6FE0-4ECE-BC53-A581590CA1C6}"/>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good deck anticipates the questions that usually come up in discussion.</a:t>
            </a:r>
          </a:p>
        </p:txBody>
      </p:sp>
      <p:sp>
        <p:nvSpPr>
          <p:cNvPr id="5" name="">
            <a:extLst xmlns:a="http://schemas.openxmlformats.org/drawingml/2006/main">
              <a:ext uri="{FF2B5EF4-FFF2-40B4-BE49-F238E27FC236}">
                <a16:creationId xmlns:a16="http://schemas.microsoft.com/office/drawing/2014/main" id="{14601E96-577C-4405-B60D-D07009B55EB1}"/>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13628F66-663B-42E6-ACA2-C554CA9C3995}"/>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PubMed 8853164; PubMed 31908149</a:t>
            </a:r>
          </a:p>
        </p:txBody>
      </p:sp>
      <p:sp>
        <p:nvSpPr>
          <p:cNvPr id="7" name="">
            <a:extLst xmlns:a="http://schemas.openxmlformats.org/drawingml/2006/main">
              <a:ext uri="{FF2B5EF4-FFF2-40B4-BE49-F238E27FC236}">
                <a16:creationId xmlns:a16="http://schemas.microsoft.com/office/drawing/2014/main" id="{7FC9E4FB-1366-4FA7-BDA6-58507CA519AB}"/>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21/25</a:t>
            </a:r>
          </a:p>
        </p:txBody>
      </p:sp>
      <p:graphicFrame>
        <p:nvGraphicFramePr>
          <p:cNvPr id="8" name=""/>
          <p:cNvGraphicFramePr/>
          <p:nvPr/>
        </p:nvGraphicFramePr>
        <p:xfrm>
          <a:off xmlns:a="http://schemas.openxmlformats.org/drawingml/2006/main" x="609600" y="1485900"/>
          <a:ext xmlns:a="http://schemas.openxmlformats.org/drawingml/2006/main" cx="10972800" cy="2895600"/>
        </p:xfrm>
        <a:graphic xmlns:a="http://schemas.openxmlformats.org/drawingml/2006/main">
          <a:graphicData uri="http://schemas.openxmlformats.org/drawingml/2006/table">
            <a:tbl>
              <a:tblPr/>
              <a:tblGrid>
                <a:gridCol w="3182112"/>
                <a:gridCol w="7790688"/>
              </a:tblGrid>
              <a:tr h="579120">
                <a:tc>
                  <a:txBody>
                    <a:bodyPr/>
                    <a:lstStyle/>
                    <a:p>
                      <a:r>
                        <a:rPr sz="750" b="1">
                          <a:solidFill>
                            <a:srgbClr val="FFFFFF"/>
                          </a:solidFill>
                          <a:latin typeface="Aptos"/>
                          <a:ea typeface="Aptos"/>
                          <a:cs typeface="Aptos"/>
                        </a:rPr>
                        <a:t>Question</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Controlled answer</a:t>
                      </a:r>
                    </a:p>
                  </a:txBody>
                  <a:tcPr marL="91440" marR="91440" marT="45720" marB="45720">
                    <a:lnB w="9525">
                      <a:solidFill>
                        <a:srgbClr val="FFFFFF"/>
                      </a:solidFill>
                    </a:lnB>
                    <a:solidFill>
                      <a:srgbClr val="16324F"/>
                    </a:solidFill>
                  </a:tcPr>
                </a:tc>
              </a:tr>
              <a:tr h="579120">
                <a:tc>
                  <a:txBody>
                    <a:bodyPr/>
                    <a:lstStyle/>
                    <a:p>
                      <a:r>
                        <a:t>Q1. Is aceclofenac just another NSAID?</a:t>
                      </a:r>
                    </a:p>
                  </a:txBody>
                  <a:tcPr marL="91440" marR="91440" marT="45720" marB="45720"/>
                </a:tc>
                <a:tc>
                  <a:txBody>
                    <a:bodyPr/>
                    <a:lstStyle/>
                    <a:p>
                      <a:r>
                        <a:t>It is an NSAID with a defined chemical identity, PK profile, and a body of OA / inflammatory-arthritis evidence; the local PI still controls the final claim.</a:t>
                      </a:r>
                    </a:p>
                  </a:txBody>
                  <a:tcPr marL="91440" marR="91440" marT="45720" marB="45720"/>
                </a:tc>
              </a:tr>
              <a:tr h="579120">
                <a:tc>
                  <a:txBody>
                    <a:bodyPr/>
                    <a:lstStyle/>
                    <a:p>
                      <a:r>
                        <a:t>Q2. Can it replace all pain therapies?</a:t>
                      </a:r>
                    </a:p>
                  </a:txBody>
                  <a:tcPr marL="91440" marR="91440" marT="45720" marB="45720"/>
                </a:tc>
                <a:tc>
                  <a:txBody>
                    <a:bodyPr/>
                    <a:lstStyle/>
                    <a:p>
                      <a:r>
                        <a:t>No. It fits only where NSAID therapy is appropriate and risk is acceptable.</a:t>
                      </a:r>
                    </a:p>
                  </a:txBody>
                  <a:tcPr marL="91440" marR="91440" marT="45720" marB="45720"/>
                </a:tc>
              </a:tr>
              <a:tr h="579120">
                <a:tc>
                  <a:txBody>
                    <a:bodyPr/>
                    <a:lstStyle/>
                    <a:p>
                      <a:r>
                        <a:t>Q3. Is it safe in every patient?</a:t>
                      </a:r>
                    </a:p>
                  </a:txBody>
                  <a:tcPr marL="91440" marR="91440" marT="45720" marB="45720"/>
                </a:tc>
                <a:tc>
                  <a:txBody>
                    <a:bodyPr/>
                    <a:lstStyle/>
                    <a:p>
                      <a:r>
                        <a:t>No. GI, renal, cardiovascular, hepatic, pregnancy, and interaction risks still matter.</a:t>
                      </a:r>
                    </a:p>
                  </a:txBody>
                  <a:tcPr marL="91440" marR="91440" marT="45720" marB="45720"/>
                </a:tc>
              </a:tr>
              <a:tr h="579120">
                <a:tc>
                  <a:txBody>
                    <a:bodyPr/>
                    <a:lstStyle/>
                    <a:p>
                      <a:r>
                        <a:t>Q4. What should I verify first?</a:t>
                      </a:r>
                    </a:p>
                  </a:txBody>
                  <a:tcPr marL="91440" marR="91440" marT="45720" marB="45720"/>
                </a:tc>
                <a:tc>
                  <a:txBody>
                    <a:bodyPr/>
                    <a:lstStyle/>
                    <a:p>
                      <a:r>
                        <a:t>The approved local PI, special-population limits, concomitant medicines, and the patient’s risk profile.</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DC39780C-D1E7-47C5-91FE-102A89C323C1}"/>
              </a:ext>
            </a:extLst>
          </p:cNvPr>
          <p:cNvSpPr>
            <a:spLocks xmlns:a="http://schemas.openxmlformats.org/drawingml/2006/main" noGrp="1"/>
          </p:cNvSpPr>
          <p:nvPr/>
        </p:nvSpPr>
        <p:spPr>
          <a:xfrm xmlns:a="http://schemas.openxmlformats.org/drawingml/2006/main">
            <a:off x="609600" y="6343650"/>
            <a:ext cx="1104900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FAQ slides are useful only when they stay aligned to label and safety evidence.</a:t>
            </a:r>
          </a:p>
        </p:txBody>
      </p:sp>
    </p:spTree>
    <p:extLst>
      <p:ext uri="{BB962C8B-B14F-4D97-AF65-F5344CB8AC3E}">
        <p14:creationId xmlns:p14="http://schemas.microsoft.com/office/powerpoint/2010/main" val="88961205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FC9B61-2442-48CB-A4FA-FDAEE20C27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A9127F30-F108-4015-ABF4-5FE322289FB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EEF73114-E174-49D6-B68F-F0B89CA2008F}"/>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Balanced claims: what not to say</a:t>
            </a:r>
          </a:p>
        </p:txBody>
      </p:sp>
      <p:sp>
        <p:nvSpPr>
          <p:cNvPr id="4" name="">
            <a:extLst xmlns:a="http://schemas.openxmlformats.org/drawingml/2006/main">
              <a:ext uri="{FF2B5EF4-FFF2-40B4-BE49-F238E27FC236}">
                <a16:creationId xmlns:a16="http://schemas.microsoft.com/office/drawing/2014/main" id="{B12F2A70-FFA0-40FD-8EAE-BEF396D3AC8C}"/>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scientific deck stays honest about what the evidence can and cannot support.</a:t>
            </a:r>
          </a:p>
        </p:txBody>
      </p:sp>
      <p:sp>
        <p:nvSpPr>
          <p:cNvPr id="5" name="">
            <a:extLst xmlns:a="http://schemas.openxmlformats.org/drawingml/2006/main">
              <a:ext uri="{FF2B5EF4-FFF2-40B4-BE49-F238E27FC236}">
                <a16:creationId xmlns:a16="http://schemas.microsoft.com/office/drawing/2014/main" id="{87AE40A4-8AAC-4AEE-A9D7-00567E294725}"/>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28B9DACA-C364-4ECA-AC4C-6EC18C489936}"/>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PubMed 5335881; PubMed 8853164</a:t>
            </a:r>
          </a:p>
        </p:txBody>
      </p:sp>
      <p:sp>
        <p:nvSpPr>
          <p:cNvPr id="7" name="">
            <a:extLst xmlns:a="http://schemas.openxmlformats.org/drawingml/2006/main">
              <a:ext uri="{FF2B5EF4-FFF2-40B4-BE49-F238E27FC236}">
                <a16:creationId xmlns:a16="http://schemas.microsoft.com/office/drawing/2014/main" id="{F0BF5202-CC72-4E4E-BEE7-1E7835CAD6AA}"/>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22/25</a:t>
            </a:r>
          </a:p>
        </p:txBody>
      </p:sp>
      <p:sp>
        <p:nvSpPr>
          <p:cNvPr id="8" name="">
            <a:extLst xmlns:a="http://schemas.openxmlformats.org/drawingml/2006/main">
              <a:ext uri="{FF2B5EF4-FFF2-40B4-BE49-F238E27FC236}">
                <a16:creationId xmlns:a16="http://schemas.microsoft.com/office/drawing/2014/main" id="{FE25B2C1-E04A-44EB-BA44-EF26EC458E57}"/>
              </a:ext>
            </a:extLst>
          </p:cNvPr>
          <p:cNvSpPr>
            <a:spLocks xmlns:a="http://schemas.openxmlformats.org/drawingml/2006/main" noGrp="1"/>
          </p:cNvSpPr>
          <p:nvPr/>
        </p:nvSpPr>
        <p:spPr>
          <a:xfrm xmlns:a="http://schemas.openxmlformats.org/drawingml/2006/main">
            <a:off x="609600" y="1524000"/>
            <a:ext cx="3390900" cy="1714500"/>
          </a:xfrm>
          <a:prstGeom xmlns:a="http://schemas.openxmlformats.org/drawingml/2006/main" prst="roundRect">
            <a:avLst>
              <a:gd name="adj" fmla="val 4444"/>
            </a:avLst>
          </a:prstGeom>
          <a:solidFill xmlns:a="http://schemas.openxmlformats.org/drawingml/2006/main">
            <a:srgbClr val="FCE4D6"/>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C563E2F2-A330-4C70-B93F-9243513451F7}"/>
              </a:ext>
            </a:extLst>
          </p:cNvPr>
          <p:cNvSpPr>
            <a:spLocks xmlns:a="http://schemas.openxmlformats.org/drawingml/2006/main" noGrp="1"/>
          </p:cNvSpPr>
          <p:nvPr/>
        </p:nvSpPr>
        <p:spPr>
          <a:xfrm xmlns:a="http://schemas.openxmlformats.org/drawingml/2006/main">
            <a:off x="74295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Avoid</a:t>
            </a:r>
          </a:p>
        </p:txBody>
      </p:sp>
      <p:sp>
        <p:nvSpPr>
          <p:cNvPr id="10" name="">
            <a:extLst xmlns:a="http://schemas.openxmlformats.org/drawingml/2006/main">
              <a:ext uri="{FF2B5EF4-FFF2-40B4-BE49-F238E27FC236}">
                <a16:creationId xmlns:a16="http://schemas.microsoft.com/office/drawing/2014/main" id="{B2A31DC0-7B87-4EF5-999E-118FA00AF51C}"/>
              </a:ext>
            </a:extLst>
          </p:cNvPr>
          <p:cNvSpPr>
            <a:spLocks xmlns:a="http://schemas.openxmlformats.org/drawingml/2006/main" noGrp="1"/>
          </p:cNvSpPr>
          <p:nvPr/>
        </p:nvSpPr>
        <p:spPr>
          <a:xfrm xmlns:a="http://schemas.openxmlformats.org/drawingml/2006/main">
            <a:off x="742950" y="1924050"/>
            <a:ext cx="3124200" cy="12192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ctr"/>
          <a:lstStyle xmlns:a="http://schemas.openxmlformats.org/drawingml/2006/main"/>
          <a:p xmlns:a="http://schemas.openxmlformats.org/drawingml/2006/main">
            <a:pPr algn="ctr">
              <a:defRPr sz="930" b="0">
                <a:solidFill>
                  <a:srgbClr val="24313A"/>
                </a:solidFill>
                <a:latin typeface="Aptos"/>
                <a:ea typeface="Aptos"/>
                <a:cs typeface="Aptos"/>
              </a:defRPr>
            </a:pPr>
            <a:r>
              <a:rPr sz="930" b="0">
                <a:solidFill>
                  <a:srgbClr val="24313A"/>
                </a:solidFill>
                <a:latin typeface="Aptos"/>
                <a:ea typeface="Aptos"/>
                <a:cs typeface="Aptos"/>
              </a:rPr>
              <a:t>Completely safe or no side effects.</a:t>
            </a:r>
          </a:p>
        </p:txBody>
      </p:sp>
      <p:sp>
        <p:nvSpPr>
          <p:cNvPr id="11" name="">
            <a:extLst xmlns:a="http://schemas.openxmlformats.org/drawingml/2006/main">
              <a:ext uri="{FF2B5EF4-FFF2-40B4-BE49-F238E27FC236}">
                <a16:creationId xmlns:a16="http://schemas.microsoft.com/office/drawing/2014/main" id="{FEABD186-208F-422A-B3DE-ACEEBBD003C1}"/>
              </a:ext>
            </a:extLst>
          </p:cNvPr>
          <p:cNvSpPr>
            <a:spLocks xmlns:a="http://schemas.openxmlformats.org/drawingml/2006/main" noGrp="1"/>
          </p:cNvSpPr>
          <p:nvPr/>
        </p:nvSpPr>
        <p:spPr>
          <a:xfrm xmlns:a="http://schemas.openxmlformats.org/drawingml/2006/main">
            <a:off x="4400550" y="1524000"/>
            <a:ext cx="3390900" cy="1714500"/>
          </a:xfrm>
          <a:prstGeom xmlns:a="http://schemas.openxmlformats.org/drawingml/2006/main" prst="roundRect">
            <a:avLst>
              <a:gd name="adj" fmla="val 4444"/>
            </a:avLst>
          </a:prstGeom>
          <a:solidFill xmlns:a="http://schemas.openxmlformats.org/drawingml/2006/main">
            <a:srgbClr val="FCE4D6"/>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E63F9251-57A8-42E9-B3D9-D08722FB2D3B}"/>
              </a:ext>
            </a:extLst>
          </p:cNvPr>
          <p:cNvSpPr>
            <a:spLocks xmlns:a="http://schemas.openxmlformats.org/drawingml/2006/main" noGrp="1"/>
          </p:cNvSpPr>
          <p:nvPr/>
        </p:nvSpPr>
        <p:spPr>
          <a:xfrm xmlns:a="http://schemas.openxmlformats.org/drawingml/2006/main">
            <a:off x="453390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Avoid</a:t>
            </a:r>
          </a:p>
        </p:txBody>
      </p:sp>
      <p:sp>
        <p:nvSpPr>
          <p:cNvPr id="13" name="">
            <a:extLst xmlns:a="http://schemas.openxmlformats.org/drawingml/2006/main">
              <a:ext uri="{FF2B5EF4-FFF2-40B4-BE49-F238E27FC236}">
                <a16:creationId xmlns:a16="http://schemas.microsoft.com/office/drawing/2014/main" id="{A60D9A40-76F5-4419-9980-E17977A405F0}"/>
              </a:ext>
            </a:extLst>
          </p:cNvPr>
          <p:cNvSpPr>
            <a:spLocks xmlns:a="http://schemas.openxmlformats.org/drawingml/2006/main" noGrp="1"/>
          </p:cNvSpPr>
          <p:nvPr/>
        </p:nvSpPr>
        <p:spPr>
          <a:xfrm xmlns:a="http://schemas.openxmlformats.org/drawingml/2006/main">
            <a:off x="4533900" y="1924050"/>
            <a:ext cx="3124200" cy="12192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ctr"/>
          <a:lstStyle xmlns:a="http://schemas.openxmlformats.org/drawingml/2006/main"/>
          <a:p xmlns:a="http://schemas.openxmlformats.org/drawingml/2006/main">
            <a:pPr algn="ctr">
              <a:defRPr sz="930" b="0">
                <a:solidFill>
                  <a:srgbClr val="24313A"/>
                </a:solidFill>
                <a:latin typeface="Aptos"/>
                <a:ea typeface="Aptos"/>
                <a:cs typeface="Aptos"/>
              </a:defRPr>
            </a:pPr>
            <a:r>
              <a:rPr sz="930" b="0">
                <a:solidFill>
                  <a:srgbClr val="24313A"/>
                </a:solidFill>
                <a:latin typeface="Aptos"/>
                <a:ea typeface="Aptos"/>
                <a:cs typeface="Aptos"/>
              </a:rPr>
              <a:t>Best in class unless the evidence and approval support it.</a:t>
            </a:r>
          </a:p>
        </p:txBody>
      </p:sp>
      <p:sp>
        <p:nvSpPr>
          <p:cNvPr id="14" name="">
            <a:extLst xmlns:a="http://schemas.openxmlformats.org/drawingml/2006/main">
              <a:ext uri="{FF2B5EF4-FFF2-40B4-BE49-F238E27FC236}">
                <a16:creationId xmlns:a16="http://schemas.microsoft.com/office/drawing/2014/main" id="{C287BA70-BADC-4170-9B88-B21773A46C77}"/>
              </a:ext>
            </a:extLst>
          </p:cNvPr>
          <p:cNvSpPr>
            <a:spLocks xmlns:a="http://schemas.openxmlformats.org/drawingml/2006/main" noGrp="1"/>
          </p:cNvSpPr>
          <p:nvPr/>
        </p:nvSpPr>
        <p:spPr>
          <a:xfrm xmlns:a="http://schemas.openxmlformats.org/drawingml/2006/main">
            <a:off x="8191500" y="1524000"/>
            <a:ext cx="3390900" cy="1714500"/>
          </a:xfrm>
          <a:prstGeom xmlns:a="http://schemas.openxmlformats.org/drawingml/2006/main" prst="roundRect">
            <a:avLst>
              <a:gd name="adj" fmla="val 4444"/>
            </a:avLst>
          </a:prstGeom>
          <a:solidFill xmlns:a="http://schemas.openxmlformats.org/drawingml/2006/main">
            <a:srgbClr val="FCE4D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8C94B7BF-DB64-4E7E-B9C9-26993E3915AD}"/>
              </a:ext>
            </a:extLst>
          </p:cNvPr>
          <p:cNvSpPr>
            <a:spLocks xmlns:a="http://schemas.openxmlformats.org/drawingml/2006/main" noGrp="1"/>
          </p:cNvSpPr>
          <p:nvPr/>
        </p:nvSpPr>
        <p:spPr>
          <a:xfrm xmlns:a="http://schemas.openxmlformats.org/drawingml/2006/main">
            <a:off x="8324850" y="1638300"/>
            <a:ext cx="3124200" cy="2667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Avoid</a:t>
            </a:r>
          </a:p>
        </p:txBody>
      </p:sp>
      <p:sp>
        <p:nvSpPr>
          <p:cNvPr id="16" name="">
            <a:extLst xmlns:a="http://schemas.openxmlformats.org/drawingml/2006/main">
              <a:ext uri="{FF2B5EF4-FFF2-40B4-BE49-F238E27FC236}">
                <a16:creationId xmlns:a16="http://schemas.microsoft.com/office/drawing/2014/main" id="{E8368899-06E4-4655-8E90-E0724FADA371}"/>
              </a:ext>
            </a:extLst>
          </p:cNvPr>
          <p:cNvSpPr>
            <a:spLocks xmlns:a="http://schemas.openxmlformats.org/drawingml/2006/main" noGrp="1"/>
          </p:cNvSpPr>
          <p:nvPr/>
        </p:nvSpPr>
        <p:spPr>
          <a:xfrm xmlns:a="http://schemas.openxmlformats.org/drawingml/2006/main">
            <a:off x="8324850" y="1924050"/>
            <a:ext cx="3124200" cy="1219200"/>
          </a:xfrm>
          <a:prstGeom xmlns:a="http://schemas.openxmlformats.org/drawingml/2006/main" prst="rect">
            <a:avLst/>
          </a:prstGeom>
          <a:solidFill xmlns:a="http://schemas.openxmlformats.org/drawingml/2006/main">
            <a:srgbClr val="FCE4D6"/>
          </a:solidFill>
          <a:ln xmlns:a="http://schemas.openxmlformats.org/drawingml/2006/main" w="9525">
            <a:solidFill>
              <a:srgbClr val="FCE4D6"/>
            </a:solidFill>
            <a:prstDash val="solid"/>
          </a:ln>
        </p:spPr>
        <p:txBody>
          <a:bodyPr xmlns:a="http://schemas.openxmlformats.org/drawingml/2006/main" anchor="ctr"/>
          <a:lstStyle xmlns:a="http://schemas.openxmlformats.org/drawingml/2006/main"/>
          <a:p xmlns:a="http://schemas.openxmlformats.org/drawingml/2006/main">
            <a:pPr algn="ctr">
              <a:defRPr sz="930" b="0">
                <a:solidFill>
                  <a:srgbClr val="24313A"/>
                </a:solidFill>
                <a:latin typeface="Aptos"/>
                <a:ea typeface="Aptos"/>
                <a:cs typeface="Aptos"/>
              </a:defRPr>
            </a:pPr>
            <a:r>
              <a:rPr sz="930" b="0">
                <a:solidFill>
                  <a:srgbClr val="24313A"/>
                </a:solidFill>
                <a:latin typeface="Aptos"/>
                <a:ea typeface="Aptos"/>
                <a:cs typeface="Aptos"/>
              </a:rPr>
              <a:t>Unsupported superiority or interchangeability claims.</a:t>
            </a:r>
          </a:p>
        </p:txBody>
      </p:sp>
      <p:sp>
        <p:nvSpPr>
          <p:cNvPr id="17" name="">
            <a:extLst xmlns:a="http://schemas.openxmlformats.org/drawingml/2006/main">
              <a:ext uri="{FF2B5EF4-FFF2-40B4-BE49-F238E27FC236}">
                <a16:creationId xmlns:a16="http://schemas.microsoft.com/office/drawing/2014/main" id="{DD732AAB-A95E-4913-83E7-747B964E0702}"/>
              </a:ext>
            </a:extLst>
          </p:cNvPr>
          <p:cNvSpPr>
            <a:spLocks xmlns:a="http://schemas.openxmlformats.org/drawingml/2006/main" noGrp="1"/>
          </p:cNvSpPr>
          <p:nvPr/>
        </p:nvSpPr>
        <p:spPr>
          <a:xfrm xmlns:a="http://schemas.openxmlformats.org/drawingml/2006/main">
            <a:off x="990600" y="3676650"/>
            <a:ext cx="102108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59A962BB-4D9F-4FEA-81AF-20DDB6295546}"/>
              </a:ext>
            </a:extLst>
          </p:cNvPr>
          <p:cNvSpPr>
            <a:spLocks xmlns:a="http://schemas.openxmlformats.org/drawingml/2006/main" noGrp="1"/>
          </p:cNvSpPr>
          <p:nvPr/>
        </p:nvSpPr>
        <p:spPr>
          <a:xfrm xmlns:a="http://schemas.openxmlformats.org/drawingml/2006/main">
            <a:off x="1123950" y="379095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Preferred language</a:t>
            </a:r>
          </a:p>
        </p:txBody>
      </p:sp>
      <p:sp>
        <p:nvSpPr>
          <p:cNvPr id="19" name="">
            <a:extLst xmlns:a="http://schemas.openxmlformats.org/drawingml/2006/main">
              <a:ext uri="{FF2B5EF4-FFF2-40B4-BE49-F238E27FC236}">
                <a16:creationId xmlns:a16="http://schemas.microsoft.com/office/drawing/2014/main" id="{BC83B9EA-8236-4468-9DB7-E2455D307FD3}"/>
              </a:ext>
            </a:extLst>
          </p:cNvPr>
          <p:cNvSpPr>
            <a:spLocks xmlns:a="http://schemas.openxmlformats.org/drawingml/2006/main" noGrp="1"/>
          </p:cNvSpPr>
          <p:nvPr/>
        </p:nvSpPr>
        <p:spPr>
          <a:xfrm xmlns:a="http://schemas.openxmlformats.org/drawingml/2006/main">
            <a:off x="1123950" y="4076700"/>
            <a:ext cx="99441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Use disciplined wording such as 'symptom-focused NSAID option where appropriate' and 'approved local PI controls final use'.</a:t>
            </a:r>
          </a:p>
        </p:txBody>
      </p:sp>
    </p:spTree>
    <p:extLst>
      <p:ext uri="{BB962C8B-B14F-4D97-AF65-F5344CB8AC3E}">
        <p14:creationId xmlns:p14="http://schemas.microsoft.com/office/powerpoint/2010/main" val="163711579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1704E2-17C8-4765-A211-7E90166032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4C68DE8-841A-4686-8882-6EC17E7FB9F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24FA372C-4FD9-4C89-B5C8-0280E218BB5B}"/>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Evidence and reference map</a:t>
            </a:r>
          </a:p>
        </p:txBody>
      </p:sp>
      <p:sp>
        <p:nvSpPr>
          <p:cNvPr id="4" name="">
            <a:extLst xmlns:a="http://schemas.openxmlformats.org/drawingml/2006/main">
              <a:ext uri="{FF2B5EF4-FFF2-40B4-BE49-F238E27FC236}">
                <a16:creationId xmlns:a16="http://schemas.microsoft.com/office/drawing/2014/main" id="{7E87632A-47C9-46AB-AAC4-89B90149175C}"/>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The source base should be visible so the deck stays auditable.</a:t>
            </a:r>
          </a:p>
        </p:txBody>
      </p:sp>
      <p:sp>
        <p:nvSpPr>
          <p:cNvPr id="5" name="">
            <a:extLst xmlns:a="http://schemas.openxmlformats.org/drawingml/2006/main">
              <a:ext uri="{FF2B5EF4-FFF2-40B4-BE49-F238E27FC236}">
                <a16:creationId xmlns:a16="http://schemas.microsoft.com/office/drawing/2014/main" id="{E2DA71A6-1E9B-40BA-B468-EB355662BC34}"/>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A004DC4B-D402-4DC9-8DD6-BB91AEA6CD99}"/>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Acedol PI; PMC8643213; PMC5335881; PubMed 8853164; PubMed 12740678; PubMed 32898192</a:t>
            </a:r>
          </a:p>
        </p:txBody>
      </p:sp>
      <p:sp>
        <p:nvSpPr>
          <p:cNvPr id="7" name="">
            <a:extLst xmlns:a="http://schemas.openxmlformats.org/drawingml/2006/main">
              <a:ext uri="{FF2B5EF4-FFF2-40B4-BE49-F238E27FC236}">
                <a16:creationId xmlns:a16="http://schemas.microsoft.com/office/drawing/2014/main" id="{61DFCEE4-4DE9-404B-B292-47EFE415AB58}"/>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23/25</a:t>
            </a:r>
          </a:p>
        </p:txBody>
      </p:sp>
      <p:graphicFrame>
        <p:nvGraphicFramePr>
          <p:cNvPr id="8" name=""/>
          <p:cNvGraphicFramePr/>
          <p:nvPr/>
        </p:nvGraphicFramePr>
        <p:xfrm>
          <a:off xmlns:a="http://schemas.openxmlformats.org/drawingml/2006/main" x="609600" y="1485900"/>
          <a:ext xmlns:a="http://schemas.openxmlformats.org/drawingml/2006/main" cx="10972800" cy="2857500"/>
        </p:xfrm>
        <a:graphic xmlns:a="http://schemas.openxmlformats.org/drawingml/2006/main">
          <a:graphicData uri="http://schemas.openxmlformats.org/drawingml/2006/table">
            <a:tbl>
              <a:tblPr/>
              <a:tblGrid>
                <a:gridCol w="658368"/>
                <a:gridCol w="6364224"/>
                <a:gridCol w="3950208"/>
              </a:tblGrid>
              <a:tr h="476250">
                <a:tc>
                  <a:txBody>
                    <a:bodyPr/>
                    <a:lstStyle/>
                    <a:p>
                      <a:r>
                        <a:rPr sz="750" b="1">
                          <a:solidFill>
                            <a:srgbClr val="FFFFFF"/>
                          </a:solidFill>
                          <a:latin typeface="Aptos"/>
                          <a:ea typeface="Aptos"/>
                          <a:cs typeface="Aptos"/>
                        </a:rPr>
                        <a:t>#</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Reference</a:t>
                      </a:r>
                    </a:p>
                  </a:txBody>
                  <a:tcPr marL="91440" marR="91440" marT="45720" marB="45720">
                    <a:lnB w="9525">
                      <a:solidFill>
                        <a:srgbClr val="FFFFFF"/>
                      </a:solidFill>
                    </a:lnB>
                    <a:solidFill>
                      <a:srgbClr val="16324F"/>
                    </a:solidFill>
                  </a:tcPr>
                </a:tc>
                <a:tc>
                  <a:txBody>
                    <a:bodyPr/>
                    <a:lstStyle/>
                    <a:p>
                      <a:r>
                        <a:rPr sz="750" b="1">
                          <a:solidFill>
                            <a:srgbClr val="FFFFFF"/>
                          </a:solidFill>
                          <a:latin typeface="Aptos"/>
                          <a:ea typeface="Aptos"/>
                          <a:cs typeface="Aptos"/>
                        </a:rPr>
                        <a:t>Use in deck</a:t>
                      </a:r>
                    </a:p>
                  </a:txBody>
                  <a:tcPr marL="91440" marR="91440" marT="45720" marB="45720">
                    <a:lnB w="9525">
                      <a:solidFill>
                        <a:srgbClr val="FFFFFF"/>
                      </a:solidFill>
                    </a:lnB>
                    <a:solidFill>
                      <a:srgbClr val="16324F"/>
                    </a:solidFill>
                  </a:tcPr>
                </a:tc>
              </a:tr>
              <a:tr h="476250">
                <a:tc>
                  <a:txBody>
                    <a:bodyPr/>
                    <a:lstStyle/>
                    <a:p>
                      <a:r>
                        <a:t>1</a:t>
                      </a:r>
                    </a:p>
                  </a:txBody>
                  <a:tcPr marL="91440" marR="91440" marT="45720" marB="45720"/>
                </a:tc>
                <a:tc>
                  <a:txBody>
                    <a:bodyPr/>
                    <a:lstStyle/>
                    <a:p>
                      <a:r>
                        <a:t>Acedol PI / Torrent PI</a:t>
                      </a:r>
                    </a:p>
                  </a:txBody>
                  <a:tcPr marL="91440" marR="91440" marT="45720" marB="45720"/>
                </a:tc>
                <a:tc>
                  <a:txBody>
                    <a:bodyPr/>
                    <a:lstStyle/>
                    <a:p>
                      <a:r>
                        <a:t>Dose, warnings, contraindications, PK, and adverse reactions</a:t>
                      </a:r>
                    </a:p>
                  </a:txBody>
                  <a:tcPr marL="91440" marR="91440" marT="45720" marB="45720"/>
                </a:tc>
              </a:tr>
              <a:tr h="476250">
                <a:tc>
                  <a:txBody>
                    <a:bodyPr/>
                    <a:lstStyle/>
                    <a:p>
                      <a:r>
                        <a:t>2</a:t>
                      </a:r>
                    </a:p>
                  </a:txBody>
                  <a:tcPr marL="91440" marR="91440" marT="45720" marB="45720"/>
                </a:tc>
                <a:tc>
                  <a:txBody>
                    <a:bodyPr/>
                    <a:lstStyle/>
                    <a:p>
                      <a:r>
                        <a:t>Review of aceclofenac in musculoskeletal disorders</a:t>
                      </a:r>
                    </a:p>
                  </a:txBody>
                  <a:tcPr marL="91440" marR="91440" marT="45720" marB="45720"/>
                </a:tc>
                <a:tc>
                  <a:txBody>
                    <a:bodyPr/>
                    <a:lstStyle/>
                    <a:p>
                      <a:r>
                        <a:t>Mechanism, efficacy, tolerability</a:t>
                      </a:r>
                    </a:p>
                  </a:txBody>
                  <a:tcPr marL="91440" marR="91440" marT="45720" marB="45720"/>
                </a:tc>
              </a:tr>
              <a:tr h="476250">
                <a:tc>
                  <a:txBody>
                    <a:bodyPr/>
                    <a:lstStyle/>
                    <a:p>
                      <a:r>
                        <a:t>3</a:t>
                      </a:r>
                    </a:p>
                  </a:txBody>
                  <a:tcPr marL="91440" marR="91440" marT="45720" marB="45720"/>
                </a:tc>
                <a:tc>
                  <a:txBody>
                    <a:bodyPr/>
                    <a:lstStyle/>
                    <a:p>
                      <a:r>
                        <a:t>OA meta-analysis of randomized controlled trials</a:t>
                      </a:r>
                    </a:p>
                  </a:txBody>
                  <a:tcPr marL="91440" marR="91440" marT="45720" marB="45720"/>
                </a:tc>
                <a:tc>
                  <a:txBody>
                    <a:bodyPr/>
                    <a:lstStyle/>
                    <a:p>
                      <a:r>
                        <a:t>Pain and function summary</a:t>
                      </a:r>
                    </a:p>
                  </a:txBody>
                  <a:tcPr marL="91440" marR="91440" marT="45720" marB="45720"/>
                </a:tc>
              </a:tr>
              <a:tr h="476250">
                <a:tc>
                  <a:txBody>
                    <a:bodyPr/>
                    <a:lstStyle/>
                    <a:p>
                      <a:r>
                        <a:t>4</a:t>
                      </a:r>
                    </a:p>
                  </a:txBody>
                  <a:tcPr marL="91440" marR="91440" marT="45720" marB="45720"/>
                </a:tc>
                <a:tc>
                  <a:txBody>
                    <a:bodyPr/>
                    <a:lstStyle/>
                    <a:p>
                      <a:r>
                        <a:t>RA placebo-controlled study</a:t>
                      </a:r>
                    </a:p>
                  </a:txBody>
                  <a:tcPr marL="91440" marR="91440" marT="45720" marB="45720"/>
                </a:tc>
                <a:tc>
                  <a:txBody>
                    <a:bodyPr/>
                    <a:lstStyle/>
                    <a:p>
                      <a:r>
                        <a:t>Inflammatory arthritis symptom relief</a:t>
                      </a:r>
                    </a:p>
                  </a:txBody>
                  <a:tcPr marL="91440" marR="91440" marT="45720" marB="45720"/>
                </a:tc>
              </a:tr>
              <a:tr h="476250">
                <a:tc>
                  <a:txBody>
                    <a:bodyPr/>
                    <a:lstStyle/>
                    <a:p>
                      <a:r>
                        <a:t>5</a:t>
                      </a:r>
                    </a:p>
                  </a:txBody>
                  <a:tcPr marL="91440" marR="91440" marT="45720" marB="45720"/>
                </a:tc>
                <a:tc>
                  <a:txBody>
                    <a:bodyPr/>
                    <a:lstStyle/>
                    <a:p>
                      <a:r>
                        <a:t>Acute low back pain comparative trial</a:t>
                      </a:r>
                    </a:p>
                  </a:txBody>
                  <a:tcPr marL="91440" marR="91440" marT="45720" marB="45720"/>
                </a:tc>
                <a:tc>
                  <a:txBody>
                    <a:bodyPr/>
                    <a:lstStyle/>
                    <a:p>
                      <a:r>
                        <a:t>Short-term efficacy and tolerability</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7F37B348-EC3C-438B-AF03-BE8211147A7D}"/>
              </a:ext>
            </a:extLst>
          </p:cNvPr>
          <p:cNvSpPr>
            <a:spLocks xmlns:a="http://schemas.openxmlformats.org/drawingml/2006/main" noGrp="1"/>
          </p:cNvSpPr>
          <p:nvPr/>
        </p:nvSpPr>
        <p:spPr>
          <a:xfrm xmlns:a="http://schemas.openxmlformats.org/drawingml/2006/main">
            <a:off x="990600" y="4610100"/>
            <a:ext cx="102108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7C269355-6875-4C64-9156-63AF100067B2}"/>
              </a:ext>
            </a:extLst>
          </p:cNvPr>
          <p:cNvSpPr>
            <a:spLocks xmlns:a="http://schemas.openxmlformats.org/drawingml/2006/main" noGrp="1"/>
          </p:cNvSpPr>
          <p:nvPr/>
        </p:nvSpPr>
        <p:spPr>
          <a:xfrm xmlns:a="http://schemas.openxmlformats.org/drawingml/2006/main">
            <a:off x="1123950" y="47244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How to use the references</a:t>
            </a:r>
          </a:p>
        </p:txBody>
      </p:sp>
      <p:sp>
        <p:nvSpPr>
          <p:cNvPr id="11" name="">
            <a:extLst xmlns:a="http://schemas.openxmlformats.org/drawingml/2006/main">
              <a:ext uri="{FF2B5EF4-FFF2-40B4-BE49-F238E27FC236}">
                <a16:creationId xmlns:a16="http://schemas.microsoft.com/office/drawing/2014/main" id="{9674EEAD-12FD-45BF-8E78-439D576C0405}"/>
              </a:ext>
            </a:extLst>
          </p:cNvPr>
          <p:cNvSpPr>
            <a:spLocks xmlns:a="http://schemas.openxmlformats.org/drawingml/2006/main" noGrp="1"/>
          </p:cNvSpPr>
          <p:nvPr/>
        </p:nvSpPr>
        <p:spPr>
          <a:xfrm xmlns:a="http://schemas.openxmlformats.org/drawingml/2006/main">
            <a:off x="1123950" y="5010150"/>
            <a:ext cx="99441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13" b="0">
                <a:solidFill>
                  <a:srgbClr val="24313A"/>
                </a:solidFill>
                <a:latin typeface="Aptos"/>
                <a:ea typeface="Aptos"/>
                <a:cs typeface="Aptos"/>
              </a:defRPr>
            </a:pPr>
            <a:r>
              <a:rPr sz="1013" b="0">
                <a:solidFill>
                  <a:srgbClr val="24313A"/>
                </a:solidFill>
                <a:latin typeface="Aptos"/>
                <a:ea typeface="Aptos"/>
                <a:cs typeface="Aptos"/>
              </a:rPr>
              <a:t>Keep the full citation list in the notes or appendix and keep the visible slide text concise. This preserves readability while keeping the audit trail intact.</a:t>
            </a:r>
          </a:p>
        </p:txBody>
      </p:sp>
    </p:spTree>
    <p:extLst>
      <p:ext uri="{BB962C8B-B14F-4D97-AF65-F5344CB8AC3E}">
        <p14:creationId xmlns:p14="http://schemas.microsoft.com/office/powerpoint/2010/main" val="3158344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FA62C1-5F97-4B41-AA49-CA5025056F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0EC47B8-B8A4-43AF-9073-B97B37CA69A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3" name="">
            <a:extLst xmlns:a="http://schemas.openxmlformats.org/drawingml/2006/main">
              <a:ext uri="{FF2B5EF4-FFF2-40B4-BE49-F238E27FC236}">
                <a16:creationId xmlns:a16="http://schemas.microsoft.com/office/drawing/2014/main" id="{AB597A9D-7A83-4CB5-BAB3-B05C16DA9B64}"/>
              </a:ext>
            </a:extLst>
          </p:cNvPr>
          <p:cNvSpPr>
            <a:spLocks xmlns:a="http://schemas.openxmlformats.org/drawingml/2006/main" noGrp="1"/>
          </p:cNvSpPr>
          <p:nvPr/>
        </p:nvSpPr>
        <p:spPr>
          <a:xfrm xmlns:a="http://schemas.openxmlformats.org/drawingml/2006/main">
            <a:off x="609600" y="323850"/>
            <a:ext cx="9810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324F"/>
                </a:solidFill>
                <a:latin typeface="Aptos"/>
                <a:ea typeface="Aptos"/>
                <a:cs typeface="Aptos"/>
              </a:defRPr>
            </a:pPr>
            <a:r>
              <a:rPr sz="1800" b="1">
                <a:solidFill>
                  <a:srgbClr val="16324F"/>
                </a:solidFill>
                <a:latin typeface="Aptos"/>
                <a:ea typeface="Aptos"/>
                <a:cs typeface="Aptos"/>
              </a:rPr>
              <a:t>How to refresh the deck on the next cycle</a:t>
            </a:r>
          </a:p>
        </p:txBody>
      </p:sp>
      <p:sp>
        <p:nvSpPr>
          <p:cNvPr id="4" name="">
            <a:extLst xmlns:a="http://schemas.openxmlformats.org/drawingml/2006/main">
              <a:ext uri="{FF2B5EF4-FFF2-40B4-BE49-F238E27FC236}">
                <a16:creationId xmlns:a16="http://schemas.microsoft.com/office/drawing/2014/main" id="{D785419C-9FC8-4078-AE0D-34B846EE9ED0}"/>
              </a:ext>
            </a:extLst>
          </p:cNvPr>
          <p:cNvSpPr>
            <a:spLocks xmlns:a="http://schemas.openxmlformats.org/drawingml/2006/main" noGrp="1"/>
          </p:cNvSpPr>
          <p:nvPr/>
        </p:nvSpPr>
        <p:spPr>
          <a:xfrm xmlns:a="http://schemas.openxmlformats.org/drawingml/2006/main">
            <a:off x="609600" y="781050"/>
            <a:ext cx="1057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863" b="0">
                <a:solidFill>
                  <a:srgbClr val="5F6B75"/>
                </a:solidFill>
                <a:latin typeface="Aptos"/>
                <a:ea typeface="Aptos"/>
                <a:cs typeface="Aptos"/>
              </a:defRPr>
            </a:pPr>
            <a:r>
              <a:rPr sz="863" b="0">
                <a:solidFill>
                  <a:srgbClr val="5F6B75"/>
                </a:solidFill>
                <a:latin typeface="Aptos"/>
                <a:ea typeface="Aptos"/>
                <a:cs typeface="Aptos"/>
              </a:rPr>
              <a:t>A scientific deck should have a revision logic, not just a final page.</a:t>
            </a:r>
          </a:p>
        </p:txBody>
      </p:sp>
      <p:sp>
        <p:nvSpPr>
          <p:cNvPr id="5" name="">
            <a:extLst xmlns:a="http://schemas.openxmlformats.org/drawingml/2006/main">
              <a:ext uri="{FF2B5EF4-FFF2-40B4-BE49-F238E27FC236}">
                <a16:creationId xmlns:a16="http://schemas.microsoft.com/office/drawing/2014/main" id="{35BECB94-8098-4DFF-86D8-982A99B925A5}"/>
              </a:ext>
            </a:extLst>
          </p:cNvPr>
          <p:cNvSpPr>
            <a:spLocks xmlns:a="http://schemas.openxmlformats.org/drawingml/2006/main" noGrp="1"/>
          </p:cNvSpPr>
          <p:nvPr/>
        </p:nvSpPr>
        <p:spPr>
          <a:xfrm xmlns:a="http://schemas.openxmlformats.org/drawingml/2006/main">
            <a:off x="609600" y="1095375"/>
            <a:ext cx="10953750" cy="14288"/>
          </a:xfrm>
          <a:prstGeom xmlns:a="http://schemas.openxmlformats.org/drawingml/2006/main" prst="rect">
            <a:avLst/>
          </a:prstGeom>
          <a:solidFill xmlns:a="http://schemas.openxmlformats.org/drawingml/2006/main">
            <a:srgbClr val="D9E2E8"/>
          </a:solidFill>
          <a:ln xmlns:a="http://schemas.openxmlformats.org/drawingml/2006/main" w="0">
            <a:solidFill>
              <a:srgbClr val="D9E2E8"/>
            </a:solidFill>
            <a:prstDash val="solid"/>
          </a:ln>
        </p:spPr>
      </p:sp>
      <p:sp>
        <p:nvSpPr>
          <p:cNvPr id="6" name="">
            <a:extLst xmlns:a="http://schemas.openxmlformats.org/drawingml/2006/main">
              <a:ext uri="{FF2B5EF4-FFF2-40B4-BE49-F238E27FC236}">
                <a16:creationId xmlns:a16="http://schemas.microsoft.com/office/drawing/2014/main" id="{9B982BE8-A5B5-4FC0-B1A8-4DEAC372090C}"/>
              </a:ext>
            </a:extLst>
          </p:cNvPr>
          <p:cNvSpPr>
            <a:spLocks xmlns:a="http://schemas.openxmlformats.org/drawingml/2006/main" noGrp="1"/>
          </p:cNvSpPr>
          <p:nvPr/>
        </p:nvSpPr>
        <p:spPr>
          <a:xfrm xmlns:a="http://schemas.openxmlformats.org/drawingml/2006/main">
            <a:off x="609600" y="6515100"/>
            <a:ext cx="10096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l">
              <a:defRPr sz="570" b="0">
                <a:solidFill>
                  <a:srgbClr val="5F6B75"/>
                </a:solidFill>
                <a:latin typeface="Aptos"/>
                <a:ea typeface="Aptos"/>
                <a:cs typeface="Aptos"/>
              </a:defRPr>
            </a:pPr>
            <a:r>
              <a:rPr sz="570" b="0">
                <a:solidFill>
                  <a:srgbClr val="5F6B75"/>
                </a:solidFill>
                <a:latin typeface="Aptos"/>
                <a:ea typeface="Aptos"/>
                <a:cs typeface="Aptos"/>
              </a:rPr>
              <a:t>Refs: local PI; new literature; sponsor update policy</a:t>
            </a:r>
          </a:p>
        </p:txBody>
      </p:sp>
      <p:sp>
        <p:nvSpPr>
          <p:cNvPr id="7" name="">
            <a:extLst xmlns:a="http://schemas.openxmlformats.org/drawingml/2006/main">
              <a:ext uri="{FF2B5EF4-FFF2-40B4-BE49-F238E27FC236}">
                <a16:creationId xmlns:a16="http://schemas.microsoft.com/office/drawing/2014/main" id="{1FB45795-9C73-4FE1-A19A-E623BBC98B20}"/>
              </a:ext>
            </a:extLst>
          </p:cNvPr>
          <p:cNvSpPr>
            <a:spLocks xmlns:a="http://schemas.openxmlformats.org/drawingml/2006/main" noGrp="1"/>
          </p:cNvSpPr>
          <p:nvPr/>
        </p:nvSpPr>
        <p:spPr>
          <a:xfrm xmlns:a="http://schemas.openxmlformats.org/drawingml/2006/main">
            <a:off x="10668000" y="6515100"/>
            <a:ext cx="9525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r">
              <a:defRPr sz="570" b="0">
                <a:solidFill>
                  <a:srgbClr val="5F6B75"/>
                </a:solidFill>
                <a:latin typeface="Aptos"/>
                <a:ea typeface="Aptos"/>
                <a:cs typeface="Aptos"/>
              </a:defRPr>
            </a:pPr>
            <a:r>
              <a:rPr sz="570" b="0">
                <a:solidFill>
                  <a:srgbClr val="5F6B75"/>
                </a:solidFill>
                <a:latin typeface="Aptos"/>
                <a:ea typeface="Aptos"/>
                <a:cs typeface="Aptos"/>
              </a:rPr>
              <a:t>Slide 24/25</a:t>
            </a:r>
          </a:p>
        </p:txBody>
      </p:sp>
      <p:sp>
        <p:nvSpPr>
          <p:cNvPr id="8" name="">
            <a:extLst xmlns:a="http://schemas.openxmlformats.org/drawingml/2006/main">
              <a:ext uri="{FF2B5EF4-FFF2-40B4-BE49-F238E27FC236}">
                <a16:creationId xmlns:a16="http://schemas.microsoft.com/office/drawing/2014/main" id="{0B6FB9CA-6140-4E1B-837B-71EC68E911F9}"/>
              </a:ext>
            </a:extLst>
          </p:cNvPr>
          <p:cNvSpPr>
            <a:spLocks xmlns:a="http://schemas.openxmlformats.org/drawingml/2006/main" noGrp="1"/>
          </p:cNvSpPr>
          <p:nvPr/>
        </p:nvSpPr>
        <p:spPr>
          <a:xfrm xmlns:a="http://schemas.openxmlformats.org/drawingml/2006/main">
            <a:off x="609600" y="1485900"/>
            <a:ext cx="3409950" cy="1752600"/>
          </a:xfrm>
          <a:prstGeom xmlns:a="http://schemas.openxmlformats.org/drawingml/2006/main" prst="roundRect">
            <a:avLst>
              <a:gd name="adj" fmla="val 4348"/>
            </a:avLst>
          </a:prstGeom>
          <a:solidFill xmlns:a="http://schemas.openxmlformats.org/drawingml/2006/main">
            <a:srgbClr val="EAF4F7"/>
          </a:solidFill>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986AD183-1792-419C-9600-DE8E9416C880}"/>
              </a:ext>
            </a:extLst>
          </p:cNvPr>
          <p:cNvSpPr>
            <a:spLocks xmlns:a="http://schemas.openxmlformats.org/drawingml/2006/main" noGrp="1"/>
          </p:cNvSpPr>
          <p:nvPr/>
        </p:nvSpPr>
        <p:spPr>
          <a:xfrm xmlns:a="http://schemas.openxmlformats.org/drawingml/2006/main">
            <a:off x="742950" y="1600200"/>
            <a:ext cx="3143250" cy="2667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Trigger 1</a:t>
            </a:r>
          </a:p>
        </p:txBody>
      </p:sp>
      <p:sp>
        <p:nvSpPr>
          <p:cNvPr id="10" name="">
            <a:extLst xmlns:a="http://schemas.openxmlformats.org/drawingml/2006/main">
              <a:ext uri="{FF2B5EF4-FFF2-40B4-BE49-F238E27FC236}">
                <a16:creationId xmlns:a16="http://schemas.microsoft.com/office/drawing/2014/main" id="{62002998-B6AB-438E-AB45-263C60154551}"/>
              </a:ext>
            </a:extLst>
          </p:cNvPr>
          <p:cNvSpPr>
            <a:spLocks xmlns:a="http://schemas.openxmlformats.org/drawingml/2006/main" noGrp="1"/>
          </p:cNvSpPr>
          <p:nvPr/>
        </p:nvSpPr>
        <p:spPr>
          <a:xfrm xmlns:a="http://schemas.openxmlformats.org/drawingml/2006/main">
            <a:off x="742950" y="1885950"/>
            <a:ext cx="3143250" cy="1257300"/>
          </a:xfrm>
          <a:prstGeom xmlns:a="http://schemas.openxmlformats.org/drawingml/2006/main" prst="rect">
            <a:avLst/>
          </a:prstGeom>
          <a:solidFill xmlns:a="http://schemas.openxmlformats.org/drawingml/2006/main">
            <a:srgbClr val="EAF4F7"/>
          </a:solidFill>
          <a:ln xmlns:a="http://schemas.openxmlformats.org/drawingml/2006/main" w="9525">
            <a:solidFill>
              <a:srgbClr val="EAF4F7"/>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New safety information, especially warnings, precautions, adverse reactions, or administration changes.</a:t>
            </a:r>
          </a:p>
        </p:txBody>
      </p:sp>
      <p:sp>
        <p:nvSpPr>
          <p:cNvPr id="11" name="">
            <a:extLst xmlns:a="http://schemas.openxmlformats.org/drawingml/2006/main">
              <a:ext uri="{FF2B5EF4-FFF2-40B4-BE49-F238E27FC236}">
                <a16:creationId xmlns:a16="http://schemas.microsoft.com/office/drawing/2014/main" id="{DA731E4B-B0FA-4D25-AB34-F6CD5A983742}"/>
              </a:ext>
            </a:extLst>
          </p:cNvPr>
          <p:cNvSpPr>
            <a:spLocks xmlns:a="http://schemas.openxmlformats.org/drawingml/2006/main" noGrp="1"/>
          </p:cNvSpPr>
          <p:nvPr/>
        </p:nvSpPr>
        <p:spPr>
          <a:xfrm xmlns:a="http://schemas.openxmlformats.org/drawingml/2006/main">
            <a:off x="4391025" y="1485900"/>
            <a:ext cx="3409950" cy="1752600"/>
          </a:xfrm>
          <a:prstGeom xmlns:a="http://schemas.openxmlformats.org/drawingml/2006/main" prst="roundRect">
            <a:avLst>
              <a:gd name="adj" fmla="val 4348"/>
            </a:avLst>
          </a:prstGeom>
          <a:solidFill xmlns:a="http://schemas.openxmlformats.org/drawingml/2006/main">
            <a:srgbClr val="F4F8FA"/>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CD1640B1-2C91-4CA0-93F8-1816E6725308}"/>
              </a:ext>
            </a:extLst>
          </p:cNvPr>
          <p:cNvSpPr>
            <a:spLocks xmlns:a="http://schemas.openxmlformats.org/drawingml/2006/main" noGrp="1"/>
          </p:cNvSpPr>
          <p:nvPr/>
        </p:nvSpPr>
        <p:spPr>
          <a:xfrm xmlns:a="http://schemas.openxmlformats.org/drawingml/2006/main">
            <a:off x="4524375" y="1600200"/>
            <a:ext cx="3143250" cy="2667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Trigger 2</a:t>
            </a:r>
          </a:p>
        </p:txBody>
      </p:sp>
      <p:sp>
        <p:nvSpPr>
          <p:cNvPr id="13" name="">
            <a:extLst xmlns:a="http://schemas.openxmlformats.org/drawingml/2006/main">
              <a:ext uri="{FF2B5EF4-FFF2-40B4-BE49-F238E27FC236}">
                <a16:creationId xmlns:a16="http://schemas.microsoft.com/office/drawing/2014/main" id="{0939EE82-1ADA-4089-AF75-84E60D8DF76F}"/>
              </a:ext>
            </a:extLst>
          </p:cNvPr>
          <p:cNvSpPr>
            <a:spLocks xmlns:a="http://schemas.openxmlformats.org/drawingml/2006/main" noGrp="1"/>
          </p:cNvSpPr>
          <p:nvPr/>
        </p:nvSpPr>
        <p:spPr>
          <a:xfrm xmlns:a="http://schemas.openxmlformats.org/drawingml/2006/main">
            <a:off x="4524375" y="1885950"/>
            <a:ext cx="3143250" cy="1257300"/>
          </a:xfrm>
          <a:prstGeom xmlns:a="http://schemas.openxmlformats.org/drawingml/2006/main" prst="rect">
            <a:avLst/>
          </a:prstGeom>
          <a:solidFill xmlns:a="http://schemas.openxmlformats.org/drawingml/2006/main">
            <a:srgbClr val="F4F8FA"/>
          </a:solidFill>
          <a:ln xmlns:a="http://schemas.openxmlformats.org/drawingml/2006/main" w="9525">
            <a:solidFill>
              <a:srgbClr val="F4F8FA"/>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New evidence that materially changes efficacy interpretation or place in therapy.</a:t>
            </a:r>
          </a:p>
        </p:txBody>
      </p:sp>
      <p:sp>
        <p:nvSpPr>
          <p:cNvPr id="14" name="">
            <a:extLst xmlns:a="http://schemas.openxmlformats.org/drawingml/2006/main">
              <a:ext uri="{FF2B5EF4-FFF2-40B4-BE49-F238E27FC236}">
                <a16:creationId xmlns:a16="http://schemas.microsoft.com/office/drawing/2014/main" id="{BB7CDC89-A65D-425B-A8C9-4459F185D1F5}"/>
              </a:ext>
            </a:extLst>
          </p:cNvPr>
          <p:cNvSpPr>
            <a:spLocks xmlns:a="http://schemas.openxmlformats.org/drawingml/2006/main" noGrp="1"/>
          </p:cNvSpPr>
          <p:nvPr/>
        </p:nvSpPr>
        <p:spPr>
          <a:xfrm xmlns:a="http://schemas.openxmlformats.org/drawingml/2006/main">
            <a:off x="8172450" y="1485900"/>
            <a:ext cx="3409950" cy="1752600"/>
          </a:xfrm>
          <a:prstGeom xmlns:a="http://schemas.openxmlformats.org/drawingml/2006/main" prst="roundRect">
            <a:avLst>
              <a:gd name="adj" fmla="val 4348"/>
            </a:avLst>
          </a:prstGeom>
          <a:solidFill xmlns:a="http://schemas.openxmlformats.org/drawingml/2006/main">
            <a:srgbClr val="FFF6E6"/>
          </a:solidFill>
          <a:ln xmlns:a="http://schemas.openxmlformats.org/drawingml/2006/main" w="9525">
            <a:solidFill>
              <a:srgbClr val="D9E2E8"/>
            </a:solidFill>
            <a:prstDash val="solid"/>
          </a:ln>
        </p:spPr>
      </p:sp>
      <p:sp>
        <p:nvSpPr>
          <p:cNvPr id="15" name="">
            <a:extLst xmlns:a="http://schemas.openxmlformats.org/drawingml/2006/main">
              <a:ext uri="{FF2B5EF4-FFF2-40B4-BE49-F238E27FC236}">
                <a16:creationId xmlns:a16="http://schemas.microsoft.com/office/drawing/2014/main" id="{E645B9D3-1688-48E8-8F5A-F03662505513}"/>
              </a:ext>
            </a:extLst>
          </p:cNvPr>
          <p:cNvSpPr>
            <a:spLocks xmlns:a="http://schemas.openxmlformats.org/drawingml/2006/main" noGrp="1"/>
          </p:cNvSpPr>
          <p:nvPr/>
        </p:nvSpPr>
        <p:spPr>
          <a:xfrm xmlns:a="http://schemas.openxmlformats.org/drawingml/2006/main">
            <a:off x="8305800" y="1600200"/>
            <a:ext cx="3143250" cy="2667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16324F"/>
                </a:solidFill>
                <a:latin typeface="Aptos"/>
                <a:ea typeface="Aptos"/>
                <a:cs typeface="Aptos"/>
              </a:defRPr>
            </a:pPr>
            <a:r>
              <a:rPr sz="1013" b="1">
                <a:solidFill>
                  <a:srgbClr val="16324F"/>
                </a:solidFill>
                <a:latin typeface="Aptos"/>
                <a:ea typeface="Aptos"/>
                <a:cs typeface="Aptos"/>
              </a:rPr>
              <a:t>Trigger 3</a:t>
            </a:r>
          </a:p>
        </p:txBody>
      </p:sp>
      <p:sp>
        <p:nvSpPr>
          <p:cNvPr id="16" name="">
            <a:extLst xmlns:a="http://schemas.openxmlformats.org/drawingml/2006/main">
              <a:ext uri="{FF2B5EF4-FFF2-40B4-BE49-F238E27FC236}">
                <a16:creationId xmlns:a16="http://schemas.microsoft.com/office/drawing/2014/main" id="{A82A3570-8DA5-4351-A7E6-08DE65F5954B}"/>
              </a:ext>
            </a:extLst>
          </p:cNvPr>
          <p:cNvSpPr>
            <a:spLocks xmlns:a="http://schemas.openxmlformats.org/drawingml/2006/main" noGrp="1"/>
          </p:cNvSpPr>
          <p:nvPr/>
        </p:nvSpPr>
        <p:spPr>
          <a:xfrm xmlns:a="http://schemas.openxmlformats.org/drawingml/2006/main">
            <a:off x="8305800" y="1885950"/>
            <a:ext cx="3143250" cy="1257300"/>
          </a:xfrm>
          <a:prstGeom xmlns:a="http://schemas.openxmlformats.org/drawingml/2006/main" prst="rect">
            <a:avLst/>
          </a:prstGeom>
          <a:solidFill xmlns:a="http://schemas.openxmlformats.org/drawingml/2006/main">
            <a:srgbClr val="FFF6E6"/>
          </a:solidFill>
          <a:ln xmlns:a="http://schemas.openxmlformats.org/drawingml/2006/main" w="9525">
            <a:solidFill>
              <a:srgbClr val="FFF6E6"/>
            </a:solidFill>
            <a:prstDash val="solid"/>
          </a:ln>
        </p:spPr>
        <p:txBody>
          <a:bodyPr xmlns:a="http://schemas.openxmlformats.org/drawingml/2006/main" anchor="t"/>
          <a:lstStyle xmlns:a="http://schemas.openxmlformats.org/drawingml/2006/main"/>
          <a:p xmlns:a="http://schemas.openxmlformats.org/drawingml/2006/main">
            <a:pPr algn="l">
              <a:defRPr sz="878" b="0">
                <a:solidFill>
                  <a:srgbClr val="24313A"/>
                </a:solidFill>
                <a:latin typeface="Aptos"/>
                <a:ea typeface="Aptos"/>
                <a:cs typeface="Aptos"/>
              </a:defRPr>
            </a:pPr>
            <a:r>
              <a:rPr sz="878" b="0">
                <a:solidFill>
                  <a:srgbClr val="24313A"/>
                </a:solidFill>
                <a:latin typeface="Aptos"/>
                <a:ea typeface="Aptos"/>
                <a:cs typeface="Aptos"/>
              </a:rPr>
              <a:t>A new local PI or label update in the target market.</a:t>
            </a:r>
          </a:p>
        </p:txBody>
      </p:sp>
      <p:sp>
        <p:nvSpPr>
          <p:cNvPr id="17" name="">
            <a:extLst xmlns:a="http://schemas.openxmlformats.org/drawingml/2006/main">
              <a:ext uri="{FF2B5EF4-FFF2-40B4-BE49-F238E27FC236}">
                <a16:creationId xmlns:a16="http://schemas.microsoft.com/office/drawing/2014/main" id="{2205F646-800D-4F4B-8D67-9400995082F5}"/>
              </a:ext>
            </a:extLst>
          </p:cNvPr>
          <p:cNvSpPr>
            <a:spLocks xmlns:a="http://schemas.openxmlformats.org/drawingml/2006/main" noGrp="1"/>
          </p:cNvSpPr>
          <p:nvPr/>
        </p:nvSpPr>
        <p:spPr>
          <a:xfrm xmlns:a="http://schemas.openxmlformats.org/drawingml/2006/main">
            <a:off x="990600" y="3657600"/>
            <a:ext cx="102108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D9E2E8"/>
            </a:solidFill>
            <a:prstDash val="solid"/>
          </a:ln>
        </p:spPr>
      </p:sp>
      <p:sp>
        <p:nvSpPr>
          <p:cNvPr id="18" name="">
            <a:extLst xmlns:a="http://schemas.openxmlformats.org/drawingml/2006/main">
              <a:ext uri="{FF2B5EF4-FFF2-40B4-BE49-F238E27FC236}">
                <a16:creationId xmlns:a16="http://schemas.microsoft.com/office/drawing/2014/main" id="{A7D80B70-4706-4981-85E6-FB67466989D9}"/>
              </a:ext>
            </a:extLst>
          </p:cNvPr>
          <p:cNvSpPr>
            <a:spLocks xmlns:a="http://schemas.openxmlformats.org/drawingml/2006/main" noGrp="1"/>
          </p:cNvSpPr>
          <p:nvPr/>
        </p:nvSpPr>
        <p:spPr>
          <a:xfrm xmlns:a="http://schemas.openxmlformats.org/drawingml/2006/main">
            <a:off x="1123950" y="3771900"/>
            <a:ext cx="99441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16324F"/>
                </a:solidFill>
                <a:latin typeface="Aptos"/>
                <a:ea typeface="Aptos"/>
                <a:cs typeface="Aptos"/>
              </a:defRPr>
            </a:pPr>
            <a:r>
              <a:rPr sz="1013" b="1">
                <a:solidFill>
                  <a:srgbClr val="16324F"/>
                </a:solidFill>
                <a:latin typeface="Aptos"/>
                <a:ea typeface="Aptos"/>
                <a:cs typeface="Aptos"/>
              </a:rPr>
              <a:t>Operating rule</a:t>
            </a:r>
          </a:p>
        </p:txBody>
      </p:sp>
      <p:sp>
        <p:nvSpPr>
          <p:cNvPr id="19" name="">
            <a:extLst xmlns:a="http://schemas.openxmlformats.org/drawingml/2006/main">
              <a:ext uri="{FF2B5EF4-FFF2-40B4-BE49-F238E27FC236}">
                <a16:creationId xmlns:a16="http://schemas.microsoft.com/office/drawing/2014/main" id="{BB5EA70A-B05F-4FEE-B7CC-C026161E626E}"/>
              </a:ext>
            </a:extLst>
          </p:cNvPr>
          <p:cNvSpPr>
            <a:spLocks xmlns:a="http://schemas.openxmlformats.org/drawingml/2006/main" noGrp="1"/>
          </p:cNvSpPr>
          <p:nvPr/>
        </p:nvSpPr>
        <p:spPr>
          <a:xfrm xmlns:a="http://schemas.openxmlformats.org/drawingml/2006/main">
            <a:off x="1123950" y="4057650"/>
            <a:ext cx="99441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24313A"/>
                </a:solidFill>
                <a:latin typeface="Aptos"/>
                <a:ea typeface="Aptos"/>
                <a:cs typeface="Aptos"/>
              </a:defRPr>
            </a:pPr>
            <a:r>
              <a:rPr sz="1050" b="0">
                <a:solidFill>
                  <a:srgbClr val="24313A"/>
                </a:solidFill>
                <a:latin typeface="Aptos"/>
                <a:ea typeface="Aptos"/>
                <a:cs typeface="Aptos"/>
              </a:rPr>
              <a:t>This deck should be refreshed whenever the local label or the evidence base changes enough to matter to the HCP.</a:t>
            </a:r>
          </a:p>
        </p:txBody>
      </p:sp>
    </p:spTree>
    <p:extLst>
      <p:ext uri="{BB962C8B-B14F-4D97-AF65-F5344CB8AC3E}">
        <p14:creationId xmlns:p14="http://schemas.microsoft.com/office/powerpoint/2010/main" val="612007399"/>
      </p:ext>
    </p:extLst>
  </p:cSld>
</p:sld>
</file>

<file path=ppt/slides/slide25.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75C673-2E94-402E-89EA-25635CCBAE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 name="">
            <a:extLst xmlns:a="http://schemas.openxmlformats.org/drawingml/2006/main">
              <a:ext uri="{FF2B5EF4-FFF2-40B4-BE49-F238E27FC236}">
                <a16:creationId xmlns:a16="http://schemas.microsoft.com/office/drawing/2014/main" id="{F09D464C-200D-4EFA-A569-D7640D159959}"/>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0E2538"/>
          </a:solidFill>
          <a:ln xmlns:a="http://schemas.openxmlformats.org/drawingml/2006/main" w="0">
            <a:solidFill>
              <a:srgbClr val="0E2538"/>
            </a:solidFill>
            <a:prstDash val="solid"/>
          </a:ln>
        </p:spPr>
      </p:sp>
      <p:sp>
        <p:nvSpPr>
          <p:cNvPr id="3" name="">
            <a:extLst xmlns:a="http://schemas.openxmlformats.org/drawingml/2006/main">
              <a:ext uri="{FF2B5EF4-FFF2-40B4-BE49-F238E27FC236}">
                <a16:creationId xmlns:a16="http://schemas.microsoft.com/office/drawing/2014/main" id="{400844C4-9387-489A-91B3-745159406EBD}"/>
              </a:ext>
            </a:extLst>
          </p:cNvPr>
          <p:cNvSpPr>
            <a:spLocks xmlns:a="http://schemas.openxmlformats.org/drawingml/2006/main" noGrp="1"/>
          </p:cNvSpPr>
          <p:nvPr/>
        </p:nvSpPr>
        <p:spPr>
          <a:xfrm xmlns:a="http://schemas.openxmlformats.org/drawingml/2006/main">
            <a:off x="685800" y="1390650"/>
            <a:ext cx="7239000" cy="5334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Aceclofenac HCP scientific deck</a:t>
            </a:r>
          </a:p>
        </p:txBody>
      </p:sp>
      <p:sp>
        <p:nvSpPr>
          <p:cNvPr id="4" name="">
            <a:extLst xmlns:a="http://schemas.openxmlformats.org/drawingml/2006/main">
              <a:ext uri="{FF2B5EF4-FFF2-40B4-BE49-F238E27FC236}">
                <a16:creationId xmlns:a16="http://schemas.microsoft.com/office/drawing/2014/main" id="{4ED7790A-F44B-42F1-9D9B-9D2E9A430111}"/>
              </a:ext>
            </a:extLst>
          </p:cNvPr>
          <p:cNvSpPr>
            <a:spLocks xmlns:a="http://schemas.openxmlformats.org/drawingml/2006/main" noGrp="1"/>
          </p:cNvSpPr>
          <p:nvPr/>
        </p:nvSpPr>
        <p:spPr>
          <a:xfrm xmlns:a="http://schemas.openxmlformats.org/drawingml/2006/main">
            <a:off x="685800" y="2000250"/>
            <a:ext cx="5334000" cy="2667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8F2F1"/>
                </a:solidFill>
                <a:latin typeface="Aptos"/>
                <a:ea typeface="Aptos"/>
                <a:cs typeface="Aptos"/>
              </a:defRPr>
            </a:pPr>
            <a:r>
              <a:rPr sz="1200" b="1">
                <a:solidFill>
                  <a:srgbClr val="E8F2F1"/>
                </a:solidFill>
                <a:latin typeface="Aptos"/>
                <a:ea typeface="Aptos"/>
                <a:cs typeface="Aptos"/>
              </a:rPr>
              <a:t>Key takeaways</a:t>
            </a:r>
          </a:p>
        </p:txBody>
      </p:sp>
      <p:sp>
        <p:nvSpPr>
          <p:cNvPr id="5" name="">
            <a:extLst xmlns:a="http://schemas.openxmlformats.org/drawingml/2006/main">
              <a:ext uri="{FF2B5EF4-FFF2-40B4-BE49-F238E27FC236}">
                <a16:creationId xmlns:a16="http://schemas.microsoft.com/office/drawing/2014/main" id="{7A760B63-1BC1-4082-82C4-9E9785EF9F57}"/>
              </a:ext>
            </a:extLst>
          </p:cNvPr>
          <p:cNvSpPr>
            <a:spLocks xmlns:a="http://schemas.openxmlformats.org/drawingml/2006/main" noGrp="1"/>
          </p:cNvSpPr>
          <p:nvPr/>
        </p:nvSpPr>
        <p:spPr>
          <a:xfrm xmlns:a="http://schemas.openxmlformats.org/drawingml/2006/main">
            <a:off x="685800" y="2400300"/>
            <a:ext cx="7239000" cy="22479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Aceclofenac is best presented as a balanced NSAID option for symptom relief where local labeling allows.</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Efficacy slides should stay tied to pain and function, not disease-modifying claims.</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Safety must stay visible: GI, renal, cardiovascular, and hepatic cautions belong in the main deck.</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The local PI should control final dosing and special-population wording.</a:t>
            </a:r>
          </a:p>
          <a:p xmlns:a="http://schemas.openxmlformats.org/drawingml/2006/main">
            <a: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Speaker notes and slide count should be confirmed up front for any real delivery version.</a:t>
            </a:r>
          </a:p>
        </p:txBody>
      </p:sp>
      <p:sp>
        <p:nvSpPr>
          <p:cNvPr id="6" name="">
            <a:extLst xmlns:a="http://schemas.openxmlformats.org/drawingml/2006/main">
              <a:ext uri="{FF2B5EF4-FFF2-40B4-BE49-F238E27FC236}">
                <a16:creationId xmlns:a16="http://schemas.microsoft.com/office/drawing/2014/main" id="{0EE2971C-A02C-4507-86B0-AA051612E148}"/>
              </a:ext>
            </a:extLst>
          </p:cNvPr>
          <p:cNvSpPr>
            <a:spLocks xmlns:a="http://schemas.openxmlformats.org/drawingml/2006/main" noGrp="1"/>
          </p:cNvSpPr>
          <p:nvPr/>
        </p:nvSpPr>
        <p:spPr>
          <a:xfrm xmlns:a="http://schemas.openxmlformats.org/drawingml/2006/main">
            <a:off x="8724900" y="1485900"/>
            <a:ext cx="2400300" cy="1314450"/>
          </a:xfrm>
          <a:prstGeom xmlns:a="http://schemas.openxmlformats.org/drawingml/2006/main" prst="roundRect">
            <a:avLst>
              <a:gd name="adj" fmla="val 5797"/>
            </a:avLst>
          </a:prstGeom>
          <a:solidFill xmlns:a="http://schemas.openxmlformats.org/drawingml/2006/main">
            <a:srgbClr val="173D56"/>
          </a:solidFill>
          <a:ln xmlns:a="http://schemas.openxmlformats.org/drawingml/2006/main" w="9525">
            <a:solidFill>
              <a:srgbClr val="2B5A76"/>
            </a:solidFill>
            <a:prstDash val="solid"/>
          </a:ln>
        </p:spPr>
      </p:sp>
      <p:sp>
        <p:nvSpPr>
          <p:cNvPr id="7" name="">
            <a:extLst xmlns:a="http://schemas.openxmlformats.org/drawingml/2006/main">
              <a:ext uri="{FF2B5EF4-FFF2-40B4-BE49-F238E27FC236}">
                <a16:creationId xmlns:a16="http://schemas.microsoft.com/office/drawing/2014/main" id="{4B7A2B05-F5B4-432F-9384-24B7A4F6E9FF}"/>
              </a:ext>
            </a:extLst>
          </p:cNvPr>
          <p:cNvSpPr>
            <a:spLocks xmlns:a="http://schemas.openxmlformats.org/drawingml/2006/main" noGrp="1"/>
          </p:cNvSpPr>
          <p:nvPr/>
        </p:nvSpPr>
        <p:spPr>
          <a:xfrm xmlns:a="http://schemas.openxmlformats.org/drawingml/2006/main">
            <a:off x="8858250" y="1600200"/>
            <a:ext cx="2133600" cy="26670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Deck status</a:t>
            </a:r>
          </a:p>
        </p:txBody>
      </p:sp>
      <p:sp>
        <p:nvSpPr>
          <p:cNvPr id="8" name="">
            <a:extLst xmlns:a="http://schemas.openxmlformats.org/drawingml/2006/main">
              <a:ext uri="{FF2B5EF4-FFF2-40B4-BE49-F238E27FC236}">
                <a16:creationId xmlns:a16="http://schemas.microsoft.com/office/drawing/2014/main" id="{5A6A1F8C-7223-45D6-98EB-61C637152CB7}"/>
              </a:ext>
            </a:extLst>
          </p:cNvPr>
          <p:cNvSpPr>
            <a:spLocks xmlns:a="http://schemas.openxmlformats.org/drawingml/2006/main" noGrp="1"/>
          </p:cNvSpPr>
          <p:nvPr/>
        </p:nvSpPr>
        <p:spPr>
          <a:xfrm xmlns:a="http://schemas.openxmlformats.org/drawingml/2006/main">
            <a:off x="8858250" y="1885950"/>
            <a:ext cx="2133600" cy="819150"/>
          </a:xfrm>
          <a:prstGeom xmlns:a="http://schemas.openxmlformats.org/drawingml/2006/main" prst="rect">
            <a:avLst/>
          </a:prstGeom>
          <a:solidFill xmlns:a="http://schemas.openxmlformats.org/drawingml/2006/main">
            <a:srgbClr val="173D56"/>
          </a:solidFill>
          <a:ln xmlns:a="http://schemas.openxmlformats.org/drawingml/2006/main" w="9525">
            <a:solidFill>
              <a:srgbClr val="173D56"/>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EAF2F6"/>
                </a:solidFill>
                <a:latin typeface="Aptos"/>
                <a:ea typeface="Aptos"/>
                <a:cs typeface="Aptos"/>
              </a:defRPr>
            </a:pPr>
            <a:r>
              <a:rPr sz="855" b="0">
                <a:solidFill>
                  <a:srgbClr val="EAF2F6"/>
                </a:solidFill>
                <a:latin typeface="Aptos"/>
                <a:ea typeface="Aptos"/>
                <a:cs typeface="Aptos"/>
              </a:rPr>
              <a:t>Demonstration only</a:t>
            </a:r>
          </a:p>
        </p:txBody>
      </p:sp>
      <p:sp>
        <p:nvSpPr>
          <p:cNvPr id="9" name="">
            <a:extLst xmlns:a="http://schemas.openxmlformats.org/drawingml/2006/main">
              <a:ext uri="{FF2B5EF4-FFF2-40B4-BE49-F238E27FC236}">
                <a16:creationId xmlns:a16="http://schemas.microsoft.com/office/drawing/2014/main" id="{609B4121-68FC-4021-9841-CD2D1D781ED3}"/>
              </a:ext>
            </a:extLst>
          </p:cNvPr>
          <p:cNvSpPr>
            <a:spLocks xmlns:a="http://schemas.openxmlformats.org/drawingml/2006/main" noGrp="1"/>
          </p:cNvSpPr>
          <p:nvPr/>
        </p:nvSpPr>
        <p:spPr>
          <a:xfrm xmlns:a="http://schemas.openxmlformats.org/drawingml/2006/main">
            <a:off x="8724900" y="3048000"/>
            <a:ext cx="2400300" cy="1314450"/>
          </a:xfrm>
          <a:prstGeom xmlns:a="http://schemas.openxmlformats.org/drawingml/2006/main" prst="roundRect">
            <a:avLst>
              <a:gd name="adj" fmla="val 5797"/>
            </a:avLst>
          </a:prstGeom>
          <a:solidFill xmlns:a="http://schemas.openxmlformats.org/drawingml/2006/main">
            <a:srgbClr val="0F3146"/>
          </a:solidFill>
          <a:ln xmlns:a="http://schemas.openxmlformats.org/drawingml/2006/main" w="9525">
            <a:solidFill>
              <a:srgbClr val="2B5A76"/>
            </a:solidFill>
            <a:prstDash val="solid"/>
          </a:ln>
        </p:spPr>
      </p:sp>
      <p:sp>
        <p:nvSpPr>
          <p:cNvPr id="10" name="">
            <a:extLst xmlns:a="http://schemas.openxmlformats.org/drawingml/2006/main">
              <a:ext uri="{FF2B5EF4-FFF2-40B4-BE49-F238E27FC236}">
                <a16:creationId xmlns:a16="http://schemas.microsoft.com/office/drawing/2014/main" id="{55763616-2857-44C0-8C85-B3C10FA97A46}"/>
              </a:ext>
            </a:extLst>
          </p:cNvPr>
          <p:cNvSpPr>
            <a:spLocks xmlns:a="http://schemas.openxmlformats.org/drawingml/2006/main" noGrp="1"/>
          </p:cNvSpPr>
          <p:nvPr/>
        </p:nvSpPr>
        <p:spPr>
          <a:xfrm xmlns:a="http://schemas.openxmlformats.org/drawingml/2006/main">
            <a:off x="8858250" y="3162300"/>
            <a:ext cx="2133600" cy="26670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Next step</a:t>
            </a:r>
          </a:p>
        </p:txBody>
      </p:sp>
      <p:sp>
        <p:nvSpPr>
          <p:cNvPr id="11" name="">
            <a:extLst xmlns:a="http://schemas.openxmlformats.org/drawingml/2006/main">
              <a:ext uri="{FF2B5EF4-FFF2-40B4-BE49-F238E27FC236}">
                <a16:creationId xmlns:a16="http://schemas.microsoft.com/office/drawing/2014/main" id="{B88DD8F7-0DA3-4E1B-8BA2-9D18C895660F}"/>
              </a:ext>
            </a:extLst>
          </p:cNvPr>
          <p:cNvSpPr>
            <a:spLocks xmlns:a="http://schemas.openxmlformats.org/drawingml/2006/main" noGrp="1"/>
          </p:cNvSpPr>
          <p:nvPr/>
        </p:nvSpPr>
        <p:spPr>
          <a:xfrm xmlns:a="http://schemas.openxmlformats.org/drawingml/2006/main">
            <a:off x="8858250" y="3448050"/>
            <a:ext cx="2133600" cy="819150"/>
          </a:xfrm>
          <a:prstGeom xmlns:a="http://schemas.openxmlformats.org/drawingml/2006/main" prst="rect">
            <a:avLst/>
          </a:prstGeom>
          <a:solidFill xmlns:a="http://schemas.openxmlformats.org/drawingml/2006/main">
            <a:srgbClr val="0F3146"/>
          </a:solidFill>
          <a:ln xmlns:a="http://schemas.openxmlformats.org/drawingml/2006/main" w="9525">
            <a:solidFill>
              <a:srgbClr val="0F3146"/>
            </a:solidFill>
            <a:prstDash val="solid"/>
          </a:ln>
        </p:spPr>
        <p:txBody>
          <a:bodyPr xmlns:a="http://schemas.openxmlformats.org/drawingml/2006/main" anchor="t"/>
          <a:lstStyle xmlns:a="http://schemas.openxmlformats.org/drawingml/2006/main"/>
          <a:p xmlns:a="http://schemas.openxmlformats.org/drawingml/2006/main">
            <a:pPr algn="l">
              <a:defRPr sz="855" b="0">
                <a:solidFill>
                  <a:srgbClr val="EAF2F6"/>
                </a:solidFill>
                <a:latin typeface="Aptos"/>
                <a:ea typeface="Aptos"/>
                <a:cs typeface="Aptos"/>
              </a:defRPr>
            </a:pPr>
            <a:r>
              <a:rPr sz="855" b="0">
                <a:solidFill>
                  <a:srgbClr val="EAF2F6"/>
                </a:solidFill>
                <a:latin typeface="Aptos"/>
                <a:ea typeface="Aptos"/>
                <a:cs typeface="Aptos"/>
              </a:rPr>
              <a:t>Adapt to local PI and audience</a:t>
            </a:r>
          </a:p>
        </p:txBody>
      </p:sp>
      <p:sp>
        <p:nvSpPr>
          <p:cNvPr id="12" name="">
            <a:extLst xmlns:a="http://schemas.openxmlformats.org/drawingml/2006/main">
              <a:ext uri="{FF2B5EF4-FFF2-40B4-BE49-F238E27FC236}">
                <a16:creationId xmlns:a16="http://schemas.microsoft.com/office/drawing/2014/main" id="{2A5DBEEE-28E1-4D30-914D-17AC93331230}"/>
              </a:ext>
            </a:extLst>
          </p:cNvPr>
          <p:cNvSpPr>
            <a:spLocks xmlns:a="http://schemas.openxmlformats.org/drawingml/2006/main" noGrp="1"/>
          </p:cNvSpPr>
          <p:nvPr/>
        </p:nvSpPr>
        <p:spPr>
          <a:xfrm xmlns:a="http://schemas.openxmlformats.org/drawingml/2006/main">
            <a:off x="685800" y="6038850"/>
            <a:ext cx="2476500" cy="2286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ClinCommand OS</a:t>
            </a:r>
          </a:p>
        </p:txBody>
      </p:sp>
      <p:sp>
        <p:nvSpPr>
          <p:cNvPr id="13" name="">
            <a:extLst xmlns:a="http://schemas.openxmlformats.org/drawingml/2006/main">
              <a:ext uri="{FF2B5EF4-FFF2-40B4-BE49-F238E27FC236}">
                <a16:creationId xmlns:a16="http://schemas.microsoft.com/office/drawing/2014/main" id="{890D5F6C-A4F5-4757-9525-E1D088062901}"/>
              </a:ext>
            </a:extLst>
          </p:cNvPr>
          <p:cNvSpPr>
            <a:spLocks xmlns:a="http://schemas.openxmlformats.org/drawingml/2006/main" noGrp="1"/>
          </p:cNvSpPr>
          <p:nvPr/>
        </p:nvSpPr>
        <p:spPr>
          <a:xfrm xmlns:a="http://schemas.openxmlformats.org/drawingml/2006/main">
            <a:off x="10325100" y="6038850"/>
            <a:ext cx="1143000" cy="228600"/>
          </a:xfrm>
          <a:prstGeom xmlns:a="http://schemas.openxmlformats.org/drawingml/2006/main" prst="rect">
            <a:avLst/>
          </a:prstGeom>
          <a:solidFill xmlns:a="http://schemas.openxmlformats.org/drawingml/2006/main">
            <a:srgbClr val="16324F"/>
          </a:solidFill>
          <a:ln xmlns:a="http://schemas.openxmlformats.org/drawingml/2006/main" w="9525">
            <a:solidFill>
              <a:srgbClr val="16324F"/>
            </a:solidFill>
            <a:prstDash val="solid"/>
          </a:ln>
        </p:spPr>
        <p:txBody>
          <a:bodyPr xmlns:a="http://schemas.openxmlformats.org/drawingml/2006/main" anchor="t"/>
          <a:lstStyle xmlns:a="http://schemas.openxmlformats.org/drawingml/2006/main"/>
          <a:p xmlns:a="http://schemas.openxmlformats.org/drawingml/2006/main">
            <a:pPr algn="r">
              <a:defRPr sz="1200" b="1">
                <a:solidFill>
                  <a:srgbClr val="FFFFFF"/>
                </a:solidFill>
                <a:latin typeface="Aptos"/>
                <a:ea typeface="Aptos"/>
                <a:cs typeface="Aptos"/>
              </a:defRPr>
            </a:pPr>
            <a:r>
              <a:rPr sz="1200" b="1">
                <a:solidFill>
                  <a:srgbClr val="FFFFFF"/>
                </a:solidFill>
                <a:latin typeface="Aptos"/>
                <a:ea typeface="Aptos"/>
                <a:cs typeface="Aptos"/>
              </a:rPr>
              <a:t>thank you</a:t>
            </a:r>
          </a:p>
        </p:txBody>
      </p:sp>
    </p:spTree>
    <p:extLst>
      <p:ext uri="{BB962C8B-B14F-4D97-AF65-F5344CB8AC3E}">
        <p14:creationId xmlns:p14="http://schemas.microsoft.com/office/powerpoint/2010/main" val="2035703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2026-06-06T16:42:59.5470000Z</dcterms:created>
  <dcterms:modified xsi:type="dcterms:W3CDTF">2026-06-06T16:42:59.5470000Z</dcterms:modified>
</coreProperties>
</file>