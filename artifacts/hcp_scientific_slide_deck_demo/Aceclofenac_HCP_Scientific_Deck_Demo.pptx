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33fbf9cac141f3" /><Relationship Type="http://schemas.openxmlformats.org/officeDocument/2006/relationships/extended-properties" Target="/docProps/app.xml" Id="Rff3c64d6e2b94629" /><Relationship Type="http://schemas.openxmlformats.org/officeDocument/2006/relationships/officeDocument" Target="/ppt/presentation.xml" Id="R1a20efc284c543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1573fc4f444bb7"/>
  </p:sldMasterIdLst>
  <p:notesMasterIdLst>
    <p:notesMasterId xmlns:r="http://schemas.openxmlformats.org/officeDocument/2006/relationships" r:id="R3f7ca8b5e1ef41c6"/>
  </p:notesMasterIdLst>
  <p:sldIdLst>
    <p:sldId xmlns:r="http://schemas.openxmlformats.org/officeDocument/2006/relationships" id="256" r:id="R8a17de0ec6d44451"/>
    <p:sldId xmlns:r="http://schemas.openxmlformats.org/officeDocument/2006/relationships" id="257" r:id="Rf00235c2e9de4863"/>
    <p:sldId xmlns:r="http://schemas.openxmlformats.org/officeDocument/2006/relationships" id="258" r:id="R11818a12ecdb4a39"/>
    <p:sldId xmlns:r="http://schemas.openxmlformats.org/officeDocument/2006/relationships" id="259" r:id="R0df960b436c44820"/>
    <p:sldId xmlns:r="http://schemas.openxmlformats.org/officeDocument/2006/relationships" id="260" r:id="R6219ba8173a5446d"/>
    <p:sldId xmlns:r="http://schemas.openxmlformats.org/officeDocument/2006/relationships" id="261" r:id="R658f0ef0d88d4279"/>
    <p:sldId xmlns:r="http://schemas.openxmlformats.org/officeDocument/2006/relationships" id="262" r:id="Re4860ab0a2e6424a"/>
    <p:sldId xmlns:r="http://schemas.openxmlformats.org/officeDocument/2006/relationships" id="263" r:id="Rc1906bf46ec64ceb"/>
    <p:sldId xmlns:r="http://schemas.openxmlformats.org/officeDocument/2006/relationships" id="264" r:id="R74ff1c199c674896"/>
    <p:sldId xmlns:r="http://schemas.openxmlformats.org/officeDocument/2006/relationships" id="265" r:id="R87cff5b2776f4a58"/>
    <p:sldId xmlns:r="http://schemas.openxmlformats.org/officeDocument/2006/relationships" id="266" r:id="R95a02d5c0daf43e7"/>
    <p:sldId xmlns:r="http://schemas.openxmlformats.org/officeDocument/2006/relationships" id="267" r:id="R2cdddae2ac624bad"/>
    <p:sldId xmlns:r="http://schemas.openxmlformats.org/officeDocument/2006/relationships" id="268" r:id="Re68ce6759b2845dd"/>
    <p:sldId xmlns:r="http://schemas.openxmlformats.org/officeDocument/2006/relationships" id="269" r:id="R134db7992a1741e5"/>
    <p:sldId xmlns:r="http://schemas.openxmlformats.org/officeDocument/2006/relationships" id="270" r:id="Rb9c0ff812c13499a"/>
    <p:sldId xmlns:r="http://schemas.openxmlformats.org/officeDocument/2006/relationships" id="271" r:id="R709706a45a9b4d46"/>
    <p:sldId xmlns:r="http://schemas.openxmlformats.org/officeDocument/2006/relationships" id="272" r:id="R84f0272035794050"/>
    <p:sldId xmlns:r="http://schemas.openxmlformats.org/officeDocument/2006/relationships" id="273" r:id="Ref3a075fc5184928"/>
    <p:sldId xmlns:r="http://schemas.openxmlformats.org/officeDocument/2006/relationships" id="274" r:id="Rdc6be367b8c54822"/>
    <p:sldId xmlns:r="http://schemas.openxmlformats.org/officeDocument/2006/relationships" id="275" r:id="R385f6d0cb0af4353"/>
    <p:sldId xmlns:r="http://schemas.openxmlformats.org/officeDocument/2006/relationships" id="276" r:id="Rde7c759e238a427d"/>
    <p:sldId xmlns:r="http://schemas.openxmlformats.org/officeDocument/2006/relationships" id="277" r:id="R41790fdb901141b0"/>
    <p:sldId xmlns:r="http://schemas.openxmlformats.org/officeDocument/2006/relationships" id="278" r:id="R88fe32a308244d99"/>
    <p:sldId xmlns:r="http://schemas.openxmlformats.org/officeDocument/2006/relationships" id="279" r:id="R84a0442337bb43e8"/>
    <p:sldId xmlns:r="http://schemas.openxmlformats.org/officeDocument/2006/relationships" id="280" r:id="Rbe1a16178dc144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e767f8b96f4977" /><Relationship Type="http://schemas.openxmlformats.org/officeDocument/2006/relationships/slideMaster" Target="/ppt/slideMasters/slideMaster1.xml" Id="R271573fc4f444bb7" /><Relationship Type="http://schemas.openxmlformats.org/officeDocument/2006/relationships/notesMaster" Target="/ppt/notesMasters/notesMaster1.xml" Id="R3f7ca8b5e1ef41c6" /><Relationship Type="http://schemas.openxmlformats.org/officeDocument/2006/relationships/presProps" Target="/ppt/presProps.xml" Id="R04d775ef84674ca3" /><Relationship Type="http://schemas.openxmlformats.org/officeDocument/2006/relationships/viewProps" Target="/ppt/viewProps.xml" Id="Rdc06b6c9e08e4606" /><Relationship Type="http://schemas.openxmlformats.org/officeDocument/2006/relationships/tableStyles" Target="/ppt/tableStyles.xml" Id="Ra99a22f3f4e54525" /><Relationship Type="http://schemas.openxmlformats.org/officeDocument/2006/relationships/slide" Target="/ppt/slides/slide1.xml" Id="R8a17de0ec6d44451" /><Relationship Type="http://schemas.openxmlformats.org/officeDocument/2006/relationships/slide" Target="/ppt/slides/slide2.xml" Id="Rf00235c2e9de4863" /><Relationship Type="http://schemas.openxmlformats.org/officeDocument/2006/relationships/slide" Target="/ppt/slides/slide3.xml" Id="R11818a12ecdb4a39" /><Relationship Type="http://schemas.openxmlformats.org/officeDocument/2006/relationships/slide" Target="/ppt/slides/slide4.xml" Id="R0df960b436c44820" /><Relationship Type="http://schemas.openxmlformats.org/officeDocument/2006/relationships/slide" Target="/ppt/slides/slide5.xml" Id="R6219ba8173a5446d" /><Relationship Type="http://schemas.openxmlformats.org/officeDocument/2006/relationships/slide" Target="/ppt/slides/slide6.xml" Id="R658f0ef0d88d4279" /><Relationship Type="http://schemas.openxmlformats.org/officeDocument/2006/relationships/slide" Target="/ppt/slides/slide7.xml" Id="Re4860ab0a2e6424a" /><Relationship Type="http://schemas.openxmlformats.org/officeDocument/2006/relationships/slide" Target="/ppt/slides/slide8.xml" Id="Rc1906bf46ec64ceb" /><Relationship Type="http://schemas.openxmlformats.org/officeDocument/2006/relationships/slide" Target="/ppt/slides/slide9.xml" Id="R74ff1c199c674896" /><Relationship Type="http://schemas.openxmlformats.org/officeDocument/2006/relationships/slide" Target="/ppt/slides/slide10.xml" Id="R87cff5b2776f4a58" /><Relationship Type="http://schemas.openxmlformats.org/officeDocument/2006/relationships/slide" Target="/ppt/slides/slide11.xml" Id="R95a02d5c0daf43e7" /><Relationship Type="http://schemas.openxmlformats.org/officeDocument/2006/relationships/slide" Target="/ppt/slides/slide12.xml" Id="R2cdddae2ac624bad" /><Relationship Type="http://schemas.openxmlformats.org/officeDocument/2006/relationships/slide" Target="/ppt/slides/slide13.xml" Id="Re68ce6759b2845dd" /><Relationship Type="http://schemas.openxmlformats.org/officeDocument/2006/relationships/slide" Target="/ppt/slides/slide14.xml" Id="R134db7992a1741e5" /><Relationship Type="http://schemas.openxmlformats.org/officeDocument/2006/relationships/slide" Target="/ppt/slides/slide15.xml" Id="Rb9c0ff812c13499a" /><Relationship Type="http://schemas.openxmlformats.org/officeDocument/2006/relationships/slide" Target="/ppt/slides/slide16.xml" Id="R709706a45a9b4d46" /><Relationship Type="http://schemas.openxmlformats.org/officeDocument/2006/relationships/slide" Target="/ppt/slides/slide17.xml" Id="R84f0272035794050" /><Relationship Type="http://schemas.openxmlformats.org/officeDocument/2006/relationships/slide" Target="/ppt/slides/slide18.xml" Id="Ref3a075fc5184928" /><Relationship Type="http://schemas.openxmlformats.org/officeDocument/2006/relationships/slide" Target="/ppt/slides/slide19.xml" Id="Rdc6be367b8c54822" /><Relationship Type="http://schemas.openxmlformats.org/officeDocument/2006/relationships/slide" Target="/ppt/slides/slide20.xml" Id="R385f6d0cb0af4353" /><Relationship Type="http://schemas.openxmlformats.org/officeDocument/2006/relationships/slide" Target="/ppt/slides/slide21.xml" Id="Rde7c759e238a427d" /><Relationship Type="http://schemas.openxmlformats.org/officeDocument/2006/relationships/slide" Target="/ppt/slides/slide22.xml" Id="R41790fdb901141b0" /><Relationship Type="http://schemas.openxmlformats.org/officeDocument/2006/relationships/slide" Target="/ppt/slides/slide23.xml" Id="R88fe32a308244d99" /><Relationship Type="http://schemas.openxmlformats.org/officeDocument/2006/relationships/slide" Target="/ppt/slides/slide24.xml" Id="R84a0442337bb43e8" /><Relationship Type="http://schemas.openxmlformats.org/officeDocument/2006/relationships/slide" Target="/ppt/slides/slide25.xml" Id="Rbe1a16178dc144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8e23134f24a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de74523c794d39" /><Relationship Type="http://schemas.openxmlformats.org/officeDocument/2006/relationships/notesMaster" Target="/ppt/notesMasters/notesMaster1.xml" Id="Rbbcc04fbe108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62d6345e5743b3" /><Relationship Type="http://schemas.openxmlformats.org/officeDocument/2006/relationships/notesMaster" Target="/ppt/notesMasters/notesMaster1.xml" Id="Rbcefdce08039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1b488d03e3477e" /><Relationship Type="http://schemas.openxmlformats.org/officeDocument/2006/relationships/notesMaster" Target="/ppt/notesMasters/notesMaster1.xml" Id="R26986805a1454a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7fbb34977a46f2" /><Relationship Type="http://schemas.openxmlformats.org/officeDocument/2006/relationships/notesMaster" Target="/ppt/notesMasters/notesMaster1.xml" Id="R120e4bb3b43f40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363480c9304b6f" /><Relationship Type="http://schemas.openxmlformats.org/officeDocument/2006/relationships/notesMaster" Target="/ppt/notesMasters/notesMaster1.xml" Id="R2b3bd12221654f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e0b82f0e44b5d" /><Relationship Type="http://schemas.openxmlformats.org/officeDocument/2006/relationships/notesMaster" Target="/ppt/notesMasters/notesMaster1.xml" Id="R76b5b1026d6742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c627e16b6b4c14" /><Relationship Type="http://schemas.openxmlformats.org/officeDocument/2006/relationships/notesMaster" Target="/ppt/notesMasters/notesMaster1.xml" Id="R59bfdfda644e45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fefb837eab481f" /><Relationship Type="http://schemas.openxmlformats.org/officeDocument/2006/relationships/notesMaster" Target="/ppt/notesMasters/notesMaster1.xml" Id="Rfe517615bc464e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81b043c6e44cce" /><Relationship Type="http://schemas.openxmlformats.org/officeDocument/2006/relationships/notesMaster" Target="/ppt/notesMasters/notesMaster1.xml" Id="Rc57caf374f554a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cb9470299c48a2" /><Relationship Type="http://schemas.openxmlformats.org/officeDocument/2006/relationships/notesMaster" Target="/ppt/notesMasters/notesMaster1.xml" Id="R287fdaddfb0d44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8dd3632f524481" /><Relationship Type="http://schemas.openxmlformats.org/officeDocument/2006/relationships/notesMaster" Target="/ppt/notesMasters/notesMaster1.xml" Id="R3dd65b1ff3a64f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f2b24b9e704528" /><Relationship Type="http://schemas.openxmlformats.org/officeDocument/2006/relationships/notesMaster" Target="/ppt/notesMasters/notesMaster1.xml" Id="R2ad5f7fec3d248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2c7af5202e4a11" /><Relationship Type="http://schemas.openxmlformats.org/officeDocument/2006/relationships/notesMaster" Target="/ppt/notesMasters/notesMaster1.xml" Id="Re16b1f65cc8444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5dde4693e641b5" /><Relationship Type="http://schemas.openxmlformats.org/officeDocument/2006/relationships/notesMaster" Target="/ppt/notesMasters/notesMaster1.xml" Id="R4a48e67a55d14b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c9b0c33371455a" /><Relationship Type="http://schemas.openxmlformats.org/officeDocument/2006/relationships/notesMaster" Target="/ppt/notesMasters/notesMaster1.xml" Id="R1d8d9b43170f4d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7cfbd6c8684784" /><Relationship Type="http://schemas.openxmlformats.org/officeDocument/2006/relationships/notesMaster" Target="/ppt/notesMasters/notesMaster1.xml" Id="R9e0083a0e6274c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32d6b554e042cb" /><Relationship Type="http://schemas.openxmlformats.org/officeDocument/2006/relationships/notesMaster" Target="/ppt/notesMasters/notesMaster1.xml" Id="R5a1d45bcbdce4e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00f34d790a432a" /><Relationship Type="http://schemas.openxmlformats.org/officeDocument/2006/relationships/notesMaster" Target="/ppt/notesMasters/notesMaster1.xml" Id="Rb282d323098540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a6c08d8db84ac2" /><Relationship Type="http://schemas.openxmlformats.org/officeDocument/2006/relationships/notesMaster" Target="/ppt/notesMasters/notesMaster1.xml" Id="Rc382ceec9fc342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d53123265a4d28" /><Relationship Type="http://schemas.openxmlformats.org/officeDocument/2006/relationships/notesMaster" Target="/ppt/notesMasters/notesMaster1.xml" Id="Rbaa3d1c25db84e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8cf2f76c454a1e" /><Relationship Type="http://schemas.openxmlformats.org/officeDocument/2006/relationships/notesMaster" Target="/ppt/notesMasters/notesMaster1.xml" Id="R6052e7d9006d44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9386043c5654289" /><Relationship Type="http://schemas.openxmlformats.org/officeDocument/2006/relationships/notesMaster" Target="/ppt/notesMasters/notesMaster1.xml" Id="R7df7ed95248449b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40f4e169604839" /><Relationship Type="http://schemas.openxmlformats.org/officeDocument/2006/relationships/notesMaster" Target="/ppt/notesMasters/notesMaster1.xml" Id="R4341d1e5700945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816d3933ea435a" /><Relationship Type="http://schemas.openxmlformats.org/officeDocument/2006/relationships/notesMaster" Target="/ppt/notesMasters/notesMaster1.xml" Id="Rdfbd6da398d24c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d40cd4e2a74e64" /><Relationship Type="http://schemas.openxmlformats.org/officeDocument/2006/relationships/notesMaster" Target="/ppt/notesMasters/notesMaster1.xml" Id="R840e26fc1d7a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stating this is a scientific HCP deck demo, not approved promotional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slide count, duration, notes requirement, audience, and deck purpose should be captured before drafting.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aceclofenac in the context of symptomatic relief. State that the presentation must keep class risk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prostaglandin pathway in simple terms and avoid implying disease modification.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aceclofenac as an oral NSAID used for symptomatic relief where the local label allows. Emphasize that dose wording must come from the approved 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PK slide practical. The purpose is to support dosing convenience and safe use, not to overstate any one parameter.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the evidence hierarchy. Distinguish review evidence from direct trials and from PK/bioequivalence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osteoarthritis efficacy as pain and function improvement, not disease modification.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acute pain slide conservative. Avoid implying all NSAIDs are interchangeable in every postoperative setting.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how to judge comparative NSAID data fairly and avoid overclaiming across-trial differences.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the tone here: safety is the equal partner to efficacy. Avoid absolute safety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GI risk into concrete clinical actions: screen, protect, monitor, and escalate.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renal, cardiovascular, and hepatic precautions in plain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Help the audience think beyond the single drug. Encourage medication review, renal caution, and bleeding-risk screening.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dose shown is a common market pattern, not a universal instruction.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 that the approved label must govern special populations.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best patient selection improves symptoms without avoidable class harm.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bridges evidence to practice. Keep the language practical: when it fits, when it doesn't, and why non-pharmacologic measures still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medication to the broader care plan: movement, support, weight, and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deck is intended to support what the clinician says to the patient, especially around benefit expectations and warning signs.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short, controlled answers and bring the audience back to source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deliberate control slide. Replace promotional language with evidence-based wording.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audience that the deck is grounded in reviews, meta-analysis, comparative trials, PK studies, and manufacturer 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the audience that the deck will be revised when the label or the evidence base changes materially.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summarizing the central message: aceclofenac is a symptom-focused NSAID option, but it must always be discussed with class risk and local label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5a9ebfafb46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36d92f174f480e" /><Relationship Type="http://schemas.openxmlformats.org/officeDocument/2006/relationships/slideLayout" Target="/ppt/slideLayouts/slideLayout1.xml" Id="R464ca24c6f354e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ca24c6f354e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4f77198e54e73" /><Relationship Type="http://schemas.openxmlformats.org/officeDocument/2006/relationships/notesSlide" Target="/ppt/notesSlides/notesSlide1.xml" Id="R299511c0d4d9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b15903c9f4e56" /><Relationship Type="http://schemas.openxmlformats.org/officeDocument/2006/relationships/notesSlide" Target="/ppt/notesSlides/notesSlide2.xml" Id="R1a911dda604c46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398c6e1e64e73" /><Relationship Type="http://schemas.openxmlformats.org/officeDocument/2006/relationships/notesSlide" Target="/ppt/notesSlides/notesSlide3.xml" Id="Ra6301fda0e854e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d3926bdae443a" /><Relationship Type="http://schemas.openxmlformats.org/officeDocument/2006/relationships/notesSlide" Target="/ppt/notesSlides/notesSlide4.xml" Id="R0b4c551fcbaf4e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961018f0244bb" /><Relationship Type="http://schemas.openxmlformats.org/officeDocument/2006/relationships/notesSlide" Target="/ppt/notesSlides/notesSlide5.xml" Id="R1e96e1bc0140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b1510bd734183" /><Relationship Type="http://schemas.openxmlformats.org/officeDocument/2006/relationships/notesSlide" Target="/ppt/notesSlides/notesSlide6.xml" Id="R6232c4137e044e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775410a3b4529" /><Relationship Type="http://schemas.openxmlformats.org/officeDocument/2006/relationships/notesSlide" Target="/ppt/notesSlides/notesSlide7.xml" Id="Rf530952f729e48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ae8ee3e2d4de8" /><Relationship Type="http://schemas.openxmlformats.org/officeDocument/2006/relationships/notesSlide" Target="/ppt/notesSlides/notesSlide8.xml" Id="R969b19d9caab44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fb4b313e84430" /><Relationship Type="http://schemas.openxmlformats.org/officeDocument/2006/relationships/notesSlide" Target="/ppt/notesSlides/notesSlide9.xml" Id="R7d4048d0a7a944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3e66aa1b643b2" /><Relationship Type="http://schemas.openxmlformats.org/officeDocument/2006/relationships/notesSlide" Target="/ppt/notesSlides/notesSlide10.xml" Id="Ra184b115144f40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b3510396347ea" /><Relationship Type="http://schemas.openxmlformats.org/officeDocument/2006/relationships/notesSlide" Target="/ppt/notesSlides/notesSlide11.xml" Id="R72b92ea0ad624c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38b44e98548d0" /><Relationship Type="http://schemas.openxmlformats.org/officeDocument/2006/relationships/notesSlide" Target="/ppt/notesSlides/notesSlide12.xml" Id="R1a85f6fa75ae40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613ed1cbd4216" /><Relationship Type="http://schemas.openxmlformats.org/officeDocument/2006/relationships/notesSlide" Target="/ppt/notesSlides/notesSlide13.xml" Id="Re038d09cd0b049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a9e285e274334" /><Relationship Type="http://schemas.openxmlformats.org/officeDocument/2006/relationships/notesSlide" Target="/ppt/notesSlides/notesSlide14.xml" Id="R772da332063841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0bf2765504948" /><Relationship Type="http://schemas.openxmlformats.org/officeDocument/2006/relationships/notesSlide" Target="/ppt/notesSlides/notesSlide15.xml" Id="R496945ed714846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b1517326e4b85" /><Relationship Type="http://schemas.openxmlformats.org/officeDocument/2006/relationships/notesSlide" Target="/ppt/notesSlides/notesSlide16.xml" Id="Ra33b2a4806c1419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1fc9b7af141e3" /><Relationship Type="http://schemas.openxmlformats.org/officeDocument/2006/relationships/notesSlide" Target="/ppt/notesSlides/notesSlide17.xml" Id="R89f0aab2613543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194c4b15e4c7f" /><Relationship Type="http://schemas.openxmlformats.org/officeDocument/2006/relationships/notesSlide" Target="/ppt/notesSlides/notesSlide18.xml" Id="Rf5087a8317bf46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eb73313444a25" /><Relationship Type="http://schemas.openxmlformats.org/officeDocument/2006/relationships/notesSlide" Target="/ppt/notesSlides/notesSlide19.xml" Id="R286faa2885a74ea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1eb53e35340c9" /><Relationship Type="http://schemas.openxmlformats.org/officeDocument/2006/relationships/notesSlide" Target="/ppt/notesSlides/notesSlide20.xml" Id="R41734219a6e748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7fbff9fef417c" /><Relationship Type="http://schemas.openxmlformats.org/officeDocument/2006/relationships/notesSlide" Target="/ppt/notesSlides/notesSlide21.xml" Id="R126e85fe1427405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33ef6968549a0" /><Relationship Type="http://schemas.openxmlformats.org/officeDocument/2006/relationships/notesSlide" Target="/ppt/notesSlides/notesSlide22.xml" Id="R7a5f7c6d91bc428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03d2db02b4194" /><Relationship Type="http://schemas.openxmlformats.org/officeDocument/2006/relationships/notesSlide" Target="/ppt/notesSlides/notesSlide23.xml" Id="R515e66010c7143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52fb152914985" /><Relationship Type="http://schemas.openxmlformats.org/officeDocument/2006/relationships/notesSlide" Target="/ppt/notesSlides/notesSlide24.xml" Id="Rdc87de8b65e348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1aedb0f45449d" /><Relationship Type="http://schemas.openxmlformats.org/officeDocument/2006/relationships/notesSlide" Target="/ppt/notesSlides/notesSlide25.xml" Id="R0e84e50764864b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B5C7D4-090D-466A-9E32-A198B0B9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58BAE-6889-43E8-9DA9-24EF34C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8"/>
          </a:solidFill>
          <a:ln xmlns:a="http://schemas.openxmlformats.org/drawingml/2006/main" w="0">
            <a:solidFill>
              <a:srgbClr val="0E25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09A6F-1846-48B5-BDCC-652ADD8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Aceclofenac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70E0C-3642-4713-9D35-390B4659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6E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6EE"/>
                </a:solidFill>
                <a:latin typeface="Aptos"/>
                <a:ea typeface="Aptos"/>
                <a:cs typeface="Aptos"/>
              </a:rPr>
              <a:t>HCP scientific slide deck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2D6BD-2061-42F3-A02D-7B39B19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8D4DC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8D4DC"/>
                </a:solidFill>
                <a:latin typeface="Aptos"/>
                <a:ea typeface="Aptos"/>
                <a:cs typeface="Aptos"/>
              </a:rPr>
              <a:t>For demonstration purposes only | verify the local approved PI before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181A5-CE04-4272-944C-DE0C734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3D56"/>
          </a:solidFill>
          <a:ln xmlns:a="http://schemas.openxmlformats.org/drawingml/2006/main" w="9525">
            <a:solidFill>
              <a:srgbClr val="2B5A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99CB7-36F5-4095-988F-4C871935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6"/>
          </a:solidFill>
          <a:ln xmlns:a="http://schemas.openxmlformats.org/drawingml/2006/main" w="9525">
            <a:solidFill>
              <a:srgbClr val="173D5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Scientific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099F2-1E06-4B4A-9F45-A9ADE0C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6"/>
          </a:solidFill>
          <a:ln xmlns:a="http://schemas.openxmlformats.org/drawingml/2006/main" w="9525">
            <a:solidFill>
              <a:srgbClr val="173D5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Balanced NSAID messaging focused on symptom relief and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A4399-C1ED-4280-8E73-50BB37EC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3247"/>
          </a:solidFill>
          <a:ln xmlns:a="http://schemas.openxmlformats.org/drawingml/2006/main" w="9525">
            <a:solidFill>
              <a:srgbClr val="2B5A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CE772-39B9-4D7B-93C0-0DCEE5B4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247"/>
          </a:solidFill>
          <a:ln xmlns:a="http://schemas.openxmlformats.org/drawingml/2006/main" w="9525">
            <a:solidFill>
              <a:srgbClr val="11324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spine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A93DE-A94F-4EFD-B0DB-29BDFDAE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247"/>
          </a:solidFill>
          <a:ln xmlns:a="http://schemas.openxmlformats.org/drawingml/2006/main" w="9525">
            <a:solidFill>
              <a:srgbClr val="11324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OA efficacy, acute pain studies, PK / BE, and class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00C5E-F3A3-4B0F-9A59-CF7AC04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95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F3146"/>
          </a:solidFill>
          <a:ln xmlns:a="http://schemas.openxmlformats.org/drawingml/2006/main" w="9525">
            <a:solidFill>
              <a:srgbClr val="3C5E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F986A-9559-4502-8DD9-68FE5545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146"/>
          </a:solidFill>
          <a:ln xmlns:a="http://schemas.openxmlformats.org/drawingml/2006/main" w="9525">
            <a:solidFill>
              <a:srgbClr val="0F31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623C2-B45C-4ACB-9F50-1DB24933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146"/>
          </a:solidFill>
          <a:ln xmlns:a="http://schemas.openxmlformats.org/drawingml/2006/main" w="9525">
            <a:solidFill>
              <a:srgbClr val="0F31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Demonstration deck only; final claims must follow local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5FD6D-AEB0-4B7A-ACB3-2331A55F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71600"/>
            <a:ext cx="3886200" cy="4267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73A53"/>
          </a:solidFill>
          <a:ln xmlns:a="http://schemas.openxmlformats.org/drawingml/2006/main" w="9525">
            <a:solidFill>
              <a:srgbClr val="2B5A7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This deck is designed as an HCP scientific narrative, not as a marketing piece.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It should help the clinician think about where aceclofenac fits, what evidence supports that fit, and which class risks need to stay visible at the point of prescribing.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BB119-9BB3-4DC3-BED8-AEDB7BB0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ClinCommand 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F6A98-5BB1-41F1-8809-CFB388E7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C8D4DC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C8D4DC"/>
                </a:solidFill>
                <a:latin typeface="Aptos"/>
                <a:ea typeface="Aptos"/>
                <a:cs typeface="Aptos"/>
              </a:rPr>
              <a:t>Scientific communication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88053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80FF2-380A-46C9-9D02-03664AF8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5986E-F164-499F-85C4-1ED42891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905B5-2301-4789-9322-84CDE46D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Briefing inputs captured for the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041C3-6F23-46F7-BB98-4A0721BF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The workflow should always ask these questions before it starts drafting a live HCP presentation.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7B30A-65C6-476C-B9D0-3DD84DD8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F7D4C-05B5-43A0-8C02-B8D74101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ClinCommand OS HCP deck workflow; slide request intake standard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F3A46-B104-454F-9925-34D14E3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2/25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D5227-5D7D-4D92-8DE4-D2F03C28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70228-B945-4887-B343-4B5FB9BA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How many slides?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D1991-8816-4BC4-B949-791D9B03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20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demo is 25 slides. In production, length should match the audience, depth, and speaker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08368-B1CC-434E-9C04-8D13326D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66850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FAF5D-F5CC-464E-A31B-F019DCCF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How long is the talk?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0034C-21B8-4BC2-8452-C24F9D1D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220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Slide density depends on whether the talk is a short briefing, a standard HCP session, or a deeper scientific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D4E88-3B3F-4854-840C-BAA04A4F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66850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2E4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D71F-C933-477F-9466-44EC72EE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4"/>
          </a:solidFill>
          <a:ln xmlns:a="http://schemas.openxmlformats.org/drawingml/2006/main" w="9525">
            <a:solidFill>
              <a:srgbClr val="F7F2E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Do you need notes?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52F83-B5B6-47F7-ADE9-362D2227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66900"/>
            <a:ext cx="2209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4"/>
          </a:solidFill>
          <a:ln xmlns:a="http://schemas.openxmlformats.org/drawingml/2006/main" w="9525">
            <a:solidFill>
              <a:srgbClr val="F7F2E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Speaker notes should be confirmed up front because they affect how much text can stay visible on screen.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C987F-8C1E-4E3E-8426-0D799A18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66850"/>
            <a:ext cx="2971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AEAE9-E24E-453F-B2A7-1B173C7F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811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94A5D-ABD6-4383-A791-DC9EE30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66900"/>
            <a:ext cx="2705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HCP scientific deck for demonstration.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03309-A2EE-40AE-9FEC-87CB24B0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143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4DA75-C67E-4E42-B3DC-19B288E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Deck assumptions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0D79A-16DB-40B1-BF7A-9CDB6795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876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25 slides | scientific HCP audience | demonstration purpose | balanced evidence framing | speaker notes included | local PI verification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A7D27-D1F0-4A69-B515-4CF3B128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56007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E249E-3E66-4E91-8644-B64F5D54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What the next request should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C50CF-299A-4412-AB44-41508E88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33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1) Number of slides</a:t>
            </a:r>
          </a:p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2) Talk duration</a:t>
            </a:r>
          </a:p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3) Speaker notes required or not</a:t>
            </a:r>
          </a:p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4) Audience type</a:t>
            </a:r>
          </a:p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5) Scientific, CME, or training intent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56F02-FE60-4D8F-9FB8-F8CFDE8D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The intake step prevents the deck from drifting into generic content.</a:t>
            </a:r>
          </a:p>
        </p:txBody>
      </p:sp>
    </p:spTree>
    <p:extLst>
      <p:ext uri="{BB962C8B-B14F-4D97-AF65-F5344CB8AC3E}">
        <p14:creationId xmlns:p14="http://schemas.microsoft.com/office/powerpoint/2010/main" val="463569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215BE-B077-4DC8-9A8B-3DF3A932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42A3D-7346-42B0-B98A-136CD83A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8EFE2-BB26-49E5-8E73-B52FC03F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Clinical context: why aceclofenac still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6D8E2-3733-4526-B5F2-76F7488A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Musculoskeletal pain is common, function-limiting, and often managed with NSAIDs when local label use is appropriate.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F082D-3B92-4DB7-BCAE-DF69E7D5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E758D-2919-417C-915C-9D486218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PMC5335881; PMC8643213; PubMed 33238721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37BE4-43A9-40AD-8D91-E195C65B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3/25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28638-D398-4BE0-85A8-18C98081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C9972-6DD4-4D10-83F7-9910B0F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82C72-A17A-41D7-8F96-2E95CA6B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162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Persistent pain drives visits, self-medication, and loss of function. HCPs need symptom control without hiding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7EA95-D0FD-4B31-A236-977F0998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A810C-AD02-4D16-80B8-6D8CB57C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811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Inflammation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54909-E133-4EEE-8FBC-85052503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3162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Inflammatory mediators contribute to swelling, stiffness, and tenderness in musculoskeletal disorders.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E0160-2F31-461F-9C53-AA28734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3390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7EACD-A15B-4367-B276-4760E738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811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FE467-4229-4A06-BAD1-C31F142D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66900"/>
            <a:ext cx="3124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real goal is improved mobility, daily activity, and quality of life, not just a lower symptom score.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8C76A-F477-41BD-B7AD-9594A94A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04394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E8E08-6861-4CA6-8926-DF7243B6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017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Balanced HCP message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AFE63-B9DC-4AE2-9AB8-331747F5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1017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Aceclofenac is best discussed as a symptom-control option within the NSAID class, with the usual cautions on gastrointestinal, renal, cardiovascular, and hepatic risk.</a:t>
            </a:r>
          </a:p>
        </p:txBody>
      </p:sp>
    </p:spTree>
    <p:extLst>
      <p:ext uri="{BB962C8B-B14F-4D97-AF65-F5344CB8AC3E}">
        <p14:creationId xmlns:p14="http://schemas.microsoft.com/office/powerpoint/2010/main" val="1205201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352B92-8173-4FCF-B1C2-B442B96F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E2D10-B918-419D-ADD6-4B1F453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10EF-2157-4B1C-9011-FD7E5BA3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From inflammation to pain: where NSAIDs 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46EFE-BE0D-4180-BE91-E4ADEBE1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simple pathway helps HCPs remember why NSAIDs can help symptoms, but not disease progression.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A7EB7-A5FE-4528-B2BA-FC56707E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86835-60D6-4CCC-96AF-46B833A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8643213; PubMed 5335881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1859C-9412-43B2-B39B-3CF5994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4/25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E38BB-86E5-4238-A35E-B60BC173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EFEDF-AAB0-403C-B5E0-1FC9B00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Stimulus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42B9C-7E43-410B-87D7-D504E6A5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Tissue injury / inflammation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B1B58-7F33-461D-A01F-44ECED1D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9BFF4-D15E-4496-8189-F0D055D3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24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Mediator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EEE5C-0B30-4F38-B66B-BD8E28B1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Prostaglandins 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BA290-68A1-42D8-A43C-EB442B6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09750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07B91-EDC8-430A-BCE7-A5283DBF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90877-5760-430E-B0FA-B93A5BFF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Pain and swelling increase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7106B-BEDF-47AB-9752-81777428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0A7DC-62F0-4BF2-9222-03097AE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FB79B-2F73-4B32-B67F-209C3387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NSAID reduces prostaglandin synthesis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2B5B5-4048-4BDE-B687-A6D79FA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09750"/>
            <a:ext cx="1047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CE20E-7D57-4B25-B8D8-D3E29D22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9240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95DF5-A231-4B31-9279-F7B17B5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2098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Symptom relief</a:t>
            </a:r>
          </a:p>
        </p:txBody>
      </p:sp>
      <p:cxnSp>
        <p:nvCxnSpPr>
          <p:cNvPr id="2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71750" y="22193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7A7B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972050" y="22193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7A7B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72350" y="22193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7A7B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772650" y="22193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7A7B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26A4A-3229-46FE-AA1A-200E582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04394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5E590-79B6-4C17-8D99-D2913C62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1017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Clinical meaning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045BF7-8411-4ABD-AB72-0FC27F8E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10172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deck should show where aceclofenac fits within symptom management and where non-pharmacologic measures or alternative therapies may be more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1219150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084590-DE48-44D1-89A2-0B16CCB2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6FD0B-0DF8-4422-AA4C-5772DD5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4D050-E7C1-49C5-AB62-489FDF69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Aceclofenac at a glance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50251-C123-4D73-BB45-B8729C5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concise product summary helps the HCP orient the rest of the deck.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A9F12-39F6-47D9-A395-4C436B2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0A451-A4FD-4506-B357-6B8065C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PMC8643213; Torrent PI; Ozone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07ECD-ECE2-4A5F-8550-2DF727F8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5/25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63817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2160"/>
                <a:gridCol w="4339590"/>
              </a:tblGrid>
              <a:tr h="428625">
                <a:tc>
                  <a:txBody>
                    <a:bodyPr/>
                    <a:lstStyle/>
                    <a:p>
                      <a:r>
                        <a:rPr sz="76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Field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6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Summary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Oral NSAID (aceclofenac)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Typical role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Symptomatic treatment of inflammatory pain and osteoarthritis, subject to local label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Common adult pattern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Many markets use 100 mg twice daily; verify the local approved PI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Key caution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GI, renal, cardiovascular, and hepatic risks remain part of the class conversation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Deck purpose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Demonstration of balanced HCP scientific communication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E41DD-44E8-493D-A936-48ACDB8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3962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EEE5D-691C-47D6-AB9D-A6DE67AA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81150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How to present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A5646-ACF1-4E60-8FBE-18D517B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669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State the role, then immediately state the boundaries: verify the local PI, show the evidence, and keep risk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DE025-7F74-44F7-9687-63033BFE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3962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D34B6-63A8-4E4E-BC4B-DEB79CF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52750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What not to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540FB-A53C-47D0-944F-AA23A616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385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Do not turn a class NSAID into a universal solution. Avoid unsupported superiority claims or absolute safety language.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CF320-50B7-4C41-8452-E1DCDD87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Aceclofenac labeling varies by market; this deck uses demonstration wording only.</a:t>
            </a:r>
          </a:p>
        </p:txBody>
      </p:sp>
    </p:spTree>
    <p:extLst>
      <p:ext uri="{BB962C8B-B14F-4D97-AF65-F5344CB8AC3E}">
        <p14:creationId xmlns:p14="http://schemas.microsoft.com/office/powerpoint/2010/main" val="264417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B832F-5A3D-41D5-8AF8-1AD06DA0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DECC0-A6DE-4CD0-81A1-A79476A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B2083-2627-47FF-80F1-35F9BF96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Pharmacokinetic essentials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84DD8-12E0-4DB0-9C6D-D6FB836E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practical PK slide helps HCPs understand dose, frequency, and what to watch in special situations.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3393A-5092-4467-9D93-7E1E4580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8F113-E1C0-43FE-9555-676E7B9C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32898192; PubMed 17090444; PubMed 18498912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E499E-C682-4F17-B268-6FC57318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6/25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67246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48409"/>
                <a:gridCol w="4976241"/>
              </a:tblGrid>
              <a:tr h="4635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PK domain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Practical HCP meaning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t>Absorption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Oral exposure supports routine outpatient use; exact timing depends on formulation and label.</a:t>
                      </a:r>
                    </a:p>
                  </a:txBody>
                  <a:tcPr marL="91440" marR="91440" marT="45720" marB="45720"/>
                </a:tc>
              </a:tr>
              <a:tr h="463550">
                <a:tc>
                  <a:txBody>
                    <a:bodyPr/>
                    <a:lstStyle/>
                    <a:p>
                      <a:r>
                        <a:t>Distribution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Class distribution considerations apply; review the PI for any formulation-specific notes.</a:t>
                      </a:r>
                    </a:p>
                  </a:txBody>
                  <a:tcPr marL="91440" marR="91440" marT="45720" marB="45720"/>
                </a:tc>
              </a:tr>
              <a:tr h="463550">
                <a:tc>
                  <a:txBody>
                    <a:bodyPr/>
                    <a:lstStyle/>
                    <a:p>
                      <a:r>
                        <a:t>Metabolism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Published studies describe PK behavior relevant to formulation and bioequivalence work.</a:t>
                      </a:r>
                    </a:p>
                  </a:txBody>
                  <a:tcPr marL="91440" marR="91440" marT="45720" marB="45720"/>
                </a:tc>
              </a:tr>
              <a:tr h="463550">
                <a:tc>
                  <a:txBody>
                    <a:bodyPr/>
                    <a:lstStyle/>
                    <a:p>
                      <a:r>
                        <a:t>Excretion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Follow the approved label for special renal or hepatic precautions.</a:t>
                      </a:r>
                    </a:p>
                  </a:txBody>
                  <a:tcPr marL="91440" marR="91440" marT="45720" marB="45720"/>
                </a:tc>
              </a:tr>
              <a:tr h="463550">
                <a:tc>
                  <a:txBody>
                    <a:bodyPr/>
                    <a:lstStyle/>
                    <a:p>
                      <a:r>
                        <a:t>Clinical use note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the local PI for exact timing, food instructions, and adjustment rules.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37D3D-AEEB-4A5B-BF26-A9DA341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85900"/>
            <a:ext cx="3238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41513-8200-4795-92C3-29D6C9DD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Why PK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4BEF7-EA75-4065-8825-94931CAE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2971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HCPs care about whether a medicine can be dosed conveniently, how long effect lasts, and whether special populations need extra caution.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CB57F-F746-4C6B-B96E-2C685686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3238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5FE49-B5D5-42D9-8546-96C47F55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Demo caution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4A16-AF75-4E20-ACFA-9AFD5DD1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971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This deck does not replace a local prescribing label. Use the approved PI for dose and administration details.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423D6-E87A-4D90-BC7F-0C1FDEF4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PK supports practical use, but the approved label controls final wording.</a:t>
            </a:r>
          </a:p>
        </p:txBody>
      </p:sp>
    </p:spTree>
    <p:extLst>
      <p:ext uri="{BB962C8B-B14F-4D97-AF65-F5344CB8AC3E}">
        <p14:creationId xmlns:p14="http://schemas.microsoft.com/office/powerpoint/2010/main" val="916853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B01A1-14E9-4B0A-9E10-FE4644C8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9B465-B958-4AB9-BE2A-D56AED9C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36C5D-9718-428C-ABA9-0E12E88A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Evidence map: what the literature can tell 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9DA4D-46B6-499B-A763-C56D3688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strong slide deck explains which evidence types are doing the heavy lifting.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DB456-6DFD-4EA2-85E4-B4FC108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3CD14-4528-41CA-8EFA-2CF9F37B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PMC5335881; PMC8643213; PubMed 12740678; PubMed 10098434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ADEF9-9C4D-4328-BB98-4B709ABE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7/25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51507-A53B-470C-9B5C-072502B7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514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335D6-D680-449E-BBC3-3B565CB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Review and meta-analysis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2852-DC2C-4F31-A951-0558B8AB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247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Best for the overall pattern of efficacy and safety, subject to study quality and heterogeneity.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184B0-FB59-4550-8BEC-BF0186AB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24000"/>
            <a:ext cx="2514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DF2CF-296C-439B-8809-0DDFB69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383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Randomized trials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AFE44-1007-430C-951B-55789A2B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24050"/>
            <a:ext cx="2247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Best for direct comparative efficacy within a defined population and endpoint.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4B8CF-F8EF-45B5-BB37-B99D4B68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514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E923B-77E2-49F6-9544-E8E6BFA0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383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PK / BE studies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6348C-9509-45EC-BB84-7B3938B2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2247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Useful for formulation and bioequivalence questions, not for efficacy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E0EC8-66FC-4C8E-8DBF-4E46861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24000"/>
            <a:ext cx="27432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12DB4-21D1-4465-901D-EDE49671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38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Safety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C26A2-2AD8-435C-A012-24896AA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Help frame class risk, warnings, and risk-mitigation language.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E1369-101A-4A1D-B8F2-9DF073B5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10210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D4084-176E-406E-A498-6192A259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Balanced 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B6188-7E7C-483D-91B4-203CBD9F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9944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Evidence synthesis should always state where the data are strong, where they are supportive, and where the deck is relying on class context rather than direct comparative evidence.</a:t>
            </a:r>
          </a:p>
        </p:txBody>
      </p:sp>
    </p:spTree>
    <p:extLst>
      <p:ext uri="{BB962C8B-B14F-4D97-AF65-F5344CB8AC3E}">
        <p14:creationId xmlns:p14="http://schemas.microsoft.com/office/powerpoint/2010/main" val="1720969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9093A-CD13-4C87-B9F7-283BA5CC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FAC4A-8220-4AEC-8481-5FEE17C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EE634-7EBE-42A1-88D3-5F622A4E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Osteoarthritis efficacy: pain and 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39BC8-B91A-4E8D-8BA8-DE4B0D4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Aceclofenac is most often discussed in osteoarthritis where symptom relief is the core endpoint.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4DFBA-37C8-450F-9621-A6C9585F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4DC80-E722-42D9-9D20-B8EF68BD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PMC5335881; PMC8643213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C3406-8786-44A4-992D-175990C4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8/25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17B19-6AE4-4B34-A614-F8B4952F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3909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F8BC2-6A27-4F82-AFA8-470AD5F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Key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23D1B-267A-4323-9D79-457D4F87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124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Meta-analytic evidence supports symptomatic benefit in osteoarthritis, especially for pain and functional outcomes.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878A7-E601-47B8-B024-8CC6BC34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66850"/>
            <a:ext cx="33909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7AE37-5255-4ADB-BD5E-A9FB6FDF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How to say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C8329-6549-4A1A-90D4-513C4103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124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Use precise wording: improves symptoms rather than changes disease course or fixes the joint.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E2F0D-FFC4-4B2E-BCD4-72CF2189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37338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4ADA7-B4D2-4563-B260-B173305F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Keep in mind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A7F16-5A64-449A-BB40-F1D8551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3467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Outcome interpretation depends on comparator, dose, duration, and baseline severity.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58388-6816-442B-8344-EB9E4638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0134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BB6C8-E3D9-4159-9456-98A80B08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986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HCP takeaway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17C2A-EBAE-4386-87F6-4FF9A35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867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Aceclofenac can be discussed as a symptom-focused option in OA when NSAID therapy is appropriate and class risks are addressed.</a:t>
            </a:r>
          </a:p>
        </p:txBody>
      </p:sp>
    </p:spTree>
    <p:extLst>
      <p:ext uri="{BB962C8B-B14F-4D97-AF65-F5344CB8AC3E}">
        <p14:creationId xmlns:p14="http://schemas.microsoft.com/office/powerpoint/2010/main" val="1436821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1B202-E005-465E-A0B6-82585413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2FBC8-BBF9-419E-9C1A-74B89E46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9FDDE-4F9E-4654-8B7C-9E6B2390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Acute pain evidence and short-term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DC80E-E4F4-49AA-9ACF-5B4873CA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Aceclofenac has also been studied in acute and postoperative pain settings, but the deck should keep claims narrow.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C13FF-5C37-46C5-B919-E9AA68D6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6C2EE-52F3-4863-B4D1-F1BA1A90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12740678; PMC4170891; PubMed 10098434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5A434-75AF-42B4-8E87-6FC9270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9/25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48502-33CE-47AF-88A7-B6CDC6E0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3909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58A3C-CB82-412C-879A-0E7D22B7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Evidence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F9D24-D769-4751-AB0E-B785FEF3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Randomized and review evidence supports analgesic use in acute pain contexts, depending on local label.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31B64-CF49-4974-BBBC-FBD8D02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85900"/>
            <a:ext cx="33909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A73D9-B6B5-49C0-BF66-2E174994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02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How to present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0FBFA-F112-49FF-9E20-FE86AADC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Say analgesic option rather than best postoperative pain drug.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181A8-25FD-4C0A-B932-043A02F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37338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ADC77-07D0-4A32-A367-3C8AD051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2FCED-7C61-4CFE-B0A0-89612101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467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Postoperative settings require procedure-specific review and safety screening.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18EFD-B271-4337-9485-4A67ED6B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0363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The slide should communicate that evidence exists in acute pain.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The choice of NSAID still depends on GI, renal, and bleeding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Keep procedure-specific judgment visible.</a:t>
            </a:r>
          </a:p>
        </p:txBody>
      </p:sp>
    </p:spTree>
    <p:extLst>
      <p:ext uri="{BB962C8B-B14F-4D97-AF65-F5344CB8AC3E}">
        <p14:creationId xmlns:p14="http://schemas.microsoft.com/office/powerpoint/2010/main" val="2229051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CA949-E0E3-439B-B9D4-62FC20C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5AAF4-E4B4-4675-B0B2-31E0D732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F3E7C-855A-40EC-A4E7-E25729BE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Comparative efficacy: what makes a fair comparison?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4A348-CA56-4F26-B58B-562F345B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Not every comparative slide is a good comparison. Show the comparator, endpoint, and duration.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2835D-87F5-4BB3-9937-D76A409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0E7B2-9E35-4D34-9797-FB4687C5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32341838; PubMed 12740678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B4DA2-FF1F-4249-B274-DDEF4B3D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10/25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72009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84198"/>
                <a:gridCol w="5616702"/>
              </a:tblGrid>
              <a:tr h="45402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Fair comparison checklist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Comparator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Was the comparator appropriate and correctly dosed?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Population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Was it the same disease severity and background therapy?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Endpoint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Was pain or function measured consistently?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Duration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Was follow-up long enough to see meaningful benefit and risk?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Conclusion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Was the result statistically and clinically meaningful?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6A038-A1ED-43C4-BE30-05EB5EB6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34671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B3091-19B7-4E4F-B47E-D54F36F1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Balanced message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65349-DD6A-4DB9-B15B-A5787388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20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Comparative slide decks should avoid hanging comparisons that look impressive but are not clinically fair.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DC7EC-D24F-4BA5-B207-F7A56110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4671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914FB-C007-4BD1-B146-1461BA69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Practical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8B8E6-D152-4A1A-BFFC-78663F84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320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If the comparator is not equivalent in dose, population, or duration, say so plainly.</a:t>
            </a:r>
          </a:p>
        </p:txBody>
      </p:sp>
    </p:spTree>
    <p:extLst>
      <p:ext uri="{BB962C8B-B14F-4D97-AF65-F5344CB8AC3E}">
        <p14:creationId xmlns:p14="http://schemas.microsoft.com/office/powerpoint/2010/main" val="1221958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08C7CB-6D39-47FA-9EC0-AD659D57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6C93-1843-4B6D-9316-3A53DE2A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7A314-C8D0-4E4C-9251-C6C2A869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Safety profile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685E7-E478-4F4C-8F9F-01FF9680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The strongest HCP slide decks are explicit about risk before they are explicit about benefit.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65107-0991-46E9-9780-D7D958BC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3B30C-0D42-4EA0-AAF6-93A94963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33238721; Ozone PI; Torrent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97DF4-C8FF-4119-BE10-C7F21DFC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11/25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8F4F1-D02A-4756-AAC8-626081B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90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C4840-9D29-4BC4-B7FA-D82BD1D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37FAC-D9A7-4C3F-B23D-2F9C4A3F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24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Dyspepsia, ulceration, and bleeding are the classic NSAID concerns.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B69D5-F896-4BB9-A8B4-8CE8EA00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24000"/>
            <a:ext cx="3390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28F8E-ED41-4C33-BDA9-38F2463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383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FFF2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3F0B8-4A1C-43E0-A4F3-D8E6A65B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24050"/>
            <a:ext cx="3124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FFF2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Renal perfusion effects matter, especially in older or volume-depleted patients.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9CFA6-24E0-4F3A-86B9-0334358E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7338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80D65-3116-4A84-A5E6-029AEB5A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Hepatic / CV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AFBFF-4E3D-4E16-9737-4F6F3EA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3467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Hepatic enzyme elevations and cardiovascular caution are part of the class conversation.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87B99-3421-4F2A-BC36-D4717733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1013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B1129-8029-4298-986E-E35847E6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986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Safe slide principle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9C939-D4D0-41B9-95B1-6E7FF739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9867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presentation should never use completely safe or no side effects language. Instead, say what is known, what is monitored, and when to escalate.</a:t>
            </a:r>
          </a:p>
        </p:txBody>
      </p:sp>
    </p:spTree>
    <p:extLst>
      <p:ext uri="{BB962C8B-B14F-4D97-AF65-F5344CB8AC3E}">
        <p14:creationId xmlns:p14="http://schemas.microsoft.com/office/powerpoint/2010/main" val="8334512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1EC4E7-4EDD-4F16-B09A-CE69CA5E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3FA5C-625D-4A64-A8BA-2C6BCFF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8"/>
          </a:solidFill>
          <a:ln xmlns:a="http://schemas.openxmlformats.org/drawingml/2006/main" w="0">
            <a:solidFill>
              <a:srgbClr val="0E25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F2269-83F7-4070-9DA8-74CF9B24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 risk and mitigation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157B6-3979-4ED0-9E17-EF238F5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This is the most familiar NSAID discussion point for many HCPs.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65789-2300-4F7F-98F3-A4A76757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A"/>
          </a:solidFill>
          <a:ln xmlns:a="http://schemas.openxmlformats.org/drawingml/2006/main" w="0">
            <a:solidFill>
              <a:srgbClr val="315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057A3-C917-4D65-A3C5-874F7023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Refs: PubMed 33238721; Ozone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10286-7184-409C-8C01-9DD976E9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Slide 12/25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6854C-844F-4345-8CCE-3C2D119A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153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Ask about ulcer history, prior GI bleed, concomitant antiplatelets or anticoagulants, and alcohol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Use the lowest effective dose and the shortest effective duration consistent with the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Consider gastroprotection where the patient's risk profile warrants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Escalate persistent abdominal pain, melaena, haematemesis, or unexplained anemia promptly.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D4A2C-1158-4832-B753-755AE37E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8481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61CDB-A240-4A71-8A94-EA21DC4F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Message to the 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DE15F-2384-4974-892F-A2C3A7AC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3581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risk is manageable when the patient is selected carefully and warning signs are not normalized.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29947-DFBA-449F-8942-31CC23D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848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9DB09-D42A-4AAE-9DEB-32D56C9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5760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Presentation 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CE450-CCB8-4801-9EDA-DFA28C7B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433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Keep this slide specific and practical rather than generic.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D192A-6A17-41C0-B4E3-1CADE9A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GI warnings are a core part of NSAID scientific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782043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01832-4521-4664-9128-D9CDBE2D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534BE-D8AA-4DC8-95E5-05F11916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F118F-17A4-4E83-A132-65BA12E4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Renal, cardiovascular, and hepatic cautions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DED51-C0EA-478B-B694-1D300730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balanced deck does not treat class risk as a footnote.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17EE0-3B82-4D43-841B-8FB05DCE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409B5-DFE2-42A1-854E-3D218308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33238721; Ozone PI; Torrent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97CBF-4503-4B2B-80F4-857644F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13/25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F5775-B43E-4273-9AC8-ED14C743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67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102DF-5921-4D25-887E-F28466D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D583A-4267-4C5A-9DF3-673A482F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Risk increases with dehydration, CKD, and diuretic or ACEi/ARB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A73D9-59F9-4536-A26C-3882B43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85900"/>
            <a:ext cx="3467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3448B-B71D-4AE6-A3C0-954053B6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0200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Cardiovascular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94592-EF63-43A9-AE0A-C06DE13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85950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NSAID use can be relevant in patients with hypertension, fluid retention, or cardiovascular disease.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0F6AB-33CE-4796-BAFA-E6F9D9B8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85900"/>
            <a:ext cx="3467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0D107-5C96-4136-AE9F-093AF6E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00200"/>
            <a:ext cx="3200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Hepatic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80DE6-0B6F-427C-AE3F-8FE7D573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Monitor for liver test abnormalities where clinically indicated and follow the local PI.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984C2-988D-40EC-866A-8697D7CF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0210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2EF93-AE65-472F-B069-8450AD1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Clinical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B41B2-0A5C-49AD-A91E-9C1ECF91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994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slide should signal when a patient needs a different strategy or closer monitoring, not just a different prescription pad.</a:t>
            </a:r>
          </a:p>
        </p:txBody>
      </p:sp>
    </p:spTree>
    <p:extLst>
      <p:ext uri="{BB962C8B-B14F-4D97-AF65-F5344CB8AC3E}">
        <p14:creationId xmlns:p14="http://schemas.microsoft.com/office/powerpoint/2010/main" val="6469751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5074C-ADD3-4763-B762-F226434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9037F-ABD1-46B3-9E8A-1DD28E2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DC2E5-18AB-4907-8312-664F8F30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Drug interactions and concomitant therapy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51A6C-4942-4DCB-A540-C4A6B44E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NSAID interactions are often about the whole regimen, not just the NSAID.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8E4A7-B1FE-44E6-BD0A-3B0ECDE7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DDEEE-04E3-4AB3-9BA4-2848C77A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33238721; Ozone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7C3CE-C2BD-4645-B679-D7629FE1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14/25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70294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9424"/>
                <a:gridCol w="4780026"/>
              </a:tblGrid>
              <a:tr h="45402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Interaction class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Why it matters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Anticoagulants / antiplatelets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Bleeding risk rises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Other NSAIDs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Duplicate toxicity without added benefit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ACEi / ARB + diuretic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Renal perfusion and AKI concern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Lithium / methotrexate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Potential exposure increase</a:t>
                      </a:r>
                    </a:p>
                  </a:txBody>
                  <a:tcPr marL="91440" marR="91440" marT="45720" marB="45720"/>
                </a:tc>
              </a:tr>
              <a:tr h="454025">
                <a:tc>
                  <a:txBody>
                    <a:bodyPr/>
                    <a:lstStyle/>
                    <a:p>
                      <a:r>
                        <a:t>Alcohol / steroids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 risk may rise further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51610-0248-4133-9A3B-6A0CD7BA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695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3DD36-242F-4161-8535-497D7365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38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What the HCP 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A40FD-A0FE-45CF-844A-D5F514A0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3429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 quick medication review before starting or refilling an NSAID is a safety intervention, not a formality.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B3D8B-FCB5-45B0-9EA7-ADCC42ED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3695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3D6DC-D795-4CDC-87BB-6B38E05C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E2C0D-25F0-4699-AF74-D424DF33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Interaction slides should be short, practical, and actionable.</a:t>
            </a:r>
          </a:p>
        </p:txBody>
      </p:sp>
    </p:spTree>
    <p:extLst>
      <p:ext uri="{BB962C8B-B14F-4D97-AF65-F5344CB8AC3E}">
        <p14:creationId xmlns:p14="http://schemas.microsoft.com/office/powerpoint/2010/main" val="18002630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71CF7-4FEB-4057-A1AB-9EBBFC1E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48E1B-E8FE-423B-AC10-20903576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B68DF-32B2-4CEF-8EEE-70FB1CA2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Dosing and administration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BB683-4C92-4E61-928F-0E344897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Keep the slide practical, but let the approved PI control the final wording.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624A6-947D-4D2A-9FF3-0193D848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DDDC5-BEB7-414E-90D7-84BF575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local PI; review literature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59D75-75BA-4DA0-BBAB-A269806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15/25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B9742-3ACE-49D4-B769-D53105D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54029-E468-4C60-A50D-D2A46555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Dose principle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E988F-6797-4E6C-95B7-D65C82EA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Many markets use 100 mg twice daily in adults, but the local approved PI must control the final wording.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C12F0-EF9C-4A11-88E9-20344DF8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8590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53D87-F83E-40D7-B0A0-E3662A22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002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7F3D4-60E1-46AB-B6B1-E145041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State the timing, food instructions, and formulation details only as approved locally.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62D69-FF4D-44DF-A521-AB6113D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85900"/>
            <a:ext cx="3733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E6A9D-7C73-4DE0-84AB-7585B97E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Adjustments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AF95D-6BFA-4044-B553-5E7A69C1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467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Age, renal function, hepatic status, and comedications may alter the decision.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4652B-06C7-4478-AD49-EB1F6841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0210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0DB1E-CCEF-4E36-8982-34D2E3F9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Deck message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98989-A24D-499E-936B-8EBE3F46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94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role of the slide is to help the HCP use the product correctly, not to invent dosing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1979502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AD1D5-3CC5-45BD-9371-930D20CE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E0748-A725-41F4-920C-D61F8FE4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D9707-6D4C-4050-A83B-6A82C644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Special populations and risk modifiers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8CF85-52A6-4377-AC0D-4AB5E1A5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This slide reminds HCPs that NSAID risk is not evenly distributed.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F37CD-1259-4C09-B547-7C6E7DA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E2649-3737-4784-AD3F-4DBF12AF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33238721; local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F924C-1ABB-49B2-A8E5-A4B1D73C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16/25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68008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6272"/>
                <a:gridCol w="4624578"/>
              </a:tblGrid>
              <a:tr h="4445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Population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Practical question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t>Older adults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Is GI, renal, or blood-pressure risk higher?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t>CKD / dehydration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Will renal perfusion be affected?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t>Hepatic impairment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Does local labeling require a change or avoidance?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t>Pregnancy / lactation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Does the local PI allow use?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t>Children / adolescents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Is use approved at all in the target market?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682F4-A8FC-4CC0-BF8C-1193D62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24000"/>
            <a:ext cx="37719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56A62-2041-4635-9410-0A9D72DD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Rule of thumb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51604-719F-4895-81D2-885BE6C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505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When the population is high risk or under-defined, the slide should direct the HCP back to the approved PI and clinical judgment.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0ED3D-764A-44B0-A7A8-955A4C3B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377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BF657-0F97-48F4-97B6-A9E7048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505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Do not overgeneralize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958C4-A7F4-4D71-A308-AFB230FA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50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Adult label language cannot simply be copied into pediatric or pregnancy care.</a:t>
            </a:r>
          </a:p>
        </p:txBody>
      </p:sp>
    </p:spTree>
    <p:extLst>
      <p:ext uri="{BB962C8B-B14F-4D97-AF65-F5344CB8AC3E}">
        <p14:creationId xmlns:p14="http://schemas.microsoft.com/office/powerpoint/2010/main" val="8285473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CE194B-9704-44BA-A6F6-755991D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EA193-A481-458F-A0F8-2494C232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8"/>
          </a:solidFill>
          <a:ln xmlns:a="http://schemas.openxmlformats.org/drawingml/2006/main" w="0">
            <a:solidFill>
              <a:srgbClr val="0E25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BFA0A-6D9E-4D86-9E2E-4C05B78F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Practical patient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4D1C7-A899-44A9-9CFB-1C21CFE5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A good HCP deck shows who may benefit and who may need another option.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5E792-54ED-4735-AF9E-B99C7D67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A"/>
          </a:solidFill>
          <a:ln xmlns:a="http://schemas.openxmlformats.org/drawingml/2006/main" w="0">
            <a:solidFill>
              <a:srgbClr val="315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9FFF8-81A5-4E25-810B-3ADEB16F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Refs: review literature; NSAID safety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75AF5-99F4-4361-BE48-096474DF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Slide 17/25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EF80E-0AEE-47EC-AA8C-30682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8D1A0-2242-44DF-A8E9-E4A602EF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Reasonable candidates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D73A9-41EB-4200-A4D0-C2E1F3D4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953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Patients with inflammatory pain or osteoarthritis who need a symptom-focused NSAID option and have an acceptable GI, renal, and cardiovascular risk profile.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FEF14-84D2-432E-AB98-B03F5498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55054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B7923-CE3D-4473-9ABA-1A0EC124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Be cautious or avoid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A6632-211D-4E38-AFAC-AAADCB2A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05000"/>
            <a:ext cx="52387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High GI risk, significant renal impairment, uncontrolled cardiovascular disease, active ulcer disease, and situations where local label or clinician judgment advises against NSAID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88E48-BE42-499E-A962-1CB39502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02108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E4E29-9146-46A7-8626-9DE261EC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E6434-315C-46EE-807E-10F549A2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9944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Use the smallest effective exposure for the shortest effective time, and always let the local PI and patient profile drive the final choice.</a:t>
            </a:r>
          </a:p>
        </p:txBody>
      </p:sp>
    </p:spTree>
    <p:extLst>
      <p:ext uri="{BB962C8B-B14F-4D97-AF65-F5344CB8AC3E}">
        <p14:creationId xmlns:p14="http://schemas.microsoft.com/office/powerpoint/2010/main" val="4504116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D3DC4-03C0-431B-A11E-34C23559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03264-1099-40A4-AE2B-B17DEC8A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AF049-3F9A-4C8A-B13C-71437393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Where aceclofenac fits in therapy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27684-FE50-4FE2-AB08-2CCA8D2F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Place-in-therapy slides should be balanced and realistic.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183B1-0BE6-4333-BFA8-BA31D17A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0441B-D855-4AF4-A662-8FAD1FC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PMC5335881; PMC8643213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BF3E8-63CF-4214-8FB9-73FDA046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18/25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DB6FE-E3BA-4A18-A016-5CCC5ABA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429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A53A6-1CDF-4FB6-A509-968216B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Core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D37B4-7D9E-48A9-BD04-9EA4A571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162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Symptomatic relief in inflammatory pain or OA where an NSAID is appropriate.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FD695-6809-4200-BB65-18D40F38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66850"/>
            <a:ext cx="34290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C4783-9D7F-4FE5-A269-850353E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811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Adjunctive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CBF3F-87BF-49DF-B410-153337C7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162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Can sit alongside non-pharmacologic measures and other approved interventions.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3F924-5157-4351-8224-81E22A26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37338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A2F8C-9C8A-4B07-8F03-61D2DD27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467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Not the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DB97F-E233-4193-AD08-921DD24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3467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Not a disease-modifying therapy and not a universal option for every pain syndrome.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FC14F-1FEB-4902-BB9A-ED618168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0210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9FD8E-11D5-4B1E-8327-885FC129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Balanced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F38B8-50C1-4780-A9AB-D0AEC701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9944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slide should help HCPs understand when aceclofenac is a sensible choice and when an alternate strategy is a better fit.</a:t>
            </a:r>
          </a:p>
        </p:txBody>
      </p:sp>
    </p:spTree>
    <p:extLst>
      <p:ext uri="{BB962C8B-B14F-4D97-AF65-F5344CB8AC3E}">
        <p14:creationId xmlns:p14="http://schemas.microsoft.com/office/powerpoint/2010/main" val="16958410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59EC80-9947-4691-91B6-85C0F500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305AF-ECDB-4EBB-B52A-A3CC657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8"/>
          </a:solidFill>
          <a:ln xmlns:a="http://schemas.openxmlformats.org/drawingml/2006/main" w="0">
            <a:solidFill>
              <a:srgbClr val="0E25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E1302-9E44-4D82-929F-FF472B23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Non-pharmacologic context and combination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B8A9A-6525-461E-BCCB-86F0B5D7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A good deck reminds HCPs that medicines are only one part of musculoskeletal care.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90955-AC8E-4843-AB12-BA1F6326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A"/>
          </a:solidFill>
          <a:ln xmlns:a="http://schemas.openxmlformats.org/drawingml/2006/main" w="0">
            <a:solidFill>
              <a:srgbClr val="315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F2194-014B-45CD-8556-48362B0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Refs: OA guideline context; review literature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8FEE9-C595-4134-A46E-BE94C08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D6E3EA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D6E3EA"/>
                </a:solidFill>
                <a:latin typeface="Aptos"/>
                <a:ea typeface="Aptos"/>
                <a:cs typeface="Aptos"/>
              </a:rPr>
              <a:t>Slide 19/25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E4370-ACAD-4DFF-882D-139BA5A6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096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Exercise, weight management, physiotherapy, and ergonomic advice remain important where 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Analgesic therapy should be combined with lifestyle and mechanical management when indicated.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- Medication can help symptoms, but the care plan should still address the underlying functional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A9E6A-E0F5-4B10-9672-3B38AA75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38481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8BD0C-9EAD-4602-BC1E-1273A2C9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7165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3D3DE-4A23-43A1-A594-B6F3522F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57400"/>
            <a:ext cx="3581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slide prevents the deck from sounding as if medicine alone solves OA or back pain.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290C-F48A-4BE8-8A40-B301D0B9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8481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562EB-EB77-474A-BC56-980CBF9A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52850"/>
            <a:ext cx="3581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BEAB8-2436-45D1-821D-C798BCF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38600"/>
            <a:ext cx="3581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E6F4E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 scientific HCP deck should reinforce multimodal care.</a:t>
            </a:r>
          </a:p>
        </p:txBody>
      </p:sp>
    </p:spTree>
    <p:extLst>
      <p:ext uri="{BB962C8B-B14F-4D97-AF65-F5344CB8AC3E}">
        <p14:creationId xmlns:p14="http://schemas.microsoft.com/office/powerpoint/2010/main" val="20924970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A3790-B39C-4E51-9C83-09F5212A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CFD6C-D9EA-4555-8439-734E2BE7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6242A-72E1-4159-84EA-E54468D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Counselling points for HCP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1C0A3-3C1E-4A71-99D7-46D91B17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These are the practical messages a clinician can use when deciding whether to use an NSAID.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92A52-4645-43E8-937F-A052537A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64333-F154-4A03-8D13-8BB56244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NSAID class safety guidance;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6F07C-19FC-458E-B836-B93DCA49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20/25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D37E9-E0ED-496A-8B87-41A35D3A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10ECA-5E8E-4852-8C3E-2D9804A7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Discuss benefit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9F446-404C-4F3E-B824-07F3B3E2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495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Expected symptom relief, function goals, and time-limited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E7A06-2D29-480E-8EE0-9745E240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24000"/>
            <a:ext cx="5810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93EDD-94FC-469C-AFFC-557219BF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38300"/>
            <a:ext cx="554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Discuss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98E40-FB2E-4F03-B994-6A79686A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5543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GI, renal, cardiovascular, and hepatic warning signs plus concomitant therapy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BADBD-5496-4124-BBE2-D37ECC38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17638-8195-4F38-9B50-316F41A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Counselling style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6C9BF-2ED9-4035-926C-261E1AE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994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The HCP should leave with a quick, repeatable safety script that supports the patient without overpromising the drug.</a:t>
            </a:r>
          </a:p>
        </p:txBody>
      </p:sp>
    </p:spTree>
    <p:extLst>
      <p:ext uri="{BB962C8B-B14F-4D97-AF65-F5344CB8AC3E}">
        <p14:creationId xmlns:p14="http://schemas.microsoft.com/office/powerpoint/2010/main" val="17780898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74B0C-9526-4D7E-A4E5-273142BD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65AF2-BAE7-456A-8A1E-87F909F8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17A11-8718-4B31-925D-7828653B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Frequently asked HCP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4C2DC-0C70-4D65-AF80-59ABFB3E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good deck anticipates the questions that usually come up in discussion.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AE804-6459-4B73-916B-B6AE4F6E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40839-6B71-454D-AAD7-86CCFB8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review literature; local 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D58F7-5CAA-4793-995E-E569BCB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21/25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82112"/>
                <a:gridCol w="7790688"/>
              </a:tblGrid>
              <a:tr h="57912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Controlled answer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Q1. Is aceclofenac unique?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It is an NSAID with a recognized role in symptom relief; any claim of uniqueness must be evidence-based and local-label compliant.</a:t>
                      </a:r>
                    </a:p>
                  </a:txBody>
                  <a:tcPr marL="91440" marR="91440" marT="45720" marB="45720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Q2. Can it replace all pain therapies?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No. It fits only where NSAID therapy is appropriate and risk is acceptable.</a:t>
                      </a:r>
                    </a:p>
                  </a:txBody>
                  <a:tcPr marL="91440" marR="91440" marT="45720" marB="45720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Q3. Is it safe in every patient?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No. GI, renal, cardiovascular, hepatic, and interaction risks still matter.</a:t>
                      </a:r>
                    </a:p>
                  </a:txBody>
                  <a:tcPr marL="91440" marR="91440" marT="45720" marB="45720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t>Q4. What should I verify first?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The approved local PI, special-population limits, and concomitant medicines.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61762-2053-4A7D-B056-160845F1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FAQ slides are useful, but they must remain aligned to label and safety evidence.</a:t>
            </a:r>
          </a:p>
        </p:txBody>
      </p:sp>
    </p:spTree>
    <p:extLst>
      <p:ext uri="{BB962C8B-B14F-4D97-AF65-F5344CB8AC3E}">
        <p14:creationId xmlns:p14="http://schemas.microsoft.com/office/powerpoint/2010/main" val="17932191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34A8A-F67E-41CB-B164-BAA0FF3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D3C86-1667-4AB1-9D63-604B6E60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4167F-B972-4EF7-B465-91E4B499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Balanced claims: what not to say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D122-0DBD-4208-B4A8-B98F25DF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scientific deck stays honest about what the evidence can and cannot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93EE7-50A2-4906-94AD-29935F67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F78F2-2FDA-4A5C-AF82-67677939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PubMed 33238721; review literature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993A3-5264-4394-AE2F-D9135E1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22/25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67F5E-4FA4-428F-804C-C310BEE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90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CCCA4-3A94-4231-B094-4300DF25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37352-24EF-474E-8D80-17536D24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2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Completely safe or no side effects.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C827F-1625-4945-B912-AFA3A152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3390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305C9-DB6B-45E9-96F4-770E7FB2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383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50AE5-EE20-4456-A822-D2E7442E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24050"/>
            <a:ext cx="312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Best in class unless the evidence and approval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76D3C-992B-41B4-AD33-0F4D8630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90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FF2DF-FFE6-4136-AD9D-D9A44885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FF8CC-99E2-4766-9953-3D7120F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312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FCE4D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Unsupported superiority or interchangeability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8A59E-ED7B-4C68-AB06-C6BE01D2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10210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1762E-79AF-407A-B782-8220C65E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Preferred language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CF6DD-118D-4669-B948-EF6FB15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994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 symptom-focused NSAID option where appropriate is safer than overreaching claims.</a:t>
            </a:r>
          </a:p>
        </p:txBody>
      </p:sp>
    </p:spTree>
    <p:extLst>
      <p:ext uri="{BB962C8B-B14F-4D97-AF65-F5344CB8AC3E}">
        <p14:creationId xmlns:p14="http://schemas.microsoft.com/office/powerpoint/2010/main" val="7772759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41AF6-3060-437A-8246-BAC161E6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A2E25-0994-4973-8622-B9C3DBF2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13321-7242-4D88-AA25-7DCEB46A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Evidence and reference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0EFA8-96A1-4809-B29F-E5EC894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The source base should be visible so the deck stays auditable.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7BBCB-5EC2-41FE-814B-0EA36C81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8E924-05BC-471D-A77E-B5F5B5A9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PMC8643213; PMC5335881; PubMed 12740678; PubMed 32898192; PubMed 17090444; PubMed 18498912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CD271-2F43-4565-B42A-8EBE2CF7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23/25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8368"/>
                <a:gridCol w="6364224"/>
                <a:gridCol w="3950208"/>
              </a:tblGrid>
              <a:tr h="4762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#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Reference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Use in deck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FFFFFF"/>
                      </a:solidFill>
                    </a:lnB>
                    <a:solidFill>
                      <a:srgbClr val="16324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Review of aceclofenac in musculoskeletal disorders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Mechanism, efficacy, tolerability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OA meta-analysis of randomized controlled trials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Pain and function summary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Acute low back pain comparative trial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Short-term efficacy and tolerability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PK / bioequivalence studies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Formulation and PK context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Prescribing information from Indian manufacturers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Dose, warnings, and special-population wording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711E9-5D39-4173-84F0-9D2E5ED8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10210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E2CBC-D287-4129-BEF0-EA5E49A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How to use the references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8462F-D6DC-49BA-8813-E85C82B3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4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Keep the full citation list in the notes or appendix and keep the visible slide text concise. This preserves readability while keeping the audit trail intact.</a:t>
            </a:r>
          </a:p>
        </p:txBody>
      </p:sp>
    </p:spTree>
    <p:extLst>
      <p:ext uri="{BB962C8B-B14F-4D97-AF65-F5344CB8AC3E}">
        <p14:creationId xmlns:p14="http://schemas.microsoft.com/office/powerpoint/2010/main" val="10532346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55937-5225-424D-ACB4-703B938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2BF10-AEB1-47BF-9C1A-3523161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CCF90-4FBB-415F-84BA-9037152B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How to refresh the deck on the next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52498-7CF7-4580-9E0B-CBD35CB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A scientific deck should have a revision logic, not just a final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80DB2-3AF6-4A67-93A5-C1ECF3E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5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8"/>
          </a:solidFill>
          <a:ln xmlns:a="http://schemas.openxmlformats.org/drawingml/2006/main" w="0">
            <a:solidFill>
              <a:srgbClr val="D9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BD9E1-26D6-4E6C-9206-3726EED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Refs: local PI; new literature; sponsor update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B2575-2011-4EE2-B1B8-E7A9642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70" b="0">
                <a:solidFill>
                  <a:srgbClr val="5F6B75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F6B75"/>
                </a:solidFill>
                <a:latin typeface="Aptos"/>
                <a:ea typeface="Aptos"/>
                <a:cs typeface="Aptos"/>
              </a:rPr>
              <a:t>Slide 24/25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D6521-B1AD-4125-A898-810A374F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3409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03AF2-CCC0-4499-8A39-124ECC4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Trigger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AB911-77D1-4AF3-836E-155C295E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7"/>
          </a:solidFill>
          <a:ln xmlns:a="http://schemas.openxmlformats.org/drawingml/2006/main" w="9525">
            <a:solidFill>
              <a:srgbClr val="EAF4F7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New safety information, especially warnings, precautions, adverse reactions, or administration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B7A07-A02F-46CC-A7A0-3F47CF2D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485900"/>
            <a:ext cx="3409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B6CB1-2089-4759-B2D1-F7404E98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002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Trigger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94F50-F55A-4727-A25E-18870C54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859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F4F8F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New evidence that materially changes efficacy interpretation or place in therapy.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70FE4-4F5F-45A1-B590-A5954FE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85900"/>
            <a:ext cx="34099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E0D67-6953-447B-9E44-C61AF877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Trigger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6AB26-3E3D-4493-A0F7-60B3EA64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FF6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A new local PI or label update in the target market.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147D7-C69C-4BF7-8CB3-479098E8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0210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3525C-7674-459E-8F36-9B279DB9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Operating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806E4-0E56-4B96-94E6-7F64D82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994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13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4313A"/>
                </a:solidFill>
                <a:latin typeface="Aptos"/>
                <a:ea typeface="Aptos"/>
                <a:cs typeface="Aptos"/>
              </a:rPr>
              <a:t>This deck should be refreshed whenever the local label or the evidence base changes enough to matter to the HCP.</a:t>
            </a:r>
          </a:p>
        </p:txBody>
      </p:sp>
    </p:spTree>
    <p:extLst>
      <p:ext uri="{BB962C8B-B14F-4D97-AF65-F5344CB8AC3E}">
        <p14:creationId xmlns:p14="http://schemas.microsoft.com/office/powerpoint/2010/main" val="19791925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A44C2-CC85-4F47-9132-5BAE7C30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656EB-9970-4EC3-A339-13CE1958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8"/>
          </a:solidFill>
          <a:ln xmlns:a="http://schemas.openxmlformats.org/drawingml/2006/main" w="0">
            <a:solidFill>
              <a:srgbClr val="0E25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DB01E-44DD-4154-BD59-04E675EE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Aceclofenac HCP scientific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BBCBD-3CCC-4DFE-9C93-EB142AF7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F2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F2F1"/>
                </a:solidFill>
                <a:latin typeface="Aptos"/>
                <a:ea typeface="Aptos"/>
                <a:cs typeface="Aptos"/>
              </a:rPr>
              <a:t>Key takeaways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9DFAA-B878-4A7D-AD2A-E2888E7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23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Aceclofenac is best presented as a balanced NSAID option for symptom relief where local labeling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2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Efficacy slides should stay tied to pain and function, not disease-modifying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2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Safety must stay visible: GI, renal, cardiovascular, and hepatic cautions belong in the main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2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The local PI should control final dosing and special-population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2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 Speaker notes and slide count should be confirmed up front for any real delivery version.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E9A81-90DD-4E7B-9467-26A468C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85900"/>
            <a:ext cx="24003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73D56"/>
          </a:solidFill>
          <a:ln xmlns:a="http://schemas.openxmlformats.org/drawingml/2006/main" w="9525">
            <a:solidFill>
              <a:srgbClr val="2B5A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9053B-C058-4989-A669-6D12BD23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6"/>
          </a:solidFill>
          <a:ln xmlns:a="http://schemas.openxmlformats.org/drawingml/2006/main" w="9525">
            <a:solidFill>
              <a:srgbClr val="173D5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Deck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76681-9A7A-4B72-9861-4B1ED54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56"/>
          </a:solidFill>
          <a:ln xmlns:a="http://schemas.openxmlformats.org/drawingml/2006/main" w="9525">
            <a:solidFill>
              <a:srgbClr val="173D5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Demonstration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99159-7B67-473B-AE41-AEE3986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24003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0F3146"/>
          </a:solidFill>
          <a:ln xmlns:a="http://schemas.openxmlformats.org/drawingml/2006/main" w="9525">
            <a:solidFill>
              <a:srgbClr val="2B5A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969A7-0F72-4835-8F81-8A60B2B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146"/>
          </a:solidFill>
          <a:ln xmlns:a="http://schemas.openxmlformats.org/drawingml/2006/main" w="9525">
            <a:solidFill>
              <a:srgbClr val="0F31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189EC-DD17-4523-B047-A5D2CC65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480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146"/>
          </a:solidFill>
          <a:ln xmlns:a="http://schemas.openxmlformats.org/drawingml/2006/main" w="9525">
            <a:solidFill>
              <a:srgbClr val="0F314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AF2F6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AF2F6"/>
                </a:solidFill>
                <a:latin typeface="Aptos"/>
                <a:ea typeface="Aptos"/>
                <a:cs typeface="Aptos"/>
              </a:rPr>
              <a:t>Adapt to local PI and 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8DEF8-EC56-4228-83CC-B6E7818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ClinCommand 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C4CEA-3AC1-482E-8D94-9034D117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0388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4746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2026-06-06T16:12:42.5950000Z</dcterms:created>
  <dcterms:modified xsi:type="dcterms:W3CDTF">2026-06-06T16:12:42.5950000Z</dcterms:modified>
</coreProperties>
</file>